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handoutMasterIdLst>
    <p:handoutMasterId r:id="rId52"/>
  </p:handoutMasterIdLst>
  <p:sldIdLst>
    <p:sldId id="257" r:id="rId2"/>
    <p:sldId id="1113" r:id="rId3"/>
    <p:sldId id="900" r:id="rId4"/>
    <p:sldId id="942" r:id="rId5"/>
    <p:sldId id="869" r:id="rId6"/>
    <p:sldId id="874" r:id="rId7"/>
    <p:sldId id="872" r:id="rId8"/>
    <p:sldId id="883" r:id="rId9"/>
    <p:sldId id="2591" r:id="rId10"/>
    <p:sldId id="2585" r:id="rId11"/>
    <p:sldId id="2588" r:id="rId12"/>
    <p:sldId id="2590" r:id="rId13"/>
    <p:sldId id="2592" r:id="rId14"/>
    <p:sldId id="2593" r:id="rId15"/>
    <p:sldId id="2595" r:id="rId16"/>
    <p:sldId id="2596" r:id="rId17"/>
    <p:sldId id="2597" r:id="rId18"/>
    <p:sldId id="2598" r:id="rId19"/>
    <p:sldId id="1008" r:id="rId20"/>
    <p:sldId id="2599" r:id="rId21"/>
    <p:sldId id="2600" r:id="rId22"/>
    <p:sldId id="901" r:id="rId23"/>
    <p:sldId id="1211" r:id="rId24"/>
    <p:sldId id="1212" r:id="rId25"/>
    <p:sldId id="1213" r:id="rId26"/>
    <p:sldId id="1214" r:id="rId27"/>
    <p:sldId id="1215" r:id="rId28"/>
    <p:sldId id="1173" r:id="rId29"/>
    <p:sldId id="1115" r:id="rId30"/>
    <p:sldId id="1116" r:id="rId31"/>
    <p:sldId id="1117" r:id="rId32"/>
    <p:sldId id="1167" r:id="rId33"/>
    <p:sldId id="1168" r:id="rId34"/>
    <p:sldId id="1102" r:id="rId35"/>
    <p:sldId id="1104" r:id="rId36"/>
    <p:sldId id="1114" r:id="rId37"/>
    <p:sldId id="1112" r:id="rId38"/>
    <p:sldId id="1127" r:id="rId39"/>
    <p:sldId id="640" r:id="rId40"/>
    <p:sldId id="1128" r:id="rId41"/>
    <p:sldId id="1129" r:id="rId42"/>
    <p:sldId id="887" r:id="rId43"/>
    <p:sldId id="1161" r:id="rId44"/>
    <p:sldId id="1162" r:id="rId45"/>
    <p:sldId id="1163" r:id="rId46"/>
    <p:sldId id="1160" r:id="rId47"/>
    <p:sldId id="1125" r:id="rId48"/>
    <p:sldId id="1169" r:id="rId49"/>
    <p:sldId id="1170" r:id="rId50"/>
  </p:sldIdLst>
  <p:sldSz cx="13208000" cy="9906000"/>
  <p:notesSz cx="6735763" cy="9866313"/>
  <p:defaultTex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p:defaultTextStyle>
  <p:extLst>
    <p:ext uri="{EFAFB233-063F-42B5-8137-9DF3F51BA10A}">
      <p15:sldGuideLst xmlns:p15="http://schemas.microsoft.com/office/powerpoint/2012/main">
        <p15:guide id="1" orient="horz" pos="3120" userDrawn="1">
          <p15:clr>
            <a:srgbClr val="A4A3A4"/>
          </p15:clr>
        </p15:guide>
        <p15:guide id="2" pos="4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314649"/>
    <a:srgbClr val="285245"/>
    <a:srgbClr val="004A48"/>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DDC5D8-D9E0-472A-84F8-8A8B423641A2}" v="30" dt="2026-05-25T06:05:36.33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56" autoAdjust="0"/>
    <p:restoredTop sz="94660"/>
  </p:normalViewPr>
  <p:slideViewPr>
    <p:cSldViewPr>
      <p:cViewPr>
        <p:scale>
          <a:sx n="75" d="100"/>
          <a:sy n="75" d="100"/>
        </p:scale>
        <p:origin x="1584" y="792"/>
      </p:cViewPr>
      <p:guideLst>
        <p:guide orient="horz" pos="3120"/>
        <p:guide pos="4160"/>
      </p:guideLst>
    </p:cSldViewPr>
  </p:slideViewPr>
  <p:notesTextViewPr>
    <p:cViewPr>
      <p:scale>
        <a:sx n="3" d="2"/>
        <a:sy n="3" d="2"/>
      </p:scale>
      <p:origin x="0" y="0"/>
    </p:cViewPr>
  </p:notesText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松川 岳久" userId="d79c3d20-a060-4dfd-b135-b1c4226336af" providerId="ADAL" clId="{F9FFB3E8-DE2E-4685-B669-4E4FAF868C9E}"/>
    <pc:docChg chg="undo redo custSel addSld delSld modSld sldOrd">
      <pc:chgData name="松川 岳久" userId="d79c3d20-a060-4dfd-b135-b1c4226336af" providerId="ADAL" clId="{F9FFB3E8-DE2E-4685-B669-4E4FAF868C9E}" dt="2026-05-25T06:05:58.397" v="2425" actId="1076"/>
      <pc:docMkLst>
        <pc:docMk/>
      </pc:docMkLst>
      <pc:sldChg chg="addSp modSp">
        <pc:chgData name="松川 岳久" userId="d79c3d20-a060-4dfd-b135-b1c4226336af" providerId="ADAL" clId="{F9FFB3E8-DE2E-4685-B669-4E4FAF868C9E}" dt="2026-05-25T05:51:20.074" v="2313"/>
        <pc:sldMkLst>
          <pc:docMk/>
          <pc:sldMk cId="109781801" sldId="901"/>
        </pc:sldMkLst>
        <pc:spChg chg="add mod">
          <ac:chgData name="松川 岳久" userId="d79c3d20-a060-4dfd-b135-b1c4226336af" providerId="ADAL" clId="{F9FFB3E8-DE2E-4685-B669-4E4FAF868C9E}" dt="2026-05-25T05:51:20.074" v="2313"/>
          <ac:spMkLst>
            <pc:docMk/>
            <pc:sldMk cId="109781801" sldId="901"/>
            <ac:spMk id="6" creationId="{0C4BE91F-910B-DBE1-E2F7-210EEE9AC05A}"/>
          </ac:spMkLst>
        </pc:spChg>
      </pc:sldChg>
      <pc:sldChg chg="modSp add del mod">
        <pc:chgData name="松川 岳久" userId="d79c3d20-a060-4dfd-b135-b1c4226336af" providerId="ADAL" clId="{F9FFB3E8-DE2E-4685-B669-4E4FAF868C9E}" dt="2026-05-25T05:32:09.393" v="2243" actId="47"/>
        <pc:sldMkLst>
          <pc:docMk/>
          <pc:sldMk cId="3168803444" sldId="977"/>
        </pc:sldMkLst>
        <pc:spChg chg="mod">
          <ac:chgData name="松川 岳久" userId="d79c3d20-a060-4dfd-b135-b1c4226336af" providerId="ADAL" clId="{F9FFB3E8-DE2E-4685-B669-4E4FAF868C9E}" dt="2026-05-25T05:13:32.198" v="1033" actId="1076"/>
          <ac:spMkLst>
            <pc:docMk/>
            <pc:sldMk cId="3168803444" sldId="977"/>
            <ac:spMk id="3" creationId="{00000000-0000-0000-0000-000000000000}"/>
          </ac:spMkLst>
        </pc:spChg>
        <pc:spChg chg="mod">
          <ac:chgData name="松川 岳久" userId="d79c3d20-a060-4dfd-b135-b1c4226336af" providerId="ADAL" clId="{F9FFB3E8-DE2E-4685-B669-4E4FAF868C9E}" dt="2026-05-25T05:13:36.493" v="1034" actId="1076"/>
          <ac:spMkLst>
            <pc:docMk/>
            <pc:sldMk cId="3168803444" sldId="977"/>
            <ac:spMk id="6" creationId="{00000000-0000-0000-0000-000000000000}"/>
          </ac:spMkLst>
        </pc:spChg>
      </pc:sldChg>
      <pc:sldChg chg="add">
        <pc:chgData name="松川 岳久" userId="d79c3d20-a060-4dfd-b135-b1c4226336af" providerId="ADAL" clId="{F9FFB3E8-DE2E-4685-B669-4E4FAF868C9E}" dt="2026-05-25T05:13:17.988" v="1031"/>
        <pc:sldMkLst>
          <pc:docMk/>
          <pc:sldMk cId="1742407655" sldId="1008"/>
        </pc:sldMkLst>
      </pc:sldChg>
      <pc:sldChg chg="del">
        <pc:chgData name="松川 岳久" userId="d79c3d20-a060-4dfd-b135-b1c4226336af" providerId="ADAL" clId="{F9FFB3E8-DE2E-4685-B669-4E4FAF868C9E}" dt="2026-05-25T05:49:24.861" v="2289" actId="47"/>
        <pc:sldMkLst>
          <pc:docMk/>
          <pc:sldMk cId="1133382004" sldId="1048"/>
        </pc:sldMkLst>
      </pc:sldChg>
      <pc:sldChg chg="modSp mod">
        <pc:chgData name="松川 岳久" userId="d79c3d20-a060-4dfd-b135-b1c4226336af" providerId="ADAL" clId="{F9FFB3E8-DE2E-4685-B669-4E4FAF868C9E}" dt="2026-04-27T07:45:48.724" v="7" actId="1076"/>
        <pc:sldMkLst>
          <pc:docMk/>
          <pc:sldMk cId="1454262645" sldId="1113"/>
        </pc:sldMkLst>
        <pc:spChg chg="mod">
          <ac:chgData name="松川 岳久" userId="d79c3d20-a060-4dfd-b135-b1c4226336af" providerId="ADAL" clId="{F9FFB3E8-DE2E-4685-B669-4E4FAF868C9E}" dt="2026-04-27T07:45:48.724" v="7" actId="1076"/>
          <ac:spMkLst>
            <pc:docMk/>
            <pc:sldMk cId="1454262645" sldId="1113"/>
            <ac:spMk id="3" creationId="{DB79F9C8-514A-4DDA-897C-9C515F4AD96F}"/>
          </ac:spMkLst>
        </pc:spChg>
      </pc:sldChg>
      <pc:sldChg chg="modSp mod">
        <pc:chgData name="松川 岳久" userId="d79c3d20-a060-4dfd-b135-b1c4226336af" providerId="ADAL" clId="{F9FFB3E8-DE2E-4685-B669-4E4FAF868C9E}" dt="2026-04-27T07:50:16.977" v="43"/>
        <pc:sldMkLst>
          <pc:docMk/>
          <pc:sldMk cId="2216988927" sldId="1115"/>
        </pc:sldMkLst>
        <pc:spChg chg="mod">
          <ac:chgData name="松川 岳久" userId="d79c3d20-a060-4dfd-b135-b1c4226336af" providerId="ADAL" clId="{F9FFB3E8-DE2E-4685-B669-4E4FAF868C9E}" dt="2026-04-27T07:50:16.977" v="43"/>
          <ac:spMkLst>
            <pc:docMk/>
            <pc:sldMk cId="2216988927" sldId="1115"/>
            <ac:spMk id="3" creationId="{E3CDBE37-9271-434B-A5C6-E7A54E20F81F}"/>
          </ac:spMkLst>
        </pc:spChg>
      </pc:sldChg>
      <pc:sldChg chg="modSp mod">
        <pc:chgData name="松川 岳久" userId="d79c3d20-a060-4dfd-b135-b1c4226336af" providerId="ADAL" clId="{F9FFB3E8-DE2E-4685-B669-4E4FAF868C9E}" dt="2026-04-27T07:51:22.598" v="138" actId="404"/>
        <pc:sldMkLst>
          <pc:docMk/>
          <pc:sldMk cId="1671941503" sldId="1169"/>
        </pc:sldMkLst>
        <pc:spChg chg="mod">
          <ac:chgData name="松川 岳久" userId="d79c3d20-a060-4dfd-b135-b1c4226336af" providerId="ADAL" clId="{F9FFB3E8-DE2E-4685-B669-4E4FAF868C9E}" dt="2026-04-27T07:51:22.598" v="138" actId="404"/>
          <ac:spMkLst>
            <pc:docMk/>
            <pc:sldMk cId="1671941503" sldId="1169"/>
            <ac:spMk id="3" creationId="{DB79F9C8-514A-4DDA-897C-9C515F4AD96F}"/>
          </ac:spMkLst>
        </pc:spChg>
        <pc:spChg chg="mod">
          <ac:chgData name="松川 岳久" userId="d79c3d20-a060-4dfd-b135-b1c4226336af" providerId="ADAL" clId="{F9FFB3E8-DE2E-4685-B669-4E4FAF868C9E}" dt="2026-04-27T07:50:57.667" v="45" actId="1076"/>
          <ac:spMkLst>
            <pc:docMk/>
            <pc:sldMk cId="1671941503" sldId="1169"/>
            <ac:spMk id="7" creationId="{3314C453-89C5-442E-92D9-68D646CED2F4}"/>
          </ac:spMkLst>
        </pc:spChg>
      </pc:sldChg>
      <pc:sldChg chg="ord">
        <pc:chgData name="松川 岳久" userId="d79c3d20-a060-4dfd-b135-b1c4226336af" providerId="ADAL" clId="{F9FFB3E8-DE2E-4685-B669-4E4FAF868C9E}" dt="2026-04-27T07:49:21.115" v="27"/>
        <pc:sldMkLst>
          <pc:docMk/>
          <pc:sldMk cId="71155831" sldId="1211"/>
        </pc:sldMkLst>
      </pc:sldChg>
      <pc:sldChg chg="ord">
        <pc:chgData name="松川 岳久" userId="d79c3d20-a060-4dfd-b135-b1c4226336af" providerId="ADAL" clId="{F9FFB3E8-DE2E-4685-B669-4E4FAF868C9E}" dt="2026-04-27T07:49:22.982" v="29"/>
        <pc:sldMkLst>
          <pc:docMk/>
          <pc:sldMk cId="2581723080" sldId="1212"/>
        </pc:sldMkLst>
      </pc:sldChg>
      <pc:sldChg chg="modSp mod">
        <pc:chgData name="松川 岳久" userId="d79c3d20-a060-4dfd-b135-b1c4226336af" providerId="ADAL" clId="{F9FFB3E8-DE2E-4685-B669-4E4FAF868C9E}" dt="2026-05-25T05:50:02.957" v="2299" actId="20577"/>
        <pc:sldMkLst>
          <pc:docMk/>
          <pc:sldMk cId="1304410831" sldId="1213"/>
        </pc:sldMkLst>
        <pc:spChg chg="mod">
          <ac:chgData name="松川 岳久" userId="d79c3d20-a060-4dfd-b135-b1c4226336af" providerId="ADAL" clId="{F9FFB3E8-DE2E-4685-B669-4E4FAF868C9E}" dt="2026-05-25T05:50:02.957" v="2299" actId="20577"/>
          <ac:spMkLst>
            <pc:docMk/>
            <pc:sldMk cId="1304410831" sldId="1213"/>
            <ac:spMk id="7" creationId="{12BFDCCB-8853-FBF2-095F-DCDCF1BEF23B}"/>
          </ac:spMkLst>
        </pc:spChg>
      </pc:sldChg>
      <pc:sldChg chg="modSp mod">
        <pc:chgData name="松川 岳久" userId="d79c3d20-a060-4dfd-b135-b1c4226336af" providerId="ADAL" clId="{F9FFB3E8-DE2E-4685-B669-4E4FAF868C9E}" dt="2026-05-25T05:50:28.791" v="2309" actId="20577"/>
        <pc:sldMkLst>
          <pc:docMk/>
          <pc:sldMk cId="3000015372" sldId="1215"/>
        </pc:sldMkLst>
        <pc:spChg chg="mod">
          <ac:chgData name="松川 岳久" userId="d79c3d20-a060-4dfd-b135-b1c4226336af" providerId="ADAL" clId="{F9FFB3E8-DE2E-4685-B669-4E4FAF868C9E}" dt="2026-05-25T05:50:28.791" v="2309" actId="20577"/>
          <ac:spMkLst>
            <pc:docMk/>
            <pc:sldMk cId="3000015372" sldId="1215"/>
            <ac:spMk id="8" creationId="{D05C8CDA-B1CE-4A67-B45B-46557F61D580}"/>
          </ac:spMkLst>
        </pc:spChg>
      </pc:sldChg>
      <pc:sldChg chg="modSp new del mod">
        <pc:chgData name="松川 岳久" userId="d79c3d20-a060-4dfd-b135-b1c4226336af" providerId="ADAL" clId="{F9FFB3E8-DE2E-4685-B669-4E4FAF868C9E}" dt="2026-05-25T05:06:27.966" v="666" actId="47"/>
        <pc:sldMkLst>
          <pc:docMk/>
          <pc:sldMk cId="2064780751" sldId="1216"/>
        </pc:sldMkLst>
        <pc:spChg chg="mod">
          <ac:chgData name="松川 岳久" userId="d79c3d20-a060-4dfd-b135-b1c4226336af" providerId="ADAL" clId="{F9FFB3E8-DE2E-4685-B669-4E4FAF868C9E}" dt="2026-05-25T04:55:34.725" v="155" actId="20577"/>
          <ac:spMkLst>
            <pc:docMk/>
            <pc:sldMk cId="2064780751" sldId="1216"/>
            <ac:spMk id="2" creationId="{AFB2054E-6217-A20F-313C-34D30E6C4698}"/>
          </ac:spMkLst>
        </pc:spChg>
        <pc:spChg chg="mod">
          <ac:chgData name="松川 岳久" userId="d79c3d20-a060-4dfd-b135-b1c4226336af" providerId="ADAL" clId="{F9FFB3E8-DE2E-4685-B669-4E4FAF868C9E}" dt="2026-05-25T04:57:34.693" v="613" actId="1076"/>
          <ac:spMkLst>
            <pc:docMk/>
            <pc:sldMk cId="2064780751" sldId="1216"/>
            <ac:spMk id="3" creationId="{3D4EE390-6C25-E19F-B02A-CDF4AD36A92F}"/>
          </ac:spMkLst>
        </pc:spChg>
      </pc:sldChg>
      <pc:sldChg chg="add">
        <pc:chgData name="松川 岳久" userId="d79c3d20-a060-4dfd-b135-b1c4226336af" providerId="ADAL" clId="{F9FFB3E8-DE2E-4685-B669-4E4FAF868C9E}" dt="2026-05-25T04:58:21.774" v="614"/>
        <pc:sldMkLst>
          <pc:docMk/>
          <pc:sldMk cId="1518101196" sldId="2585"/>
        </pc:sldMkLst>
      </pc:sldChg>
      <pc:sldChg chg="add">
        <pc:chgData name="松川 岳久" userId="d79c3d20-a060-4dfd-b135-b1c4226336af" providerId="ADAL" clId="{F9FFB3E8-DE2E-4685-B669-4E4FAF868C9E}" dt="2026-05-25T04:58:21.774" v="614"/>
        <pc:sldMkLst>
          <pc:docMk/>
          <pc:sldMk cId="810252380" sldId="2588"/>
        </pc:sldMkLst>
      </pc:sldChg>
      <pc:sldChg chg="addSp modSp add del mod">
        <pc:chgData name="松川 岳久" userId="d79c3d20-a060-4dfd-b135-b1c4226336af" providerId="ADAL" clId="{F9FFB3E8-DE2E-4685-B669-4E4FAF868C9E}" dt="2026-05-25T05:00:41.010" v="632"/>
        <pc:sldMkLst>
          <pc:docMk/>
          <pc:sldMk cId="3456308820" sldId="2589"/>
        </pc:sldMkLst>
        <pc:spChg chg="add mod">
          <ac:chgData name="松川 岳久" userId="d79c3d20-a060-4dfd-b135-b1c4226336af" providerId="ADAL" clId="{F9FFB3E8-DE2E-4685-B669-4E4FAF868C9E}" dt="2026-05-25T04:59:07.875" v="619" actId="1076"/>
          <ac:spMkLst>
            <pc:docMk/>
            <pc:sldMk cId="3456308820" sldId="2589"/>
            <ac:spMk id="5" creationId="{89634231-B64A-EF09-DDE8-D0FE4C24BA95}"/>
          </ac:spMkLst>
        </pc:spChg>
        <pc:spChg chg="add mod">
          <ac:chgData name="松川 岳久" userId="d79c3d20-a060-4dfd-b135-b1c4226336af" providerId="ADAL" clId="{F9FFB3E8-DE2E-4685-B669-4E4FAF868C9E}" dt="2026-05-25T04:59:57.936" v="630" actId="14100"/>
          <ac:spMkLst>
            <pc:docMk/>
            <pc:sldMk cId="3456308820" sldId="2589"/>
            <ac:spMk id="7" creationId="{63C29D4D-9E0E-E40B-6E91-A1B566A8DA73}"/>
          </ac:spMkLst>
        </pc:spChg>
      </pc:sldChg>
      <pc:sldChg chg="addSp delSp modSp add mod">
        <pc:chgData name="松川 岳久" userId="d79c3d20-a060-4dfd-b135-b1c4226336af" providerId="ADAL" clId="{F9FFB3E8-DE2E-4685-B669-4E4FAF868C9E}" dt="2026-05-25T05:06:11.009" v="664" actId="1076"/>
        <pc:sldMkLst>
          <pc:docMk/>
          <pc:sldMk cId="1892171856" sldId="2590"/>
        </pc:sldMkLst>
        <pc:spChg chg="mod">
          <ac:chgData name="松川 岳久" userId="d79c3d20-a060-4dfd-b135-b1c4226336af" providerId="ADAL" clId="{F9FFB3E8-DE2E-4685-B669-4E4FAF868C9E}" dt="2026-05-25T05:03:05.801" v="636" actId="20577"/>
          <ac:spMkLst>
            <pc:docMk/>
            <pc:sldMk cId="1892171856" sldId="2590"/>
            <ac:spMk id="3" creationId="{11C3D87B-C650-CCCE-E79D-8CF6413D91A8}"/>
          </ac:spMkLst>
        </pc:spChg>
        <pc:spChg chg="del mod">
          <ac:chgData name="松川 岳久" userId="d79c3d20-a060-4dfd-b135-b1c4226336af" providerId="ADAL" clId="{F9FFB3E8-DE2E-4685-B669-4E4FAF868C9E}" dt="2026-05-25T05:05:43.741" v="662" actId="478"/>
          <ac:spMkLst>
            <pc:docMk/>
            <pc:sldMk cId="1892171856" sldId="2590"/>
            <ac:spMk id="5" creationId="{89634231-B64A-EF09-DDE8-D0FE4C24BA95}"/>
          </ac:spMkLst>
        </pc:spChg>
        <pc:spChg chg="add mod">
          <ac:chgData name="松川 岳久" userId="d79c3d20-a060-4dfd-b135-b1c4226336af" providerId="ADAL" clId="{F9FFB3E8-DE2E-4685-B669-4E4FAF868C9E}" dt="2026-05-25T05:05:48.544" v="663" actId="1076"/>
          <ac:spMkLst>
            <pc:docMk/>
            <pc:sldMk cId="1892171856" sldId="2590"/>
            <ac:spMk id="6" creationId="{D688B53E-B0E3-44FF-FFCC-D89FF52E1233}"/>
          </ac:spMkLst>
        </pc:spChg>
        <pc:spChg chg="mod">
          <ac:chgData name="松川 岳久" userId="d79c3d20-a060-4dfd-b135-b1c4226336af" providerId="ADAL" clId="{F9FFB3E8-DE2E-4685-B669-4E4FAF868C9E}" dt="2026-05-25T05:06:11.009" v="664" actId="1076"/>
          <ac:spMkLst>
            <pc:docMk/>
            <pc:sldMk cId="1892171856" sldId="2590"/>
            <ac:spMk id="7" creationId="{63C29D4D-9E0E-E40B-6E91-A1B566A8DA73}"/>
          </ac:spMkLst>
        </pc:spChg>
      </pc:sldChg>
      <pc:sldChg chg="delSp add mod">
        <pc:chgData name="松川 岳久" userId="d79c3d20-a060-4dfd-b135-b1c4226336af" providerId="ADAL" clId="{F9FFB3E8-DE2E-4685-B669-4E4FAF868C9E}" dt="2026-05-25T05:06:35.077" v="667" actId="478"/>
        <pc:sldMkLst>
          <pc:docMk/>
          <pc:sldMk cId="3917519319" sldId="2591"/>
        </pc:sldMkLst>
        <pc:spChg chg="del">
          <ac:chgData name="松川 岳久" userId="d79c3d20-a060-4dfd-b135-b1c4226336af" providerId="ADAL" clId="{F9FFB3E8-DE2E-4685-B669-4E4FAF868C9E}" dt="2026-05-25T05:06:35.077" v="667" actId="478"/>
          <ac:spMkLst>
            <pc:docMk/>
            <pc:sldMk cId="3917519319" sldId="2591"/>
            <ac:spMk id="6" creationId="{205FB285-D63E-F96B-5C7C-5B753A6649DE}"/>
          </ac:spMkLst>
        </pc:spChg>
        <pc:spChg chg="del">
          <ac:chgData name="松川 岳久" userId="d79c3d20-a060-4dfd-b135-b1c4226336af" providerId="ADAL" clId="{F9FFB3E8-DE2E-4685-B669-4E4FAF868C9E}" dt="2026-05-25T05:06:35.077" v="667" actId="478"/>
          <ac:spMkLst>
            <pc:docMk/>
            <pc:sldMk cId="3917519319" sldId="2591"/>
            <ac:spMk id="7" creationId="{B617C471-98C1-D8D7-F93F-A0CFC9DEF5D3}"/>
          </ac:spMkLst>
        </pc:spChg>
      </pc:sldChg>
      <pc:sldChg chg="delSp modSp add mod">
        <pc:chgData name="松川 岳久" userId="d79c3d20-a060-4dfd-b135-b1c4226336af" providerId="ADAL" clId="{F9FFB3E8-DE2E-4685-B669-4E4FAF868C9E}" dt="2026-05-25T05:08:45.614" v="836" actId="478"/>
        <pc:sldMkLst>
          <pc:docMk/>
          <pc:sldMk cId="4101060041" sldId="2592"/>
        </pc:sldMkLst>
        <pc:spChg chg="mod">
          <ac:chgData name="松川 岳久" userId="d79c3d20-a060-4dfd-b135-b1c4226336af" providerId="ADAL" clId="{F9FFB3E8-DE2E-4685-B669-4E4FAF868C9E}" dt="2026-05-25T05:08:28.006" v="833" actId="20577"/>
          <ac:spMkLst>
            <pc:docMk/>
            <pc:sldMk cId="4101060041" sldId="2592"/>
            <ac:spMk id="3" creationId="{2F8FBA80-7C56-0E27-FE8D-72909356098B}"/>
          </ac:spMkLst>
        </pc:spChg>
        <pc:spChg chg="del">
          <ac:chgData name="松川 岳久" userId="d79c3d20-a060-4dfd-b135-b1c4226336af" providerId="ADAL" clId="{F9FFB3E8-DE2E-4685-B669-4E4FAF868C9E}" dt="2026-05-25T05:08:44.182" v="835" actId="478"/>
          <ac:spMkLst>
            <pc:docMk/>
            <pc:sldMk cId="4101060041" sldId="2592"/>
            <ac:spMk id="6" creationId="{260FF1A5-C33F-EE86-E67C-8D90B6EC32F3}"/>
          </ac:spMkLst>
        </pc:spChg>
        <pc:spChg chg="del">
          <ac:chgData name="松川 岳久" userId="d79c3d20-a060-4dfd-b135-b1c4226336af" providerId="ADAL" clId="{F9FFB3E8-DE2E-4685-B669-4E4FAF868C9E}" dt="2026-05-25T05:08:45.614" v="836" actId="478"/>
          <ac:spMkLst>
            <pc:docMk/>
            <pc:sldMk cId="4101060041" sldId="2592"/>
            <ac:spMk id="7" creationId="{E0E3CDD1-DBF8-8F78-D078-56832D5C70CD}"/>
          </ac:spMkLst>
        </pc:spChg>
      </pc:sldChg>
      <pc:sldChg chg="modSp add mod">
        <pc:chgData name="松川 岳久" userId="d79c3d20-a060-4dfd-b135-b1c4226336af" providerId="ADAL" clId="{F9FFB3E8-DE2E-4685-B669-4E4FAF868C9E}" dt="2026-05-25T05:10:27.292" v="1029" actId="14100"/>
        <pc:sldMkLst>
          <pc:docMk/>
          <pc:sldMk cId="1644985866" sldId="2593"/>
        </pc:sldMkLst>
        <pc:spChg chg="mod">
          <ac:chgData name="松川 岳久" userId="d79c3d20-a060-4dfd-b135-b1c4226336af" providerId="ADAL" clId="{F9FFB3E8-DE2E-4685-B669-4E4FAF868C9E}" dt="2026-05-25T05:08:53.405" v="837" actId="1076"/>
          <ac:spMkLst>
            <pc:docMk/>
            <pc:sldMk cId="1644985866" sldId="2593"/>
            <ac:spMk id="6" creationId="{78E25BD5-D1C0-8105-020B-AD9F3CC09FD6}"/>
          </ac:spMkLst>
        </pc:spChg>
        <pc:spChg chg="mod">
          <ac:chgData name="松川 岳久" userId="d79c3d20-a060-4dfd-b135-b1c4226336af" providerId="ADAL" clId="{F9FFB3E8-DE2E-4685-B669-4E4FAF868C9E}" dt="2026-05-25T05:10:27.292" v="1029" actId="14100"/>
          <ac:spMkLst>
            <pc:docMk/>
            <pc:sldMk cId="1644985866" sldId="2593"/>
            <ac:spMk id="7" creationId="{3A819F46-7959-3045-6377-60A43C622BD6}"/>
          </ac:spMkLst>
        </pc:spChg>
      </pc:sldChg>
      <pc:sldChg chg="modSp add del mod">
        <pc:chgData name="松川 岳久" userId="d79c3d20-a060-4dfd-b135-b1c4226336af" providerId="ADAL" clId="{F9FFB3E8-DE2E-4685-B669-4E4FAF868C9E}" dt="2026-05-25T05:21:58.197" v="1198" actId="47"/>
        <pc:sldMkLst>
          <pc:docMk/>
          <pc:sldMk cId="277779507" sldId="2594"/>
        </pc:sldMkLst>
        <pc:spChg chg="mod">
          <ac:chgData name="松川 岳久" userId="d79c3d20-a060-4dfd-b135-b1c4226336af" providerId="ADAL" clId="{F9FFB3E8-DE2E-4685-B669-4E4FAF868C9E}" dt="2026-05-25T05:20:07.398" v="1181" actId="20577"/>
          <ac:spMkLst>
            <pc:docMk/>
            <pc:sldMk cId="277779507" sldId="2594"/>
            <ac:spMk id="3" creationId="{455C21A4-795F-2ED1-6BA4-A70907183EF3}"/>
          </ac:spMkLst>
        </pc:spChg>
      </pc:sldChg>
      <pc:sldChg chg="new del">
        <pc:chgData name="松川 岳久" userId="d79c3d20-a060-4dfd-b135-b1c4226336af" providerId="ADAL" clId="{F9FFB3E8-DE2E-4685-B669-4E4FAF868C9E}" dt="2026-05-25T05:13:21.816" v="1032" actId="47"/>
        <pc:sldMkLst>
          <pc:docMk/>
          <pc:sldMk cId="3484834878" sldId="2594"/>
        </pc:sldMkLst>
      </pc:sldChg>
      <pc:sldChg chg="addSp delSp modSp add del mod">
        <pc:chgData name="松川 岳久" userId="d79c3d20-a060-4dfd-b135-b1c4226336af" providerId="ADAL" clId="{F9FFB3E8-DE2E-4685-B669-4E4FAF868C9E}" dt="2026-05-25T05:21:25.882" v="1196" actId="962"/>
        <pc:sldMkLst>
          <pc:docMk/>
          <pc:sldMk cId="2816304210" sldId="2595"/>
        </pc:sldMkLst>
        <pc:spChg chg="add del">
          <ac:chgData name="松川 岳久" userId="d79c3d20-a060-4dfd-b135-b1c4226336af" providerId="ADAL" clId="{F9FFB3E8-DE2E-4685-B669-4E4FAF868C9E}" dt="2026-05-25T05:21:06.251" v="1189" actId="478"/>
          <ac:spMkLst>
            <pc:docMk/>
            <pc:sldMk cId="2816304210" sldId="2595"/>
            <ac:spMk id="6" creationId="{5E4333ED-4910-82C6-2B18-0CCCFB579DF7}"/>
          </ac:spMkLst>
        </pc:spChg>
        <pc:spChg chg="add del">
          <ac:chgData name="松川 岳久" userId="d79c3d20-a060-4dfd-b135-b1c4226336af" providerId="ADAL" clId="{F9FFB3E8-DE2E-4685-B669-4E4FAF868C9E}" dt="2026-05-25T05:21:06.251" v="1189" actId="478"/>
          <ac:spMkLst>
            <pc:docMk/>
            <pc:sldMk cId="2816304210" sldId="2595"/>
            <ac:spMk id="7" creationId="{48680661-93E0-BEDE-9993-EF345D95DE6A}"/>
          </ac:spMkLst>
        </pc:spChg>
        <pc:picChg chg="add mod">
          <ac:chgData name="松川 岳久" userId="d79c3d20-a060-4dfd-b135-b1c4226336af" providerId="ADAL" clId="{F9FFB3E8-DE2E-4685-B669-4E4FAF868C9E}" dt="2026-05-25T05:21:25.882" v="1196" actId="962"/>
          <ac:picMkLst>
            <pc:docMk/>
            <pc:sldMk cId="2816304210" sldId="2595"/>
            <ac:picMk id="8" creationId="{EB528DE3-245C-BCBE-DA7D-861AB4F40B11}"/>
          </ac:picMkLst>
        </pc:picChg>
      </pc:sldChg>
      <pc:sldChg chg="add del">
        <pc:chgData name="松川 岳久" userId="d79c3d20-a060-4dfd-b135-b1c4226336af" providerId="ADAL" clId="{F9FFB3E8-DE2E-4685-B669-4E4FAF868C9E}" dt="2026-05-25T05:20:57.038" v="1185"/>
        <pc:sldMkLst>
          <pc:docMk/>
          <pc:sldMk cId="1385226928" sldId="2596"/>
        </pc:sldMkLst>
      </pc:sldChg>
      <pc:sldChg chg="addSp modSp add mod">
        <pc:chgData name="松川 岳久" userId="d79c3d20-a060-4dfd-b135-b1c4226336af" providerId="ADAL" clId="{F9FFB3E8-DE2E-4685-B669-4E4FAF868C9E}" dt="2026-05-25T05:23:13.737" v="1367" actId="20577"/>
        <pc:sldMkLst>
          <pc:docMk/>
          <pc:sldMk cId="1650563207" sldId="2596"/>
        </pc:sldMkLst>
        <pc:spChg chg="add mod">
          <ac:chgData name="松川 岳久" userId="d79c3d20-a060-4dfd-b135-b1c4226336af" providerId="ADAL" clId="{F9FFB3E8-DE2E-4685-B669-4E4FAF868C9E}" dt="2026-05-25T05:23:13.737" v="1367" actId="20577"/>
          <ac:spMkLst>
            <pc:docMk/>
            <pc:sldMk cId="1650563207" sldId="2596"/>
            <ac:spMk id="5" creationId="{31596307-8310-1FAF-1884-3682724AA57E}"/>
          </ac:spMkLst>
        </pc:spChg>
        <pc:spChg chg="add mod">
          <ac:chgData name="松川 岳久" userId="d79c3d20-a060-4dfd-b135-b1c4226336af" providerId="ADAL" clId="{F9FFB3E8-DE2E-4685-B669-4E4FAF868C9E}" dt="2026-05-25T05:22:11.883" v="1202" actId="1076"/>
          <ac:spMkLst>
            <pc:docMk/>
            <pc:sldMk cId="1650563207" sldId="2596"/>
            <ac:spMk id="6" creationId="{B66F0AB6-E87A-BA39-98D8-B117E8956D7C}"/>
          </ac:spMkLst>
        </pc:spChg>
      </pc:sldChg>
      <pc:sldChg chg="addSp modSp new mod">
        <pc:chgData name="松川 岳久" userId="d79c3d20-a060-4dfd-b135-b1c4226336af" providerId="ADAL" clId="{F9FFB3E8-DE2E-4685-B669-4E4FAF868C9E}" dt="2026-05-25T05:27:23.035" v="1547" actId="1076"/>
        <pc:sldMkLst>
          <pc:docMk/>
          <pc:sldMk cId="3027961227" sldId="2597"/>
        </pc:sldMkLst>
        <pc:spChg chg="add mod">
          <ac:chgData name="松川 岳久" userId="d79c3d20-a060-4dfd-b135-b1c4226336af" providerId="ADAL" clId="{F9FFB3E8-DE2E-4685-B669-4E4FAF868C9E}" dt="2026-05-25T05:26:07.996" v="1371"/>
          <ac:spMkLst>
            <pc:docMk/>
            <pc:sldMk cId="3027961227" sldId="2597"/>
            <ac:spMk id="6" creationId="{0FCC1C94-A0B0-63F4-AFE2-6D8113ACF1E3}"/>
          </ac:spMkLst>
        </pc:spChg>
        <pc:spChg chg="add mod">
          <ac:chgData name="松川 岳久" userId="d79c3d20-a060-4dfd-b135-b1c4226336af" providerId="ADAL" clId="{F9FFB3E8-DE2E-4685-B669-4E4FAF868C9E}" dt="2026-05-25T05:27:18.177" v="1546" actId="1076"/>
          <ac:spMkLst>
            <pc:docMk/>
            <pc:sldMk cId="3027961227" sldId="2597"/>
            <ac:spMk id="7" creationId="{6B53FAB3-056A-62A9-54C5-DAC905E41B02}"/>
          </ac:spMkLst>
        </pc:spChg>
        <pc:spChg chg="add mod">
          <ac:chgData name="松川 岳久" userId="d79c3d20-a060-4dfd-b135-b1c4226336af" providerId="ADAL" clId="{F9FFB3E8-DE2E-4685-B669-4E4FAF868C9E}" dt="2026-05-25T05:27:23.035" v="1547" actId="1076"/>
          <ac:spMkLst>
            <pc:docMk/>
            <pc:sldMk cId="3027961227" sldId="2597"/>
            <ac:spMk id="8" creationId="{5E9C70A8-779E-3095-B214-FE75B67CB969}"/>
          </ac:spMkLst>
        </pc:spChg>
        <pc:spChg chg="add mod">
          <ac:chgData name="松川 岳久" userId="d79c3d20-a060-4dfd-b135-b1c4226336af" providerId="ADAL" clId="{F9FFB3E8-DE2E-4685-B669-4E4FAF868C9E}" dt="2026-05-25T05:26:07.996" v="1371"/>
          <ac:spMkLst>
            <pc:docMk/>
            <pc:sldMk cId="3027961227" sldId="2597"/>
            <ac:spMk id="9" creationId="{A4287915-B442-86B0-1CA4-F89721101B69}"/>
          </ac:spMkLst>
        </pc:spChg>
        <pc:picChg chg="add mod">
          <ac:chgData name="松川 岳久" userId="d79c3d20-a060-4dfd-b135-b1c4226336af" providerId="ADAL" clId="{F9FFB3E8-DE2E-4685-B669-4E4FAF868C9E}" dt="2026-05-25T05:25:57.935" v="1370" actId="1076"/>
          <ac:picMkLst>
            <pc:docMk/>
            <pc:sldMk cId="3027961227" sldId="2597"/>
            <ac:picMk id="5" creationId="{18432A5B-CA0F-32C6-477F-84276D5EECFA}"/>
          </ac:picMkLst>
        </pc:picChg>
      </pc:sldChg>
      <pc:sldChg chg="add del">
        <pc:chgData name="松川 岳久" userId="d79c3d20-a060-4dfd-b135-b1c4226336af" providerId="ADAL" clId="{F9FFB3E8-DE2E-4685-B669-4E4FAF868C9E}" dt="2026-05-25T05:22:03.551" v="1200"/>
        <pc:sldMkLst>
          <pc:docMk/>
          <pc:sldMk cId="4017164829" sldId="2597"/>
        </pc:sldMkLst>
      </pc:sldChg>
      <pc:sldChg chg="delSp modSp add mod">
        <pc:chgData name="松川 岳久" userId="d79c3d20-a060-4dfd-b135-b1c4226336af" providerId="ADAL" clId="{F9FFB3E8-DE2E-4685-B669-4E4FAF868C9E}" dt="2026-05-25T05:31:44.435" v="2242" actId="20577"/>
        <pc:sldMkLst>
          <pc:docMk/>
          <pc:sldMk cId="2584866148" sldId="2598"/>
        </pc:sldMkLst>
        <pc:spChg chg="mod">
          <ac:chgData name="松川 岳久" userId="d79c3d20-a060-4dfd-b135-b1c4226336af" providerId="ADAL" clId="{F9FFB3E8-DE2E-4685-B669-4E4FAF868C9E}" dt="2026-05-25T05:31:44.435" v="2242" actId="20577"/>
          <ac:spMkLst>
            <pc:docMk/>
            <pc:sldMk cId="2584866148" sldId="2598"/>
            <ac:spMk id="3" creationId="{236FFF9D-8668-54CE-CF29-4352D3080380}"/>
          </ac:spMkLst>
        </pc:spChg>
        <pc:picChg chg="del">
          <ac:chgData name="松川 岳久" userId="d79c3d20-a060-4dfd-b135-b1c4226336af" providerId="ADAL" clId="{F9FFB3E8-DE2E-4685-B669-4E4FAF868C9E}" dt="2026-05-25T05:29:43.184" v="1797" actId="478"/>
          <ac:picMkLst>
            <pc:docMk/>
            <pc:sldMk cId="2584866148" sldId="2598"/>
            <ac:picMk id="8" creationId="{EFFBF9FE-3AB8-C240-71C3-B35D9B48D7F5}"/>
          </ac:picMkLst>
        </pc:picChg>
      </pc:sldChg>
      <pc:sldChg chg="addSp delSp modSp new mod">
        <pc:chgData name="松川 岳久" userId="d79c3d20-a060-4dfd-b135-b1c4226336af" providerId="ADAL" clId="{F9FFB3E8-DE2E-4685-B669-4E4FAF868C9E}" dt="2026-05-25T06:05:58.397" v="2425" actId="1076"/>
        <pc:sldMkLst>
          <pc:docMk/>
          <pc:sldMk cId="1142520377" sldId="2599"/>
        </pc:sldMkLst>
        <pc:spChg chg="del">
          <ac:chgData name="松川 岳久" userId="d79c3d20-a060-4dfd-b135-b1c4226336af" providerId="ADAL" clId="{F9FFB3E8-DE2E-4685-B669-4E4FAF868C9E}" dt="2026-05-25T05:39:08.331" v="2245" actId="478"/>
          <ac:spMkLst>
            <pc:docMk/>
            <pc:sldMk cId="1142520377" sldId="2599"/>
            <ac:spMk id="3" creationId="{1ECDF176-7E81-96AC-8972-91E224A36A2A}"/>
          </ac:spMkLst>
        </pc:spChg>
        <pc:spChg chg="add del">
          <ac:chgData name="松川 岳久" userId="d79c3d20-a060-4dfd-b135-b1c4226336af" providerId="ADAL" clId="{F9FFB3E8-DE2E-4685-B669-4E4FAF868C9E}" dt="2026-05-25T05:39:10.590" v="2247" actId="22"/>
          <ac:spMkLst>
            <pc:docMk/>
            <pc:sldMk cId="1142520377" sldId="2599"/>
            <ac:spMk id="6" creationId="{121761C6-4BA2-E0A3-D828-28577A36C3A5}"/>
          </ac:spMkLst>
        </pc:spChg>
        <pc:spChg chg="add mod">
          <ac:chgData name="松川 岳久" userId="d79c3d20-a060-4dfd-b135-b1c4226336af" providerId="ADAL" clId="{F9FFB3E8-DE2E-4685-B669-4E4FAF868C9E}" dt="2026-05-25T05:43:12.518" v="2288" actId="20577"/>
          <ac:spMkLst>
            <pc:docMk/>
            <pc:sldMk cId="1142520377" sldId="2599"/>
            <ac:spMk id="8" creationId="{948C93A3-F4ED-6725-A845-0056EC534030}"/>
          </ac:spMkLst>
        </pc:spChg>
        <pc:spChg chg="add mod">
          <ac:chgData name="松川 岳久" userId="d79c3d20-a060-4dfd-b135-b1c4226336af" providerId="ADAL" clId="{F9FFB3E8-DE2E-4685-B669-4E4FAF868C9E}" dt="2026-05-25T06:05:52.154" v="2423" actId="1076"/>
          <ac:spMkLst>
            <pc:docMk/>
            <pc:sldMk cId="1142520377" sldId="2599"/>
            <ac:spMk id="14" creationId="{269A3B65-5A13-EE9E-F514-736F77DD5AA1}"/>
          </ac:spMkLst>
        </pc:spChg>
        <pc:spChg chg="add mod">
          <ac:chgData name="松川 岳久" userId="d79c3d20-a060-4dfd-b135-b1c4226336af" providerId="ADAL" clId="{F9FFB3E8-DE2E-4685-B669-4E4FAF868C9E}" dt="2026-05-25T06:05:55.414" v="2424" actId="1076"/>
          <ac:spMkLst>
            <pc:docMk/>
            <pc:sldMk cId="1142520377" sldId="2599"/>
            <ac:spMk id="16" creationId="{D475358D-E9EB-D8DE-1513-F9F7DC768DCB}"/>
          </ac:spMkLst>
        </pc:spChg>
        <pc:spChg chg="add mod">
          <ac:chgData name="松川 岳久" userId="d79c3d20-a060-4dfd-b135-b1c4226336af" providerId="ADAL" clId="{F9FFB3E8-DE2E-4685-B669-4E4FAF868C9E}" dt="2026-05-25T06:05:46.989" v="2421" actId="14100"/>
          <ac:spMkLst>
            <pc:docMk/>
            <pc:sldMk cId="1142520377" sldId="2599"/>
            <ac:spMk id="18" creationId="{F4BBD1BC-C90D-0097-02B3-CB73803374B5}"/>
          </ac:spMkLst>
        </pc:spChg>
        <pc:picChg chg="add mod">
          <ac:chgData name="松川 岳久" userId="d79c3d20-a060-4dfd-b135-b1c4226336af" providerId="ADAL" clId="{F9FFB3E8-DE2E-4685-B669-4E4FAF868C9E}" dt="2026-05-25T06:05:58.397" v="2425" actId="1076"/>
          <ac:picMkLst>
            <pc:docMk/>
            <pc:sldMk cId="1142520377" sldId="2599"/>
            <ac:picMk id="10" creationId="{C1384293-E6FE-E4DA-B482-3C44EBFB6383}"/>
          </ac:picMkLst>
        </pc:picChg>
        <pc:picChg chg="add del">
          <ac:chgData name="松川 岳久" userId="d79c3d20-a060-4dfd-b135-b1c4226336af" providerId="ADAL" clId="{F9FFB3E8-DE2E-4685-B669-4E4FAF868C9E}" dt="2026-05-25T05:39:51.583" v="2255" actId="22"/>
          <ac:picMkLst>
            <pc:docMk/>
            <pc:sldMk cId="1142520377" sldId="2599"/>
            <ac:picMk id="12" creationId="{A458267D-EDBE-2637-D6DD-2A2838AD4129}"/>
          </ac:picMkLst>
        </pc:picChg>
      </pc:sldChg>
      <pc:sldChg chg="addSp modSp add mod">
        <pc:chgData name="松川 岳久" userId="d79c3d20-a060-4dfd-b135-b1c4226336af" providerId="ADAL" clId="{F9FFB3E8-DE2E-4685-B669-4E4FAF868C9E}" dt="2026-05-25T05:51:54.897" v="2401" actId="20577"/>
        <pc:sldMkLst>
          <pc:docMk/>
          <pc:sldMk cId="3329180537" sldId="2600"/>
        </pc:sldMkLst>
        <pc:spChg chg="add mod">
          <ac:chgData name="松川 岳久" userId="d79c3d20-a060-4dfd-b135-b1c4226336af" providerId="ADAL" clId="{F9FFB3E8-DE2E-4685-B669-4E4FAF868C9E}" dt="2026-05-25T05:51:06.108" v="2312" actId="1076"/>
          <ac:spMkLst>
            <pc:docMk/>
            <pc:sldMk cId="3329180537" sldId="2600"/>
            <ac:spMk id="5" creationId="{6CD2FD42-DA09-1591-3C27-555C110859BE}"/>
          </ac:spMkLst>
        </pc:spChg>
        <pc:spChg chg="add mod">
          <ac:chgData name="松川 岳久" userId="d79c3d20-a060-4dfd-b135-b1c4226336af" providerId="ADAL" clId="{F9FFB3E8-DE2E-4685-B669-4E4FAF868C9E}" dt="2026-05-25T05:51:54.897" v="2401" actId="20577"/>
          <ac:spMkLst>
            <pc:docMk/>
            <pc:sldMk cId="3329180537" sldId="2600"/>
            <ac:spMk id="6" creationId="{381E2C8E-6C61-449D-7AD2-429F6424901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4763" y="0"/>
            <a:ext cx="2919412" cy="493713"/>
          </a:xfrm>
          <a:prstGeom prst="rect">
            <a:avLst/>
          </a:prstGeom>
        </p:spPr>
        <p:txBody>
          <a:bodyPr vert="horz" lIns="91440" tIns="45720" rIns="91440" bIns="45720" rtlCol="0"/>
          <a:lstStyle>
            <a:lvl1pPr algn="r">
              <a:defRPr sz="1200"/>
            </a:lvl1pPr>
          </a:lstStyle>
          <a:p>
            <a:fld id="{20F926F1-6E03-489E-9E81-38C91A656646}" type="datetimeFigureOut">
              <a:rPr kumimoji="1" lang="ja-JP" altLang="en-US" smtClean="0"/>
              <a:t>2026/5/25</a:t>
            </a:fld>
            <a:endParaRPr kumimoji="1" lang="ja-JP" altLang="en-US"/>
          </a:p>
        </p:txBody>
      </p:sp>
      <p:sp>
        <p:nvSpPr>
          <p:cNvPr id="4" name="フッター プレースホルダー 3"/>
          <p:cNvSpPr>
            <a:spLocks noGrp="1"/>
          </p:cNvSpPr>
          <p:nvPr>
            <p:ph type="ftr" sz="quarter" idx="2"/>
          </p:nvPr>
        </p:nvSpPr>
        <p:spPr>
          <a:xfrm>
            <a:off x="0" y="9371013"/>
            <a:ext cx="2919413" cy="493712"/>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4763" y="9371013"/>
            <a:ext cx="2919412" cy="493712"/>
          </a:xfrm>
          <a:prstGeom prst="rect">
            <a:avLst/>
          </a:prstGeom>
        </p:spPr>
        <p:txBody>
          <a:bodyPr vert="horz" lIns="91440" tIns="45720" rIns="91440" bIns="45720" rtlCol="0" anchor="b"/>
          <a:lstStyle>
            <a:lvl1pPr algn="r">
              <a:defRPr sz="1200"/>
            </a:lvl1pPr>
          </a:lstStyle>
          <a:p>
            <a:fld id="{6CE08970-173D-4238-A06B-1F1E531F61BB}" type="slidenum">
              <a:rPr kumimoji="1" lang="ja-JP" altLang="en-US" smtClean="0"/>
              <a:t>‹#›</a:t>
            </a:fld>
            <a:endParaRPr kumimoji="1" lang="ja-JP" altLang="en-US"/>
          </a:p>
        </p:txBody>
      </p:sp>
    </p:spTree>
    <p:extLst>
      <p:ext uri="{BB962C8B-B14F-4D97-AF65-F5344CB8AC3E}">
        <p14:creationId xmlns:p14="http://schemas.microsoft.com/office/powerpoint/2010/main" val="255937235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1" y="0"/>
            <a:ext cx="2918830" cy="493316"/>
          </a:xfrm>
          <a:prstGeom prst="rect">
            <a:avLst/>
          </a:prstGeom>
        </p:spPr>
        <p:txBody>
          <a:bodyPr vert="horz" lIns="91065" tIns="45533" rIns="91065" bIns="45533" rtlCol="0"/>
          <a:lstStyle>
            <a:lvl1pPr algn="l" fontAlgn="auto">
              <a:spcBef>
                <a:spcPts val="0"/>
              </a:spcBef>
              <a:spcAft>
                <a:spcPts val="0"/>
              </a:spcAft>
              <a:defRPr sz="1200">
                <a:latin typeface="+mn-lt"/>
                <a:ea typeface="+mn-ea"/>
              </a:defRPr>
            </a:lvl1pPr>
          </a:lstStyle>
          <a:p>
            <a:pPr>
              <a:defRPr/>
            </a:pPr>
            <a:endParaRPr lang="ja-JP" altLang="en-US"/>
          </a:p>
        </p:txBody>
      </p:sp>
      <p:sp>
        <p:nvSpPr>
          <p:cNvPr id="3" name="日付プレースホルダ 2"/>
          <p:cNvSpPr>
            <a:spLocks noGrp="1"/>
          </p:cNvSpPr>
          <p:nvPr>
            <p:ph type="dt" idx="1"/>
          </p:nvPr>
        </p:nvSpPr>
        <p:spPr>
          <a:xfrm>
            <a:off x="3815375" y="0"/>
            <a:ext cx="2918830" cy="493316"/>
          </a:xfrm>
          <a:prstGeom prst="rect">
            <a:avLst/>
          </a:prstGeom>
        </p:spPr>
        <p:txBody>
          <a:bodyPr vert="horz" lIns="91065" tIns="45533" rIns="91065" bIns="45533" rtlCol="0"/>
          <a:lstStyle>
            <a:lvl1pPr algn="r" fontAlgn="auto">
              <a:spcBef>
                <a:spcPts val="0"/>
              </a:spcBef>
              <a:spcAft>
                <a:spcPts val="0"/>
              </a:spcAft>
              <a:defRPr sz="1200">
                <a:latin typeface="+mn-lt"/>
                <a:ea typeface="+mn-ea"/>
              </a:defRPr>
            </a:lvl1pPr>
          </a:lstStyle>
          <a:p>
            <a:pPr>
              <a:defRPr/>
            </a:pPr>
            <a:fld id="{8496B15E-7BAB-4E43-BE92-BEB8DC728B6F}" type="datetimeFigureOut">
              <a:rPr lang="ja-JP" altLang="en-US"/>
              <a:pPr>
                <a:defRPr/>
              </a:pPr>
              <a:t>2026/5/25</a:t>
            </a:fld>
            <a:endParaRPr lang="ja-JP" altLang="en-US"/>
          </a:p>
        </p:txBody>
      </p:sp>
      <p:sp>
        <p:nvSpPr>
          <p:cNvPr id="4" name="スライド イメージ プレースホルダ 3"/>
          <p:cNvSpPr>
            <a:spLocks noGrp="1" noRot="1" noChangeAspect="1"/>
          </p:cNvSpPr>
          <p:nvPr>
            <p:ph type="sldImg" idx="2"/>
          </p:nvPr>
        </p:nvSpPr>
        <p:spPr>
          <a:xfrm>
            <a:off x="901700" y="739775"/>
            <a:ext cx="4932363" cy="3700463"/>
          </a:xfrm>
          <a:prstGeom prst="rect">
            <a:avLst/>
          </a:prstGeom>
          <a:noFill/>
          <a:ln w="12700">
            <a:solidFill>
              <a:prstClr val="black"/>
            </a:solidFill>
          </a:ln>
        </p:spPr>
        <p:txBody>
          <a:bodyPr vert="horz" lIns="91065" tIns="45533" rIns="91065" bIns="45533" rtlCol="0" anchor="ctr"/>
          <a:lstStyle/>
          <a:p>
            <a:pPr lvl="0"/>
            <a:endParaRPr lang="ja-JP" altLang="en-US" noProof="0"/>
          </a:p>
        </p:txBody>
      </p:sp>
      <p:sp>
        <p:nvSpPr>
          <p:cNvPr id="5" name="ノート プレースホルダ 4"/>
          <p:cNvSpPr>
            <a:spLocks noGrp="1"/>
          </p:cNvSpPr>
          <p:nvPr>
            <p:ph type="body" sz="quarter" idx="3"/>
          </p:nvPr>
        </p:nvSpPr>
        <p:spPr>
          <a:xfrm>
            <a:off x="673577" y="4686499"/>
            <a:ext cx="5388610" cy="4439841"/>
          </a:xfrm>
          <a:prstGeom prst="rect">
            <a:avLst/>
          </a:prstGeom>
        </p:spPr>
        <p:txBody>
          <a:bodyPr vert="horz" lIns="91065" tIns="45533" rIns="91065" bIns="45533" rtlCol="0">
            <a:normAutofit/>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 5"/>
          <p:cNvSpPr>
            <a:spLocks noGrp="1"/>
          </p:cNvSpPr>
          <p:nvPr>
            <p:ph type="ftr" sz="quarter" idx="4"/>
          </p:nvPr>
        </p:nvSpPr>
        <p:spPr>
          <a:xfrm>
            <a:off x="1" y="9371285"/>
            <a:ext cx="2918830" cy="493316"/>
          </a:xfrm>
          <a:prstGeom prst="rect">
            <a:avLst/>
          </a:prstGeom>
        </p:spPr>
        <p:txBody>
          <a:bodyPr vert="horz" lIns="91065" tIns="45533" rIns="91065" bIns="45533" rtlCol="0" anchor="b"/>
          <a:lstStyle>
            <a:lvl1pPr algn="l" fontAlgn="auto">
              <a:spcBef>
                <a:spcPts val="0"/>
              </a:spcBef>
              <a:spcAft>
                <a:spcPts val="0"/>
              </a:spcAft>
              <a:defRPr sz="1200">
                <a:latin typeface="+mn-lt"/>
                <a:ea typeface="+mn-ea"/>
              </a:defRPr>
            </a:lvl1pPr>
          </a:lstStyle>
          <a:p>
            <a:pPr>
              <a:defRPr/>
            </a:pPr>
            <a:endParaRPr lang="ja-JP" altLang="en-US"/>
          </a:p>
        </p:txBody>
      </p:sp>
      <p:sp>
        <p:nvSpPr>
          <p:cNvPr id="7" name="スライド番号プレースホルダ 6"/>
          <p:cNvSpPr>
            <a:spLocks noGrp="1"/>
          </p:cNvSpPr>
          <p:nvPr>
            <p:ph type="sldNum" sz="quarter" idx="5"/>
          </p:nvPr>
        </p:nvSpPr>
        <p:spPr>
          <a:xfrm>
            <a:off x="3815375" y="9371285"/>
            <a:ext cx="2918830" cy="493316"/>
          </a:xfrm>
          <a:prstGeom prst="rect">
            <a:avLst/>
          </a:prstGeom>
        </p:spPr>
        <p:txBody>
          <a:bodyPr vert="horz" lIns="91065" tIns="45533" rIns="91065" bIns="45533" rtlCol="0" anchor="b"/>
          <a:lstStyle>
            <a:lvl1pPr algn="r" fontAlgn="auto">
              <a:spcBef>
                <a:spcPts val="0"/>
              </a:spcBef>
              <a:spcAft>
                <a:spcPts val="0"/>
              </a:spcAft>
              <a:defRPr sz="1200">
                <a:latin typeface="+mn-lt"/>
                <a:ea typeface="+mn-ea"/>
              </a:defRPr>
            </a:lvl1pPr>
          </a:lstStyle>
          <a:p>
            <a:pPr>
              <a:defRPr/>
            </a:pPr>
            <a:fld id="{AD6ACA63-43CE-4169-93E1-AAC4844BEF99}" type="slidenum">
              <a:rPr lang="ja-JP" altLang="en-US"/>
              <a:pPr>
                <a:defRPr/>
              </a:pPr>
              <a:t>‹#›</a:t>
            </a:fld>
            <a:endParaRPr lang="ja-JP" altLang="en-US"/>
          </a:p>
        </p:txBody>
      </p:sp>
    </p:spTree>
    <p:extLst>
      <p:ext uri="{BB962C8B-B14F-4D97-AF65-F5344CB8AC3E}">
        <p14:creationId xmlns:p14="http://schemas.microsoft.com/office/powerpoint/2010/main" val="549153739"/>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mn-lt"/>
        <a:ea typeface="+mn-ea"/>
        <a:cs typeface="+mn-cs"/>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スライド イメージ プレースホルダ 1"/>
          <p:cNvSpPr>
            <a:spLocks noGrp="1" noRot="1" noChangeAspect="1" noTextEdit="1"/>
          </p:cNvSpPr>
          <p:nvPr>
            <p:ph type="sldImg"/>
          </p:nvPr>
        </p:nvSpPr>
        <p:spPr bwMode="auto">
          <a:xfrm>
            <a:off x="901700" y="739775"/>
            <a:ext cx="4932363" cy="3700463"/>
          </a:xfrm>
          <a:noFill/>
          <a:ln>
            <a:solidFill>
              <a:srgbClr val="000000"/>
            </a:solidFill>
            <a:miter lim="800000"/>
            <a:headEnd/>
            <a:tailEnd/>
          </a:ln>
        </p:spPr>
      </p:sp>
      <p:sp>
        <p:nvSpPr>
          <p:cNvPr id="9219" name="ノート プレースホルダ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ja-JP" altLang="en-US"/>
          </a:p>
        </p:txBody>
      </p:sp>
    </p:spTree>
    <p:extLst>
      <p:ext uri="{BB962C8B-B14F-4D97-AF65-F5344CB8AC3E}">
        <p14:creationId xmlns:p14="http://schemas.microsoft.com/office/powerpoint/2010/main" val="42127863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スライド イメージ プレースホルダ 1"/>
          <p:cNvSpPr>
            <a:spLocks noGrp="1" noRot="1" noChangeAspect="1" noTextEdit="1"/>
          </p:cNvSpPr>
          <p:nvPr>
            <p:ph type="sldImg"/>
          </p:nvPr>
        </p:nvSpPr>
        <p:spPr bwMode="auto">
          <a:xfrm>
            <a:off x="901700" y="739775"/>
            <a:ext cx="4932363" cy="3700463"/>
          </a:xfrm>
          <a:noFill/>
          <a:ln>
            <a:solidFill>
              <a:srgbClr val="000000"/>
            </a:solidFill>
            <a:miter lim="800000"/>
            <a:headEnd/>
            <a:tailEnd/>
          </a:ln>
        </p:spPr>
      </p:sp>
      <p:sp>
        <p:nvSpPr>
          <p:cNvPr id="12291" name="ノート プレースホルダ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ja-JP" altLang="en-US"/>
          </a:p>
        </p:txBody>
      </p:sp>
    </p:spTree>
    <p:extLst>
      <p:ext uri="{BB962C8B-B14F-4D97-AF65-F5344CB8AC3E}">
        <p14:creationId xmlns:p14="http://schemas.microsoft.com/office/powerpoint/2010/main" val="2459674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スライド イメージ プレースホルダ 1"/>
          <p:cNvSpPr>
            <a:spLocks noGrp="1" noRot="1" noChangeAspect="1" noTextEdit="1"/>
          </p:cNvSpPr>
          <p:nvPr>
            <p:ph type="sldImg"/>
          </p:nvPr>
        </p:nvSpPr>
        <p:spPr bwMode="auto">
          <a:xfrm>
            <a:off x="901700" y="739775"/>
            <a:ext cx="4932363" cy="3700463"/>
          </a:xfrm>
          <a:noFill/>
          <a:ln>
            <a:solidFill>
              <a:srgbClr val="000000"/>
            </a:solidFill>
            <a:miter lim="800000"/>
            <a:headEnd/>
            <a:tailEnd/>
          </a:ln>
        </p:spPr>
      </p:sp>
      <p:sp>
        <p:nvSpPr>
          <p:cNvPr id="9219" name="ノート プレースホルダ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ja-JP" altLang="en-US"/>
          </a:p>
        </p:txBody>
      </p:sp>
    </p:spTree>
    <p:extLst>
      <p:ext uri="{BB962C8B-B14F-4D97-AF65-F5344CB8AC3E}">
        <p14:creationId xmlns:p14="http://schemas.microsoft.com/office/powerpoint/2010/main" val="4212786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スライド イメージ プレースホルダ 1"/>
          <p:cNvSpPr>
            <a:spLocks noGrp="1" noRot="1" noChangeAspect="1" noTextEdit="1"/>
          </p:cNvSpPr>
          <p:nvPr>
            <p:ph type="sldImg"/>
          </p:nvPr>
        </p:nvSpPr>
        <p:spPr bwMode="auto">
          <a:xfrm>
            <a:off x="901700" y="739775"/>
            <a:ext cx="4932363" cy="3700463"/>
          </a:xfrm>
          <a:noFill/>
          <a:ln>
            <a:solidFill>
              <a:srgbClr val="000000"/>
            </a:solidFill>
            <a:miter lim="800000"/>
            <a:headEnd/>
            <a:tailEnd/>
          </a:ln>
        </p:spPr>
      </p:sp>
      <p:sp>
        <p:nvSpPr>
          <p:cNvPr id="12291" name="ノート プレースホルダ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ja-JP" altLang="en-US"/>
          </a:p>
        </p:txBody>
      </p:sp>
    </p:spTree>
    <p:extLst>
      <p:ext uri="{BB962C8B-B14F-4D97-AF65-F5344CB8AC3E}">
        <p14:creationId xmlns:p14="http://schemas.microsoft.com/office/powerpoint/2010/main" val="3811925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スライド イメージ プレースホルダ 1"/>
          <p:cNvSpPr>
            <a:spLocks noGrp="1" noRot="1" noChangeAspect="1" noTextEdit="1"/>
          </p:cNvSpPr>
          <p:nvPr>
            <p:ph type="sldImg"/>
          </p:nvPr>
        </p:nvSpPr>
        <p:spPr bwMode="auto">
          <a:xfrm>
            <a:off x="901700" y="739775"/>
            <a:ext cx="4932363" cy="3700463"/>
          </a:xfrm>
          <a:noFill/>
          <a:ln>
            <a:solidFill>
              <a:srgbClr val="000000"/>
            </a:solidFill>
            <a:miter lim="800000"/>
            <a:headEnd/>
            <a:tailEnd/>
          </a:ln>
        </p:spPr>
      </p:sp>
      <p:sp>
        <p:nvSpPr>
          <p:cNvPr id="12291" name="ノート プレースホルダ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ja-JP" altLang="en-US"/>
          </a:p>
        </p:txBody>
      </p:sp>
    </p:spTree>
    <p:extLst>
      <p:ext uri="{BB962C8B-B14F-4D97-AF65-F5344CB8AC3E}">
        <p14:creationId xmlns:p14="http://schemas.microsoft.com/office/powerpoint/2010/main" val="1222219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990600" y="3077283"/>
            <a:ext cx="11226800" cy="2123369"/>
          </a:xfrm>
        </p:spPr>
        <p:txBody>
          <a:bodyPr/>
          <a:lstStyle/>
          <a:p>
            <a:r>
              <a:rPr lang="ja-JP" altLang="en-US"/>
              <a:t>マスタ タイトルの書式設定</a:t>
            </a:r>
          </a:p>
        </p:txBody>
      </p:sp>
      <p:sp>
        <p:nvSpPr>
          <p:cNvPr id="3" name="サブタイトル 2"/>
          <p:cNvSpPr>
            <a:spLocks noGrp="1"/>
          </p:cNvSpPr>
          <p:nvPr>
            <p:ph type="subTitle" idx="1"/>
          </p:nvPr>
        </p:nvSpPr>
        <p:spPr>
          <a:xfrm>
            <a:off x="1981200" y="5613401"/>
            <a:ext cx="9245600" cy="2531533"/>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ja-JP" altLang="en-US"/>
              <a:t>マスタ サブタイトルの書式設定</a:t>
            </a:r>
          </a:p>
        </p:txBody>
      </p:sp>
      <p:sp>
        <p:nvSpPr>
          <p:cNvPr id="4" name="日付プレースホルダ 3"/>
          <p:cNvSpPr>
            <a:spLocks noGrp="1"/>
          </p:cNvSpPr>
          <p:nvPr>
            <p:ph type="dt" sz="half" idx="10"/>
          </p:nvPr>
        </p:nvSpPr>
        <p:spPr/>
        <p:txBody>
          <a:bodyPr/>
          <a:lstStyle>
            <a:lvl1pPr>
              <a:defRPr/>
            </a:lvl1pPr>
          </a:lstStyle>
          <a:p>
            <a:pPr>
              <a:defRPr/>
            </a:pPr>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66EA0C6A-6127-448F-A33D-C76A603EE3ED}" type="slidenum">
              <a:rPr lang="ja-JP" altLang="en-US"/>
              <a:pPr>
                <a:defRPr/>
              </a:pPr>
              <a:t>‹#›</a:t>
            </a:fld>
            <a:endParaRPr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8" name="正方形/長方形 7"/>
          <p:cNvSpPr/>
          <p:nvPr userDrawn="1"/>
        </p:nvSpPr>
        <p:spPr>
          <a:xfrm flipV="1">
            <a:off x="-29291" y="9428567"/>
            <a:ext cx="13208000" cy="479249"/>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a:p>
        </p:txBody>
      </p:sp>
      <p:sp>
        <p:nvSpPr>
          <p:cNvPr id="7" name="正方形/長方形 6"/>
          <p:cNvSpPr/>
          <p:nvPr userDrawn="1"/>
        </p:nvSpPr>
        <p:spPr>
          <a:xfrm>
            <a:off x="0" y="2"/>
            <a:ext cx="13208000" cy="774243"/>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ja-JP" altLang="en-US" dirty="0">
              <a:solidFill>
                <a:schemeClr val="bg1"/>
              </a:solidFill>
            </a:endParaRPr>
          </a:p>
        </p:txBody>
      </p:sp>
      <p:cxnSp>
        <p:nvCxnSpPr>
          <p:cNvPr id="9" name="直線コネクタ 8"/>
          <p:cNvCxnSpPr/>
          <p:nvPr userDrawn="1"/>
        </p:nvCxnSpPr>
        <p:spPr>
          <a:xfrm>
            <a:off x="-51272" y="665532"/>
            <a:ext cx="13208000" cy="2292"/>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タイトル 1"/>
          <p:cNvSpPr>
            <a:spLocks noGrp="1"/>
          </p:cNvSpPr>
          <p:nvPr>
            <p:ph type="title" hasCustomPrompt="1"/>
          </p:nvPr>
        </p:nvSpPr>
        <p:spPr>
          <a:xfrm>
            <a:off x="155284" y="64458"/>
            <a:ext cx="13001444" cy="577099"/>
          </a:xfrm>
        </p:spPr>
        <p:txBody>
          <a:bodyPr/>
          <a:lstStyle>
            <a:lvl1pPr algn="l">
              <a:defRPr sz="2700">
                <a:solidFill>
                  <a:schemeClr val="bg1"/>
                </a:solidFill>
                <a:latin typeface="HGPｺﾞｼｯｸE" pitchFamily="50" charset="-128"/>
                <a:ea typeface="HGPｺﾞｼｯｸE" pitchFamily="50" charset="-128"/>
              </a:defRPr>
            </a:lvl1pPr>
          </a:lstStyle>
          <a:p>
            <a:r>
              <a:rPr lang="ja-JP" altLang="en-US" dirty="0"/>
              <a:t>マスタ タイトルの書式設定</a:t>
            </a:r>
          </a:p>
        </p:txBody>
      </p:sp>
      <p:sp>
        <p:nvSpPr>
          <p:cNvPr id="3" name="コンテンツ プレースホルダ 2"/>
          <p:cNvSpPr>
            <a:spLocks noGrp="1"/>
          </p:cNvSpPr>
          <p:nvPr>
            <p:ph idx="1" hasCustomPrompt="1"/>
          </p:nvPr>
        </p:nvSpPr>
        <p:spPr>
          <a:xfrm>
            <a:off x="363307" y="2108684"/>
            <a:ext cx="12481387" cy="6261472"/>
          </a:xfrm>
        </p:spPr>
        <p:txBody>
          <a:bodyPr/>
          <a:lstStyle>
            <a:lvl1pPr marL="0" indent="0">
              <a:lnSpc>
                <a:spcPct val="150000"/>
              </a:lnSpc>
              <a:buNone/>
              <a:defRPr sz="4400">
                <a:solidFill>
                  <a:schemeClr val="tx1">
                    <a:lumMod val="75000"/>
                    <a:lumOff val="25000"/>
                  </a:schemeClr>
                </a:solidFill>
                <a:latin typeface="HGPｺﾞｼｯｸE" pitchFamily="50" charset="-128"/>
                <a:ea typeface="HGPｺﾞｼｯｸE" pitchFamily="50" charset="-128"/>
              </a:defRPr>
            </a:lvl1pPr>
            <a:lvl2pPr>
              <a:defRPr>
                <a:solidFill>
                  <a:schemeClr val="tx1">
                    <a:lumMod val="75000"/>
                    <a:lumOff val="25000"/>
                  </a:schemeClr>
                </a:solidFill>
                <a:latin typeface="HGPｺﾞｼｯｸE" pitchFamily="50" charset="-128"/>
                <a:ea typeface="HGPｺﾞｼｯｸE" pitchFamily="50" charset="-128"/>
              </a:defRPr>
            </a:lvl2pPr>
            <a:lvl3pPr>
              <a:defRPr>
                <a:solidFill>
                  <a:schemeClr val="tx1">
                    <a:lumMod val="75000"/>
                    <a:lumOff val="25000"/>
                  </a:schemeClr>
                </a:solidFill>
                <a:latin typeface="HGPｺﾞｼｯｸE" pitchFamily="50" charset="-128"/>
                <a:ea typeface="HGPｺﾞｼｯｸE" pitchFamily="50" charset="-128"/>
              </a:defRPr>
            </a:lvl3pPr>
            <a:lvl4pPr>
              <a:defRPr>
                <a:solidFill>
                  <a:schemeClr val="tx1">
                    <a:lumMod val="75000"/>
                    <a:lumOff val="25000"/>
                  </a:schemeClr>
                </a:solidFill>
                <a:latin typeface="HGPｺﾞｼｯｸE" pitchFamily="50" charset="-128"/>
                <a:ea typeface="HGPｺﾞｼｯｸE" pitchFamily="50" charset="-128"/>
              </a:defRPr>
            </a:lvl4pPr>
            <a:lvl5pPr>
              <a:defRPr>
                <a:solidFill>
                  <a:schemeClr val="tx1">
                    <a:lumMod val="75000"/>
                    <a:lumOff val="25000"/>
                  </a:schemeClr>
                </a:solidFill>
                <a:latin typeface="HGPｺﾞｼｯｸE" pitchFamily="50" charset="-128"/>
                <a:ea typeface="HGPｺﾞｼｯｸE" pitchFamily="50" charset="-128"/>
              </a:defRPr>
            </a:lvl5pPr>
          </a:lstStyle>
          <a:p>
            <a:pPr lvl="0"/>
            <a:r>
              <a:rPr lang="ja-JP" altLang="en-US" dirty="0"/>
              <a:t>マスタ テキストの書式設定</a:t>
            </a:r>
          </a:p>
        </p:txBody>
      </p:sp>
      <p:sp>
        <p:nvSpPr>
          <p:cNvPr id="6" name="スライド番号プレースホルダー 5">
            <a:extLst>
              <a:ext uri="{FF2B5EF4-FFF2-40B4-BE49-F238E27FC236}">
                <a16:creationId xmlns:a16="http://schemas.microsoft.com/office/drawing/2014/main" id="{7207F841-B410-4A5D-B2EE-396052CF1ADB}"/>
              </a:ext>
            </a:extLst>
          </p:cNvPr>
          <p:cNvSpPr>
            <a:spLocks noGrp="1"/>
          </p:cNvSpPr>
          <p:nvPr>
            <p:ph type="sldNum" sz="quarter" idx="12"/>
          </p:nvPr>
        </p:nvSpPr>
        <p:spPr>
          <a:xfrm>
            <a:off x="10132086" y="9404489"/>
            <a:ext cx="3081867" cy="527403"/>
          </a:xfrm>
        </p:spPr>
        <p:txBody>
          <a:bodyPr/>
          <a:lstStyle>
            <a:lvl1pPr>
              <a:defRPr sz="2400">
                <a:solidFill>
                  <a:schemeClr val="bg1"/>
                </a:solidFill>
              </a:defRPr>
            </a:lvl1pPr>
          </a:lstStyle>
          <a:p>
            <a:pPr>
              <a:defRPr/>
            </a:pPr>
            <a:fld id="{6B43C332-1484-4553-8349-0303A35840A7}" type="slidenum">
              <a:rPr lang="ja-JP" altLang="en-US" smtClean="0"/>
              <a:pPr>
                <a:defRPr/>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1043341" y="6365523"/>
            <a:ext cx="11226800" cy="1967442"/>
          </a:xfrm>
        </p:spPr>
        <p:txBody>
          <a:bodyPr anchor="t"/>
          <a:lstStyle>
            <a:lvl1pPr algn="l">
              <a:defRPr sz="3000" b="1" cap="all"/>
            </a:lvl1pPr>
          </a:lstStyle>
          <a:p>
            <a:r>
              <a:rPr lang="ja-JP" altLang="en-US"/>
              <a:t>マスタ タイトルの書式設定</a:t>
            </a:r>
          </a:p>
        </p:txBody>
      </p:sp>
      <p:sp>
        <p:nvSpPr>
          <p:cNvPr id="3" name="テキスト プレースホルダ 2"/>
          <p:cNvSpPr>
            <a:spLocks noGrp="1"/>
          </p:cNvSpPr>
          <p:nvPr>
            <p:ph type="body" idx="1"/>
          </p:nvPr>
        </p:nvSpPr>
        <p:spPr>
          <a:xfrm>
            <a:off x="1043341" y="4198587"/>
            <a:ext cx="11226800" cy="216693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ja-JP" altLang="en-US"/>
              <a:t>マスタ テキストの書式設定</a:t>
            </a:r>
          </a:p>
        </p:txBody>
      </p:sp>
      <p:sp>
        <p:nvSpPr>
          <p:cNvPr id="4" name="日付プレースホルダ 3"/>
          <p:cNvSpPr>
            <a:spLocks noGrp="1"/>
          </p:cNvSpPr>
          <p:nvPr>
            <p:ph type="dt" sz="half" idx="10"/>
          </p:nvPr>
        </p:nvSpPr>
        <p:spPr/>
        <p:txBody>
          <a:bodyPr/>
          <a:lstStyle>
            <a:lvl1pPr>
              <a:defRPr/>
            </a:lvl1pPr>
          </a:lstStyle>
          <a:p>
            <a:pPr>
              <a:defRPr/>
            </a:pPr>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CB48A4C8-94C6-40DB-8C66-44ED9DA6EA4F}" type="slidenum">
              <a:rPr lang="ja-JP" altLang="en-US"/>
              <a:pPr>
                <a:defRPr/>
              </a:pPr>
              <a:t>‹#›</a:t>
            </a:fld>
            <a:endParaRPr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660400" y="2311401"/>
            <a:ext cx="5833533" cy="65375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714067" y="2311401"/>
            <a:ext cx="5833533" cy="653750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 3"/>
          <p:cNvSpPr>
            <a:spLocks noGrp="1"/>
          </p:cNvSpPr>
          <p:nvPr>
            <p:ph type="dt" sz="half" idx="10"/>
          </p:nvPr>
        </p:nvSpPr>
        <p:spPr/>
        <p:txBody>
          <a:bodyPr/>
          <a:lstStyle>
            <a:lvl1pPr>
              <a:defRPr/>
            </a:lvl1pPr>
          </a:lstStyle>
          <a:p>
            <a:pPr>
              <a:defRPr/>
            </a:pPr>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534934D0-D7B9-4A4D-8166-E094F57C8D08}" type="slidenum">
              <a:rPr lang="ja-JP" altLang="en-US"/>
              <a:pPr>
                <a:defRPr/>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660401" y="2217386"/>
            <a:ext cx="5835827" cy="924101"/>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660401" y="3141486"/>
            <a:ext cx="5835827" cy="570741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709482" y="2217386"/>
            <a:ext cx="5838119" cy="924101"/>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6709482" y="3141486"/>
            <a:ext cx="5838119" cy="570741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 3"/>
          <p:cNvSpPr>
            <a:spLocks noGrp="1"/>
          </p:cNvSpPr>
          <p:nvPr>
            <p:ph type="dt" sz="half" idx="10"/>
          </p:nvPr>
        </p:nvSpPr>
        <p:spPr/>
        <p:txBody>
          <a:bodyPr/>
          <a:lstStyle>
            <a:lvl1pPr>
              <a:defRPr/>
            </a:lvl1pPr>
          </a:lstStyle>
          <a:p>
            <a:pPr>
              <a:defRPr/>
            </a:pPr>
            <a:endParaRPr lang="ja-JP" altLang="en-US"/>
          </a:p>
        </p:txBody>
      </p:sp>
      <p:sp>
        <p:nvSpPr>
          <p:cNvPr id="8"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9" name="スライド番号プレースホルダ 5"/>
          <p:cNvSpPr>
            <a:spLocks noGrp="1"/>
          </p:cNvSpPr>
          <p:nvPr>
            <p:ph type="sldNum" sz="quarter" idx="12"/>
          </p:nvPr>
        </p:nvSpPr>
        <p:spPr/>
        <p:txBody>
          <a:bodyPr/>
          <a:lstStyle>
            <a:lvl1pPr>
              <a:defRPr/>
            </a:lvl1pPr>
          </a:lstStyle>
          <a:p>
            <a:pPr>
              <a:defRPr/>
            </a:pPr>
            <a:fld id="{ABE53DBD-C926-46E2-B3A3-887B9DD22474}" type="slidenum">
              <a:rPr lang="ja-JP" altLang="en-US"/>
              <a:pPr>
                <a:defRPr/>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日付プレースホルダ 3"/>
          <p:cNvSpPr>
            <a:spLocks noGrp="1"/>
          </p:cNvSpPr>
          <p:nvPr>
            <p:ph type="dt" sz="half" idx="10"/>
          </p:nvPr>
        </p:nvSpPr>
        <p:spPr/>
        <p:txBody>
          <a:bodyPr/>
          <a:lstStyle>
            <a:lvl1pPr>
              <a:defRPr/>
            </a:lvl1pPr>
          </a:lstStyle>
          <a:p>
            <a:pPr>
              <a:defRPr/>
            </a:pPr>
            <a:endParaRPr lang="ja-JP" altLang="en-US"/>
          </a:p>
        </p:txBody>
      </p:sp>
      <p:sp>
        <p:nvSpPr>
          <p:cNvPr id="4"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5" name="スライド番号プレースホルダ 5"/>
          <p:cNvSpPr>
            <a:spLocks noGrp="1"/>
          </p:cNvSpPr>
          <p:nvPr>
            <p:ph type="sldNum" sz="quarter" idx="12"/>
          </p:nvPr>
        </p:nvSpPr>
        <p:spPr/>
        <p:txBody>
          <a:bodyPr/>
          <a:lstStyle>
            <a:lvl1pPr>
              <a:defRPr/>
            </a:lvl1pPr>
          </a:lstStyle>
          <a:p>
            <a:pPr>
              <a:defRPr/>
            </a:pPr>
            <a:fld id="{AF6295C4-3145-4639-9400-AA357FEB92C4}" type="slidenum">
              <a:rPr lang="ja-JP" altLang="en-US"/>
              <a:pPr>
                <a:defRPr/>
              </a:pPr>
              <a:t>‹#›</a:t>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a:defRPr/>
            </a:pPr>
            <a:endParaRPr lang="ja-JP" altLang="en-US"/>
          </a:p>
        </p:txBody>
      </p:sp>
      <p:sp>
        <p:nvSpPr>
          <p:cNvPr id="3"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4" name="スライド番号プレースホルダ 5"/>
          <p:cNvSpPr>
            <a:spLocks noGrp="1"/>
          </p:cNvSpPr>
          <p:nvPr>
            <p:ph type="sldNum" sz="quarter" idx="12"/>
          </p:nvPr>
        </p:nvSpPr>
        <p:spPr/>
        <p:txBody>
          <a:bodyPr/>
          <a:lstStyle>
            <a:lvl1pPr>
              <a:defRPr/>
            </a:lvl1pPr>
          </a:lstStyle>
          <a:p>
            <a:pPr>
              <a:defRPr/>
            </a:pPr>
            <a:fld id="{41965110-D2D0-40A5-B697-37A9CD155CCE}" type="slidenum">
              <a:rPr lang="ja-JP" altLang="en-US"/>
              <a:pPr>
                <a:defRPr/>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60401" y="394406"/>
            <a:ext cx="4345341" cy="1678517"/>
          </a:xfrm>
        </p:spPr>
        <p:txBody>
          <a:bodyPr anchor="b"/>
          <a:lstStyle>
            <a:lvl1pPr algn="l">
              <a:defRPr sz="1500" b="1"/>
            </a:lvl1pPr>
          </a:lstStyle>
          <a:p>
            <a:r>
              <a:rPr lang="ja-JP" altLang="en-US"/>
              <a:t>マスタ タイトルの書式設定</a:t>
            </a:r>
          </a:p>
        </p:txBody>
      </p:sp>
      <p:sp>
        <p:nvSpPr>
          <p:cNvPr id="3" name="コンテンツ プレースホルダ 2"/>
          <p:cNvSpPr>
            <a:spLocks noGrp="1"/>
          </p:cNvSpPr>
          <p:nvPr>
            <p:ph idx="1"/>
          </p:nvPr>
        </p:nvSpPr>
        <p:spPr>
          <a:xfrm>
            <a:off x="5163961" y="394407"/>
            <a:ext cx="7383640" cy="845449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60401" y="2072923"/>
            <a:ext cx="4345341" cy="6775980"/>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ja-JP" altLang="en-US"/>
              <a:t>マスタ テキストの書式設定</a:t>
            </a:r>
          </a:p>
        </p:txBody>
      </p:sp>
      <p:sp>
        <p:nvSpPr>
          <p:cNvPr id="5" name="日付プレースホルダ 3"/>
          <p:cNvSpPr>
            <a:spLocks noGrp="1"/>
          </p:cNvSpPr>
          <p:nvPr>
            <p:ph type="dt" sz="half" idx="10"/>
          </p:nvPr>
        </p:nvSpPr>
        <p:spPr/>
        <p:txBody>
          <a:bodyPr/>
          <a:lstStyle>
            <a:lvl1pPr>
              <a:defRPr/>
            </a:lvl1pPr>
          </a:lstStyle>
          <a:p>
            <a:pPr>
              <a:defRPr/>
            </a:pPr>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CCC82690-CBA5-4333-8497-E5F06276D537}" type="slidenum">
              <a:rPr lang="ja-JP" altLang="en-US"/>
              <a:pPr>
                <a:defRPr/>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588860" y="6934200"/>
            <a:ext cx="7924800" cy="818622"/>
          </a:xfrm>
        </p:spPr>
        <p:txBody>
          <a:bodyPr anchor="b"/>
          <a:lstStyle>
            <a:lvl1pPr algn="l">
              <a:defRPr sz="1500" b="1"/>
            </a:lvl1pPr>
          </a:lstStyle>
          <a:p>
            <a:r>
              <a:rPr lang="ja-JP" altLang="en-US"/>
              <a:t>マスタ タイトルの書式設定</a:t>
            </a:r>
          </a:p>
        </p:txBody>
      </p:sp>
      <p:sp>
        <p:nvSpPr>
          <p:cNvPr id="3" name="図プレースホルダ 2"/>
          <p:cNvSpPr>
            <a:spLocks noGrp="1"/>
          </p:cNvSpPr>
          <p:nvPr>
            <p:ph type="pic" idx="1"/>
          </p:nvPr>
        </p:nvSpPr>
        <p:spPr>
          <a:xfrm>
            <a:off x="2588860" y="885119"/>
            <a:ext cx="7924800" cy="59436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ja-JP" altLang="en-US" noProof="0"/>
          </a:p>
        </p:txBody>
      </p:sp>
      <p:sp>
        <p:nvSpPr>
          <p:cNvPr id="4" name="テキスト プレースホルダ 3"/>
          <p:cNvSpPr>
            <a:spLocks noGrp="1"/>
          </p:cNvSpPr>
          <p:nvPr>
            <p:ph type="body" sz="half" idx="2"/>
          </p:nvPr>
        </p:nvSpPr>
        <p:spPr>
          <a:xfrm>
            <a:off x="2588860" y="7752822"/>
            <a:ext cx="7924800" cy="1162578"/>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ja-JP" altLang="en-US"/>
              <a:t>マスタ テキストの書式設定</a:t>
            </a:r>
          </a:p>
        </p:txBody>
      </p:sp>
      <p:sp>
        <p:nvSpPr>
          <p:cNvPr id="5" name="日付プレースホルダ 3"/>
          <p:cNvSpPr>
            <a:spLocks noGrp="1"/>
          </p:cNvSpPr>
          <p:nvPr>
            <p:ph type="dt" sz="half" idx="10"/>
          </p:nvPr>
        </p:nvSpPr>
        <p:spPr/>
        <p:txBody>
          <a:bodyPr/>
          <a:lstStyle>
            <a:lvl1pPr>
              <a:defRPr/>
            </a:lvl1pPr>
          </a:lstStyle>
          <a:p>
            <a:pPr>
              <a:defRPr/>
            </a:pPr>
            <a:endParaRPr lang="ja-JP" altLang="en-US"/>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C0FCC426-B9F8-4AA6-8394-06AAEE0A21DB}" type="slidenum">
              <a:rPr lang="ja-JP" altLang="en-US"/>
              <a:pPr>
                <a:defRPr/>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D41299FE-F4D0-4A37-95BF-4E1A61EBCD96}" type="slidenum">
              <a:rPr lang="ja-JP" altLang="en-US"/>
              <a:pPr>
                <a:defRPr/>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9575800" y="396701"/>
            <a:ext cx="2971800" cy="8452203"/>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660400" y="396701"/>
            <a:ext cx="8695267" cy="8452203"/>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endParaRPr lang="ja-JP" altLang="en-US"/>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B8EBD778-85D4-416B-95E4-AE14863E20D8}" type="slidenum">
              <a:rPr lang="ja-JP" altLang="en-US"/>
              <a:pPr>
                <a:defRPr/>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タイトル プレースホルダ 1"/>
          <p:cNvSpPr>
            <a:spLocks noGrp="1"/>
          </p:cNvSpPr>
          <p:nvPr>
            <p:ph type="title"/>
          </p:nvPr>
        </p:nvSpPr>
        <p:spPr bwMode="auto">
          <a:xfrm>
            <a:off x="660400" y="396699"/>
            <a:ext cx="11887200" cy="1651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テキスト プレースホルダ 2"/>
          <p:cNvSpPr>
            <a:spLocks noGrp="1"/>
          </p:cNvSpPr>
          <p:nvPr>
            <p:ph type="body" idx="1"/>
          </p:nvPr>
        </p:nvSpPr>
        <p:spPr bwMode="auto">
          <a:xfrm>
            <a:off x="660400" y="2311401"/>
            <a:ext cx="11887200" cy="653750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2"/>
          </p:nvPr>
        </p:nvSpPr>
        <p:spPr>
          <a:xfrm>
            <a:off x="660400" y="9181396"/>
            <a:ext cx="3081867" cy="527403"/>
          </a:xfrm>
          <a:prstGeom prst="rect">
            <a:avLst/>
          </a:prstGeom>
        </p:spPr>
        <p:txBody>
          <a:bodyPr vert="horz" lIns="91440" tIns="45720" rIns="91440" bIns="45720" rtlCol="0" anchor="ctr"/>
          <a:lstStyle>
            <a:lvl1pPr algn="l" fontAlgn="auto">
              <a:spcBef>
                <a:spcPts val="0"/>
              </a:spcBef>
              <a:spcAft>
                <a:spcPts val="0"/>
              </a:spcAft>
              <a:defRPr sz="900">
                <a:solidFill>
                  <a:schemeClr val="tx1">
                    <a:tint val="75000"/>
                  </a:schemeClr>
                </a:solidFill>
                <a:latin typeface="+mn-lt"/>
                <a:ea typeface="+mn-ea"/>
              </a:defRPr>
            </a:lvl1pPr>
          </a:lstStyle>
          <a:p>
            <a:pPr>
              <a:defRPr/>
            </a:pPr>
            <a:endParaRPr lang="ja-JP" altLang="en-US"/>
          </a:p>
        </p:txBody>
      </p:sp>
      <p:sp>
        <p:nvSpPr>
          <p:cNvPr id="5" name="フッター プレースホルダ 4"/>
          <p:cNvSpPr>
            <a:spLocks noGrp="1"/>
          </p:cNvSpPr>
          <p:nvPr>
            <p:ph type="ftr" sz="quarter" idx="3"/>
          </p:nvPr>
        </p:nvSpPr>
        <p:spPr>
          <a:xfrm>
            <a:off x="4512734" y="9181396"/>
            <a:ext cx="4182533" cy="527403"/>
          </a:xfrm>
          <a:prstGeom prst="rect">
            <a:avLst/>
          </a:prstGeom>
        </p:spPr>
        <p:txBody>
          <a:bodyPr vert="horz" lIns="91440" tIns="45720" rIns="91440" bIns="45720" rtlCol="0" anchor="ctr"/>
          <a:lstStyle>
            <a:lvl1pPr algn="ctr" fontAlgn="auto">
              <a:spcBef>
                <a:spcPts val="0"/>
              </a:spcBef>
              <a:spcAft>
                <a:spcPts val="0"/>
              </a:spcAft>
              <a:defRPr sz="900">
                <a:solidFill>
                  <a:schemeClr val="tx1">
                    <a:tint val="75000"/>
                  </a:schemeClr>
                </a:solidFill>
                <a:latin typeface="+mn-lt"/>
                <a:ea typeface="+mn-ea"/>
              </a:defRPr>
            </a:lvl1pPr>
          </a:lstStyle>
          <a:p>
            <a:pPr>
              <a:defRPr/>
            </a:pPr>
            <a:endParaRPr lang="ja-JP" altLang="en-US"/>
          </a:p>
        </p:txBody>
      </p:sp>
      <p:sp>
        <p:nvSpPr>
          <p:cNvPr id="6" name="スライド番号プレースホルダ 5"/>
          <p:cNvSpPr>
            <a:spLocks noGrp="1"/>
          </p:cNvSpPr>
          <p:nvPr>
            <p:ph type="sldNum" sz="quarter" idx="4"/>
          </p:nvPr>
        </p:nvSpPr>
        <p:spPr>
          <a:xfrm>
            <a:off x="9465733" y="9181396"/>
            <a:ext cx="3081867" cy="527403"/>
          </a:xfrm>
          <a:prstGeom prst="rect">
            <a:avLst/>
          </a:prstGeom>
        </p:spPr>
        <p:txBody>
          <a:bodyPr vert="horz" lIns="91440" tIns="45720" rIns="91440" bIns="45720" rtlCol="0" anchor="ctr"/>
          <a:lstStyle>
            <a:lvl1pPr algn="r" fontAlgn="auto">
              <a:spcBef>
                <a:spcPts val="0"/>
              </a:spcBef>
              <a:spcAft>
                <a:spcPts val="0"/>
              </a:spcAft>
              <a:defRPr sz="900">
                <a:solidFill>
                  <a:schemeClr val="tx1">
                    <a:tint val="75000"/>
                  </a:schemeClr>
                </a:solidFill>
                <a:latin typeface="+mn-lt"/>
                <a:ea typeface="+mn-ea"/>
              </a:defRPr>
            </a:lvl1pPr>
          </a:lstStyle>
          <a:p>
            <a:pPr>
              <a:defRPr/>
            </a:pPr>
            <a:fld id="{6B43C332-1484-4553-8349-0303A35840A7}" type="slidenum">
              <a:rPr lang="ja-JP" altLang="en-US"/>
              <a:pPr>
                <a:defRPr/>
              </a:pPr>
              <a:t>‹#›</a:t>
            </a:fld>
            <a:endParaRPr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kumimoji="1" sz="3300" kern="1200">
          <a:solidFill>
            <a:schemeClr val="tx1"/>
          </a:solidFill>
          <a:latin typeface="+mj-lt"/>
          <a:ea typeface="+mj-ea"/>
          <a:cs typeface="+mj-cs"/>
        </a:defRPr>
      </a:lvl1pPr>
      <a:lvl2pPr algn="ctr" rtl="0" eaLnBrk="0" fontAlgn="base" hangingPunct="0">
        <a:spcBef>
          <a:spcPct val="0"/>
        </a:spcBef>
        <a:spcAft>
          <a:spcPct val="0"/>
        </a:spcAft>
        <a:defRPr kumimoji="1" sz="3300">
          <a:solidFill>
            <a:schemeClr val="tx1"/>
          </a:solidFill>
          <a:latin typeface="Calibri" pitchFamily="34" charset="0"/>
          <a:ea typeface="ＭＳ Ｐゴシック" pitchFamily="50" charset="-128"/>
        </a:defRPr>
      </a:lvl2pPr>
      <a:lvl3pPr algn="ctr" rtl="0" eaLnBrk="0" fontAlgn="base" hangingPunct="0">
        <a:spcBef>
          <a:spcPct val="0"/>
        </a:spcBef>
        <a:spcAft>
          <a:spcPct val="0"/>
        </a:spcAft>
        <a:defRPr kumimoji="1" sz="3300">
          <a:solidFill>
            <a:schemeClr val="tx1"/>
          </a:solidFill>
          <a:latin typeface="Calibri" pitchFamily="34" charset="0"/>
          <a:ea typeface="ＭＳ Ｐゴシック" pitchFamily="50" charset="-128"/>
        </a:defRPr>
      </a:lvl3pPr>
      <a:lvl4pPr algn="ctr" rtl="0" eaLnBrk="0" fontAlgn="base" hangingPunct="0">
        <a:spcBef>
          <a:spcPct val="0"/>
        </a:spcBef>
        <a:spcAft>
          <a:spcPct val="0"/>
        </a:spcAft>
        <a:defRPr kumimoji="1" sz="3300">
          <a:solidFill>
            <a:schemeClr val="tx1"/>
          </a:solidFill>
          <a:latin typeface="Calibri" pitchFamily="34" charset="0"/>
          <a:ea typeface="ＭＳ Ｐゴシック" pitchFamily="50" charset="-128"/>
        </a:defRPr>
      </a:lvl4pPr>
      <a:lvl5pPr algn="ctr" rtl="0" eaLnBrk="0" fontAlgn="base" hangingPunct="0">
        <a:spcBef>
          <a:spcPct val="0"/>
        </a:spcBef>
        <a:spcAft>
          <a:spcPct val="0"/>
        </a:spcAft>
        <a:defRPr kumimoji="1" sz="3300">
          <a:solidFill>
            <a:schemeClr val="tx1"/>
          </a:solidFill>
          <a:latin typeface="Calibri" pitchFamily="34" charset="0"/>
          <a:ea typeface="ＭＳ Ｐゴシック" pitchFamily="50" charset="-128"/>
        </a:defRPr>
      </a:lvl5pPr>
      <a:lvl6pPr marL="342900" algn="ctr" rtl="0" fontAlgn="base">
        <a:spcBef>
          <a:spcPct val="0"/>
        </a:spcBef>
        <a:spcAft>
          <a:spcPct val="0"/>
        </a:spcAft>
        <a:defRPr kumimoji="1" sz="3300">
          <a:solidFill>
            <a:schemeClr val="tx1"/>
          </a:solidFill>
          <a:latin typeface="Calibri" pitchFamily="34" charset="0"/>
          <a:ea typeface="ＭＳ Ｐゴシック" pitchFamily="50" charset="-128"/>
        </a:defRPr>
      </a:lvl6pPr>
      <a:lvl7pPr marL="685800" algn="ctr" rtl="0" fontAlgn="base">
        <a:spcBef>
          <a:spcPct val="0"/>
        </a:spcBef>
        <a:spcAft>
          <a:spcPct val="0"/>
        </a:spcAft>
        <a:defRPr kumimoji="1" sz="3300">
          <a:solidFill>
            <a:schemeClr val="tx1"/>
          </a:solidFill>
          <a:latin typeface="Calibri" pitchFamily="34" charset="0"/>
          <a:ea typeface="ＭＳ Ｐゴシック" pitchFamily="50" charset="-128"/>
        </a:defRPr>
      </a:lvl7pPr>
      <a:lvl8pPr marL="1028700" algn="ctr" rtl="0" fontAlgn="base">
        <a:spcBef>
          <a:spcPct val="0"/>
        </a:spcBef>
        <a:spcAft>
          <a:spcPct val="0"/>
        </a:spcAft>
        <a:defRPr kumimoji="1" sz="3300">
          <a:solidFill>
            <a:schemeClr val="tx1"/>
          </a:solidFill>
          <a:latin typeface="Calibri" pitchFamily="34" charset="0"/>
          <a:ea typeface="ＭＳ Ｐゴシック" pitchFamily="50" charset="-128"/>
        </a:defRPr>
      </a:lvl8pPr>
      <a:lvl9pPr marL="1371600" algn="ctr" rtl="0" fontAlgn="base">
        <a:spcBef>
          <a:spcPct val="0"/>
        </a:spcBef>
        <a:spcAft>
          <a:spcPct val="0"/>
        </a:spcAft>
        <a:defRPr kumimoji="1" sz="3300">
          <a:solidFill>
            <a:schemeClr val="tx1"/>
          </a:solidFill>
          <a:latin typeface="Calibri" pitchFamily="34" charset="0"/>
          <a:ea typeface="ＭＳ Ｐゴシック" pitchFamily="50" charset="-128"/>
        </a:defRPr>
      </a:lvl9pPr>
    </p:titleStyle>
    <p:bodyStyle>
      <a:lvl1pPr marL="257175" indent="-257175" algn="l" rtl="0" eaLnBrk="0" fontAlgn="base" hangingPunct="0">
        <a:spcBef>
          <a:spcPct val="20000"/>
        </a:spcBef>
        <a:spcAft>
          <a:spcPct val="0"/>
        </a:spcAft>
        <a:buFont typeface="Arial" charset="0"/>
        <a:buChar char="•"/>
        <a:defRPr kumimoji="1"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charset="0"/>
        <a:buChar char="–"/>
        <a:defRPr kumimoji="1"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charset="0"/>
        <a:buChar char="•"/>
        <a:defRPr kumimoji="1" sz="1800"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charset="0"/>
        <a:buChar char="–"/>
        <a:defRPr kumimoji="1"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charset="0"/>
        <a:buChar char="»"/>
        <a:defRPr kumimoji="1"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sandonoyaku.com/?pid=151571063" TargetMode="External"/><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hyperlink" Target="https://www.sandonoyaku.com/?pid=151571063" TargetMode="External"/><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hyperlink" Target="https://www.sandonoyaku.com/?pid=151571063" TargetMode="External"/><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hyperlink" Target="https://flights-ag.com/herbicide/102/%EF%BC%882025%E5%B9%B46%E6%9C%883%E6%97%A5%E9%96%B2%E8%A6%A7%EF%BC%89%E3%80%82" TargetMode="External"/><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flights-ag.com/herbicide/102/%EF%BC%882025%E5%B9%B46%E6%9C%883%E6%97%A5%E9%96%B2%E8%A6%A7%EF%BC%89%E3%80%82"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wmf"/><Relationship Id="rId11" Type="http://schemas.openxmlformats.org/officeDocument/2006/relationships/image" Target="../media/image31.wmf"/><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wmf"/></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コンテンツ プレースホルダ 2">
            <a:extLst>
              <a:ext uri="{FF2B5EF4-FFF2-40B4-BE49-F238E27FC236}">
                <a16:creationId xmlns:a16="http://schemas.microsoft.com/office/drawing/2014/main" id="{6818DE76-0B42-4BCF-87CD-18645D9F5533}"/>
              </a:ext>
            </a:extLst>
          </p:cNvPr>
          <p:cNvSpPr>
            <a:spLocks noGrp="1"/>
          </p:cNvSpPr>
          <p:nvPr>
            <p:ph idx="1"/>
          </p:nvPr>
        </p:nvSpPr>
        <p:spPr>
          <a:xfrm>
            <a:off x="195288" y="1217024"/>
            <a:ext cx="6858000" cy="735231"/>
          </a:xfrm>
        </p:spPr>
        <p:txBody>
          <a:bodyPr rtlCol="0">
            <a:normAutofit fontScale="92500"/>
          </a:bodyPr>
          <a:lstStyle/>
          <a:p>
            <a:pPr eaLnBrk="1" fontAlgn="auto" hangingPunct="1">
              <a:lnSpc>
                <a:spcPts val="4500"/>
              </a:lnSpc>
              <a:spcAft>
                <a:spcPts val="0"/>
              </a:spcAft>
              <a:defRPr/>
            </a:pPr>
            <a:r>
              <a:rPr lang="ja-JP" altLang="en-US" sz="3200" dirty="0"/>
              <a:t>獨協医科大学　医学部　４学年　法医学</a:t>
            </a:r>
            <a:endParaRPr lang="en-US" altLang="ja-JP" sz="3200" dirty="0"/>
          </a:p>
        </p:txBody>
      </p:sp>
      <p:sp>
        <p:nvSpPr>
          <p:cNvPr id="12" name="テキスト ボックス 5">
            <a:extLst>
              <a:ext uri="{FF2B5EF4-FFF2-40B4-BE49-F238E27FC236}">
                <a16:creationId xmlns:a16="http://schemas.microsoft.com/office/drawing/2014/main" id="{E1027594-22B7-4E08-AF45-0FB93B725D85}"/>
              </a:ext>
            </a:extLst>
          </p:cNvPr>
          <p:cNvSpPr txBox="1">
            <a:spLocks noChangeArrowheads="1"/>
          </p:cNvSpPr>
          <p:nvPr/>
        </p:nvSpPr>
        <p:spPr bwMode="auto">
          <a:xfrm>
            <a:off x="0" y="76934"/>
            <a:ext cx="6536531" cy="553998"/>
          </a:xfrm>
          <a:prstGeom prst="rect">
            <a:avLst/>
          </a:prstGeom>
          <a:noFill/>
          <a:ln w="9525">
            <a:noFill/>
            <a:miter lim="800000"/>
            <a:headEnd/>
            <a:tailEnd/>
          </a:ln>
        </p:spPr>
        <p:txBody>
          <a:bodyPr>
            <a:spAutoFit/>
          </a:bodyPr>
          <a:lstStyle/>
          <a:p>
            <a:r>
              <a:rPr lang="en-US" altLang="ja-JP" sz="1500" dirty="0">
                <a:solidFill>
                  <a:schemeClr val="bg1"/>
                </a:solidFill>
                <a:latin typeface="HGS創英角ｺﾞｼｯｸUB" pitchFamily="50" charset="-128"/>
                <a:ea typeface="HGS創英角ｺﾞｼｯｸUB" pitchFamily="50" charset="-128"/>
                <a:cs typeface="Arial" charset="0"/>
              </a:rPr>
              <a:t>Juntendo University</a:t>
            </a:r>
            <a:r>
              <a:rPr lang="ja-JP" altLang="en-US" sz="1500" dirty="0">
                <a:solidFill>
                  <a:schemeClr val="bg1"/>
                </a:solidFill>
                <a:latin typeface="HGS創英角ｺﾞｼｯｸUB" pitchFamily="50" charset="-128"/>
                <a:ea typeface="HGS創英角ｺﾞｼｯｸUB" pitchFamily="50" charset="-128"/>
                <a:cs typeface="Arial" charset="0"/>
              </a:rPr>
              <a:t> </a:t>
            </a:r>
            <a:r>
              <a:rPr lang="en-US" altLang="ja-JP" sz="1500" dirty="0">
                <a:solidFill>
                  <a:schemeClr val="bg1"/>
                </a:solidFill>
                <a:latin typeface="HGS創英角ｺﾞｼｯｸUB" pitchFamily="50" charset="-128"/>
                <a:ea typeface="HGS創英角ｺﾞｼｯｸUB" pitchFamily="50" charset="-128"/>
                <a:cs typeface="Arial" charset="0"/>
              </a:rPr>
              <a:t>Faculty of Medicine</a:t>
            </a:r>
          </a:p>
          <a:p>
            <a:r>
              <a:rPr lang="en-US" altLang="ja-JP" sz="1500" dirty="0">
                <a:solidFill>
                  <a:schemeClr val="bg1"/>
                </a:solidFill>
                <a:latin typeface="HGS創英角ｺﾞｼｯｸUB" pitchFamily="50" charset="-128"/>
                <a:ea typeface="HGS創英角ｺﾞｼｯｸUB" pitchFamily="50" charset="-128"/>
                <a:cs typeface="Arial" charset="0"/>
              </a:rPr>
              <a:t>Department of Forensic Medicine</a:t>
            </a:r>
            <a:endParaRPr lang="ja-JP" altLang="en-US" sz="1500" dirty="0">
              <a:solidFill>
                <a:schemeClr val="bg1"/>
              </a:solidFill>
              <a:latin typeface="HGS創英角ｺﾞｼｯｸUB" pitchFamily="50" charset="-128"/>
              <a:ea typeface="HGS創英角ｺﾞｼｯｸUB" pitchFamily="50" charset="-128"/>
              <a:cs typeface="Arial" charset="0"/>
            </a:endParaRPr>
          </a:p>
        </p:txBody>
      </p:sp>
      <p:sp>
        <p:nvSpPr>
          <p:cNvPr id="13" name="正方形/長方形 12">
            <a:extLst>
              <a:ext uri="{FF2B5EF4-FFF2-40B4-BE49-F238E27FC236}">
                <a16:creationId xmlns:a16="http://schemas.microsoft.com/office/drawing/2014/main" id="{C5B9BC63-DF46-4F77-B1AA-A6C483559C71}"/>
              </a:ext>
            </a:extLst>
          </p:cNvPr>
          <p:cNvSpPr/>
          <p:nvPr/>
        </p:nvSpPr>
        <p:spPr>
          <a:xfrm>
            <a:off x="921932" y="4749745"/>
            <a:ext cx="10508005" cy="773994"/>
          </a:xfrm>
          <a:prstGeom prst="rect">
            <a:avLst/>
          </a:prstGeom>
        </p:spPr>
        <p:txBody>
          <a:bodyPr wrap="none">
            <a:spAutoFit/>
          </a:bodyPr>
          <a:lstStyle/>
          <a:p>
            <a:pPr fontAlgn="auto">
              <a:lnSpc>
                <a:spcPts val="4500"/>
              </a:lnSpc>
              <a:spcAft>
                <a:spcPts val="0"/>
              </a:spcAft>
              <a:defRPr/>
            </a:pPr>
            <a:r>
              <a:rPr lang="ja-JP" altLang="en-US" sz="11500" dirty="0">
                <a:solidFill>
                  <a:schemeClr val="accent1">
                    <a:lumMod val="50000"/>
                  </a:schemeClr>
                </a:solidFill>
                <a:latin typeface="HGPｺﾞｼｯｸE" pitchFamily="50" charset="-128"/>
                <a:ea typeface="HGPｺﾞｼｯｸE" pitchFamily="50" charset="-128"/>
              </a:rPr>
              <a:t>実習（薬物分析）</a:t>
            </a:r>
            <a:endParaRPr lang="ja-JP" altLang="en-US" sz="8800" dirty="0">
              <a:solidFill>
                <a:schemeClr val="tx1">
                  <a:lumMod val="75000"/>
                  <a:lumOff val="25000"/>
                </a:schemeClr>
              </a:solidFill>
              <a:latin typeface="HGPｺﾞｼｯｸE" pitchFamily="50" charset="-128"/>
              <a:ea typeface="HGPｺﾞｼｯｸE" pitchFamily="50" charset="-128"/>
            </a:endParaRPr>
          </a:p>
        </p:txBody>
      </p:sp>
      <p:sp>
        <p:nvSpPr>
          <p:cNvPr id="14" name="正方形/長方形 13">
            <a:extLst>
              <a:ext uri="{FF2B5EF4-FFF2-40B4-BE49-F238E27FC236}">
                <a16:creationId xmlns:a16="http://schemas.microsoft.com/office/drawing/2014/main" id="{9A3127D0-9FF3-4B2E-9680-B3833B847B90}"/>
              </a:ext>
            </a:extLst>
          </p:cNvPr>
          <p:cNvSpPr/>
          <p:nvPr/>
        </p:nvSpPr>
        <p:spPr>
          <a:xfrm>
            <a:off x="1001358" y="2432720"/>
            <a:ext cx="2262158" cy="669414"/>
          </a:xfrm>
          <a:prstGeom prst="rect">
            <a:avLst/>
          </a:prstGeom>
        </p:spPr>
        <p:txBody>
          <a:bodyPr wrap="none">
            <a:spAutoFit/>
          </a:bodyPr>
          <a:lstStyle/>
          <a:p>
            <a:pPr fontAlgn="auto">
              <a:lnSpc>
                <a:spcPts val="4500"/>
              </a:lnSpc>
              <a:spcAft>
                <a:spcPts val="0"/>
              </a:spcAft>
              <a:defRPr/>
            </a:pPr>
            <a:r>
              <a:rPr lang="ja-JP" altLang="en-US" sz="5400" dirty="0">
                <a:solidFill>
                  <a:schemeClr val="tx1">
                    <a:lumMod val="75000"/>
                    <a:lumOff val="25000"/>
                  </a:schemeClr>
                </a:solidFill>
                <a:latin typeface="+mn-ea"/>
                <a:ea typeface="+mn-ea"/>
              </a:rPr>
              <a:t>法医学</a:t>
            </a:r>
            <a:endParaRPr lang="en-US" altLang="ja-JP" sz="5400" dirty="0">
              <a:solidFill>
                <a:schemeClr val="tx1">
                  <a:lumMod val="75000"/>
                  <a:lumOff val="25000"/>
                </a:schemeClr>
              </a:solidFill>
              <a:latin typeface="+mn-ea"/>
              <a:ea typeface="+mn-ea"/>
            </a:endParaRPr>
          </a:p>
        </p:txBody>
      </p:sp>
      <p:sp>
        <p:nvSpPr>
          <p:cNvPr id="17" name="テキスト ボックス 16">
            <a:extLst>
              <a:ext uri="{FF2B5EF4-FFF2-40B4-BE49-F238E27FC236}">
                <a16:creationId xmlns:a16="http://schemas.microsoft.com/office/drawing/2014/main" id="{1FC483F1-FD76-4EB0-BC34-734AE4611716}"/>
              </a:ext>
            </a:extLst>
          </p:cNvPr>
          <p:cNvSpPr txBox="1"/>
          <p:nvPr/>
        </p:nvSpPr>
        <p:spPr>
          <a:xfrm>
            <a:off x="5504556" y="7444066"/>
            <a:ext cx="7308812" cy="1754326"/>
          </a:xfrm>
          <a:prstGeom prst="rect">
            <a:avLst/>
          </a:prstGeom>
          <a:noFill/>
        </p:spPr>
        <p:txBody>
          <a:bodyPr wrap="square" rtlCol="0">
            <a:spAutoFit/>
          </a:bodyPr>
          <a:lstStyle/>
          <a:p>
            <a:pPr algn="r"/>
            <a:r>
              <a:rPr kumimoji="1" lang="ja-JP" altLang="en-US" sz="3600">
                <a:solidFill>
                  <a:schemeClr val="tx1">
                    <a:lumMod val="75000"/>
                    <a:lumOff val="25000"/>
                  </a:schemeClr>
                </a:solidFill>
                <a:latin typeface="HGPｺﾞｼｯｸE" panose="020B0900000000000000" pitchFamily="50" charset="-128"/>
                <a:ea typeface="HGPｺﾞｼｯｸE" panose="020B0900000000000000" pitchFamily="50" charset="-128"/>
              </a:rPr>
              <a:t>順天堂大学　薬学部　　衛生化学</a:t>
            </a:r>
            <a:endParaRPr kumimoji="1" lang="en-US" altLang="ja-JP" sz="3600">
              <a:solidFill>
                <a:schemeClr val="tx1">
                  <a:lumMod val="75000"/>
                  <a:lumOff val="25000"/>
                </a:schemeClr>
              </a:solidFill>
              <a:latin typeface="HGPｺﾞｼｯｸE" panose="020B0900000000000000" pitchFamily="50" charset="-128"/>
              <a:ea typeface="HGPｺﾞｼｯｸE" panose="020B0900000000000000" pitchFamily="50" charset="-128"/>
            </a:endParaRPr>
          </a:p>
          <a:p>
            <a:pPr algn="r"/>
            <a:r>
              <a:rPr kumimoji="1" lang="ja-JP" altLang="en-US" sz="3600">
                <a:solidFill>
                  <a:schemeClr val="tx1">
                    <a:lumMod val="75000"/>
                    <a:lumOff val="25000"/>
                  </a:schemeClr>
                </a:solidFill>
                <a:latin typeface="HGPｺﾞｼｯｸE" panose="020B0900000000000000" pitchFamily="50" charset="-128"/>
                <a:ea typeface="HGPｺﾞｼｯｸE" panose="020B0900000000000000" pitchFamily="50" charset="-128"/>
              </a:rPr>
              <a:t>　　医学部　法医学　</a:t>
            </a:r>
            <a:endParaRPr kumimoji="1" lang="en-US" altLang="ja-JP" sz="36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pPr algn="r"/>
            <a:r>
              <a:rPr kumimoji="1" lang="ja-JP" altLang="en-US" sz="3600" dirty="0">
                <a:solidFill>
                  <a:schemeClr val="tx1">
                    <a:lumMod val="75000"/>
                    <a:lumOff val="25000"/>
                  </a:schemeClr>
                </a:solidFill>
                <a:latin typeface="HGPｺﾞｼｯｸE" panose="020B0900000000000000" pitchFamily="50" charset="-128"/>
                <a:ea typeface="HGPｺﾞｼｯｸE" panose="020B0900000000000000" pitchFamily="50" charset="-128"/>
              </a:rPr>
              <a:t>松川岳久</a:t>
            </a:r>
            <a:endParaRPr kumimoji="1" lang="en-US" altLang="ja-JP" sz="36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pic>
        <p:nvPicPr>
          <p:cNvPr id="19" name="グラフィックス 18" descr="薬 単色塗りつぶし">
            <a:extLst>
              <a:ext uri="{FF2B5EF4-FFF2-40B4-BE49-F238E27FC236}">
                <a16:creationId xmlns:a16="http://schemas.microsoft.com/office/drawing/2014/main" id="{D46738AA-95DB-4A72-8D13-1523CC44977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07456" y="6429164"/>
            <a:ext cx="2341584" cy="23415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C558E3-059C-4177-9BF9-118F696DF6A8}"/>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DB79F9C8-514A-4DDA-897C-9C515F4AD96F}"/>
              </a:ext>
            </a:extLst>
          </p:cNvPr>
          <p:cNvSpPr>
            <a:spLocks noGrp="1"/>
          </p:cNvSpPr>
          <p:nvPr>
            <p:ph idx="1"/>
          </p:nvPr>
        </p:nvSpPr>
        <p:spPr>
          <a:xfrm>
            <a:off x="231292" y="1460612"/>
            <a:ext cx="12481387" cy="6261472"/>
          </a:xfrm>
        </p:spPr>
        <p:txBody>
          <a:bodyPr/>
          <a:lstStyle/>
          <a:p>
            <a:r>
              <a:rPr kumimoji="1" lang="ja-JP" altLang="en-US" dirty="0"/>
              <a:t>本日の流れ</a:t>
            </a:r>
            <a:endParaRPr kumimoji="1" lang="en-US" altLang="ja-JP" dirty="0"/>
          </a:p>
          <a:p>
            <a:r>
              <a:rPr kumimoji="1" lang="ja-JP" altLang="en-US" dirty="0"/>
              <a:t>・実習説明（現在）</a:t>
            </a:r>
            <a:r>
              <a:rPr lang="ja-JP" altLang="en-US" dirty="0"/>
              <a:t>　実習症例０によるデモ</a:t>
            </a:r>
            <a:endParaRPr kumimoji="1" lang="en-US" altLang="ja-JP" dirty="0"/>
          </a:p>
          <a:p>
            <a:r>
              <a:rPr lang="ja-JP" altLang="en-US" dirty="0"/>
              <a:t>・実習症例１の検討　→　動画視聴</a:t>
            </a:r>
            <a:endParaRPr lang="en-US" altLang="ja-JP" dirty="0"/>
          </a:p>
          <a:p>
            <a:r>
              <a:rPr kumimoji="1" lang="ja-JP" altLang="en-US" dirty="0"/>
              <a:t>・実習症例２の検討　→　動画視聴</a:t>
            </a:r>
            <a:endParaRPr kumimoji="1" lang="en-US" altLang="ja-JP" dirty="0"/>
          </a:p>
          <a:p>
            <a:r>
              <a:rPr kumimoji="1" lang="ja-JP" altLang="en-US" dirty="0"/>
              <a:t>・実習症例３の検討　→　動画視聴</a:t>
            </a:r>
            <a:endParaRPr kumimoji="1" lang="en-US" altLang="ja-JP" dirty="0"/>
          </a:p>
          <a:p>
            <a:r>
              <a:rPr lang="ja-JP" altLang="en-US" dirty="0"/>
              <a:t>・実習症例４の検討　→　動画視聴</a:t>
            </a:r>
            <a:endParaRPr kumimoji="1" lang="en-US" altLang="ja-JP" dirty="0"/>
          </a:p>
          <a:p>
            <a:r>
              <a:rPr lang="ja-JP" altLang="en-US" dirty="0"/>
              <a:t>実習テキストに書き込み、提出して終了</a:t>
            </a:r>
            <a:endParaRPr kumimoji="1" lang="ja-JP" altLang="en-US" dirty="0"/>
          </a:p>
        </p:txBody>
      </p:sp>
      <p:pic>
        <p:nvPicPr>
          <p:cNvPr id="6" name="グラフィックス 5" descr="試験管 枠線">
            <a:extLst>
              <a:ext uri="{FF2B5EF4-FFF2-40B4-BE49-F238E27FC236}">
                <a16:creationId xmlns:a16="http://schemas.microsoft.com/office/drawing/2014/main" id="{004D91C0-3E8E-4D4C-8ACB-D4CB5116F1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204400" y="6536916"/>
            <a:ext cx="2508279" cy="2508279"/>
          </a:xfrm>
          <a:prstGeom prst="rect">
            <a:avLst/>
          </a:prstGeom>
        </p:spPr>
      </p:pic>
    </p:spTree>
    <p:extLst>
      <p:ext uri="{BB962C8B-B14F-4D97-AF65-F5344CB8AC3E}">
        <p14:creationId xmlns:p14="http://schemas.microsoft.com/office/powerpoint/2010/main" val="1454262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復習とフィードバック</a:t>
            </a:r>
            <a:endParaRPr kumimoji="1" lang="ja-JP" altLang="en-US" dirty="0"/>
          </a:p>
        </p:txBody>
      </p:sp>
      <p:sp>
        <p:nvSpPr>
          <p:cNvPr id="3" name="コンテンツ プレースホルダー 2"/>
          <p:cNvSpPr>
            <a:spLocks noGrp="1"/>
          </p:cNvSpPr>
          <p:nvPr>
            <p:ph idx="1"/>
          </p:nvPr>
        </p:nvSpPr>
        <p:spPr>
          <a:xfrm>
            <a:off x="155284" y="1936666"/>
            <a:ext cx="13001444" cy="6537502"/>
          </a:xfrm>
        </p:spPr>
        <p:txBody>
          <a:bodyPr/>
          <a:lstStyle/>
          <a:p>
            <a:pPr>
              <a:lnSpc>
                <a:spcPct val="150000"/>
              </a:lnSpc>
            </a:pPr>
            <a:r>
              <a:rPr lang="ja-JP" altLang="en-US" sz="6355" dirty="0">
                <a:latin typeface="+mn-ea"/>
              </a:rPr>
              <a:t>薬毒物分析は万能ではない</a:t>
            </a:r>
            <a:r>
              <a:rPr lang="ja-JP" altLang="en-US" sz="6355" dirty="0"/>
              <a:t>。臨床家による、</a:t>
            </a:r>
            <a:r>
              <a:rPr lang="ja-JP" altLang="en-US" sz="6355" u="sng" dirty="0">
                <a:solidFill>
                  <a:srgbClr val="C00000"/>
                </a:solidFill>
              </a:rPr>
              <a:t>現場の残留物</a:t>
            </a:r>
            <a:r>
              <a:rPr lang="ja-JP" altLang="en-US" sz="6355" dirty="0"/>
              <a:t>、</a:t>
            </a:r>
            <a:r>
              <a:rPr lang="ja-JP" altLang="en-US" sz="6355" u="sng" dirty="0">
                <a:solidFill>
                  <a:srgbClr val="C00000"/>
                </a:solidFill>
              </a:rPr>
              <a:t>患者の病歴</a:t>
            </a:r>
            <a:r>
              <a:rPr lang="ja-JP" altLang="en-US" sz="6355" dirty="0"/>
              <a:t>、</a:t>
            </a:r>
            <a:endParaRPr lang="en-US" altLang="ja-JP" sz="6355" dirty="0"/>
          </a:p>
          <a:p>
            <a:pPr>
              <a:lnSpc>
                <a:spcPct val="150000"/>
              </a:lnSpc>
            </a:pPr>
            <a:r>
              <a:rPr lang="ja-JP" altLang="en-US" sz="6355" u="sng" dirty="0">
                <a:solidFill>
                  <a:srgbClr val="C00000"/>
                </a:solidFill>
              </a:rPr>
              <a:t>患者の生活歴</a:t>
            </a:r>
            <a:r>
              <a:rPr lang="ja-JP" altLang="en-US" sz="6355" dirty="0"/>
              <a:t>、</a:t>
            </a:r>
            <a:r>
              <a:rPr lang="ja-JP" altLang="en-US" sz="6355" u="sng" dirty="0">
                <a:solidFill>
                  <a:srgbClr val="C00000"/>
                </a:solidFill>
              </a:rPr>
              <a:t>身体所見</a:t>
            </a:r>
            <a:r>
              <a:rPr lang="ja-JP" altLang="en-US" sz="6355" dirty="0"/>
              <a:t>、などの情報がないとどうにもならない。</a:t>
            </a:r>
          </a:p>
        </p:txBody>
      </p:sp>
    </p:spTree>
    <p:extLst>
      <p:ext uri="{BB962C8B-B14F-4D97-AF65-F5344CB8AC3E}">
        <p14:creationId xmlns:p14="http://schemas.microsoft.com/office/powerpoint/2010/main" val="1535627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中毒死体</a:t>
            </a:r>
          </a:p>
        </p:txBody>
      </p:sp>
      <p:sp>
        <p:nvSpPr>
          <p:cNvPr id="3" name="コンテンツ プレースホルダー 2"/>
          <p:cNvSpPr>
            <a:spLocks noGrp="1"/>
          </p:cNvSpPr>
          <p:nvPr>
            <p:ph idx="1"/>
          </p:nvPr>
        </p:nvSpPr>
        <p:spPr>
          <a:xfrm>
            <a:off x="363307" y="1832654"/>
            <a:ext cx="7696855" cy="6537502"/>
          </a:xfrm>
        </p:spPr>
        <p:txBody>
          <a:bodyPr/>
          <a:lstStyle/>
          <a:p>
            <a:pPr>
              <a:lnSpc>
                <a:spcPct val="150000"/>
              </a:lnSpc>
            </a:pPr>
            <a:r>
              <a:rPr kumimoji="1" lang="ja-JP" altLang="en-US" dirty="0"/>
              <a:t>　</a:t>
            </a:r>
            <a:r>
              <a:rPr lang="ja-JP" altLang="en-US" sz="5778" dirty="0"/>
              <a:t>ほとんどの中毒死体は</a:t>
            </a:r>
            <a:r>
              <a:rPr lang="ja-JP" altLang="en-US" sz="5778" dirty="0">
                <a:solidFill>
                  <a:srgbClr val="C00000"/>
                </a:solidFill>
              </a:rPr>
              <a:t>死体所見だけみたのでは何もわからない</a:t>
            </a:r>
            <a:r>
              <a:rPr lang="ja-JP" altLang="en-US" sz="5778" dirty="0"/>
              <a:t>のが</a:t>
            </a:r>
            <a:r>
              <a:rPr lang="ja-JP" altLang="en-US" sz="5778" dirty="0">
                <a:solidFill>
                  <a:srgbClr val="C00000"/>
                </a:solidFill>
              </a:rPr>
              <a:t>基本</a:t>
            </a:r>
            <a:r>
              <a:rPr lang="ja-JP" altLang="en-US" sz="5778" dirty="0"/>
              <a:t>だということを認識してほしい。</a:t>
            </a:r>
            <a:endParaRPr lang="en-US" altLang="ja-JP" sz="5778" dirty="0"/>
          </a:p>
        </p:txBody>
      </p:sp>
      <p:pic>
        <p:nvPicPr>
          <p:cNvPr id="9218" name="Picture 2" descr="https://images-na.ssl-images-amazon.com/images/I/41alkxiIujL._SX347_BO1,204,203,200_.jp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8464110" y="2716752"/>
            <a:ext cx="4137682" cy="5916057"/>
          </a:xfrm>
          <a:prstGeom prst="rect">
            <a:avLst/>
          </a:prstGeom>
          <a:noFill/>
          <a:extLst>
            <a:ext uri="{909E8E84-426E-40DD-AFC4-6F175D3DCCD1}">
              <a14:hiddenFill xmlns:a14="http://schemas.microsoft.com/office/drawing/2010/main">
                <a:solidFill>
                  <a:srgbClr val="FFFFFF"/>
                </a:solidFill>
              </a14:hiddenFill>
            </a:ext>
          </a:extLst>
        </p:spPr>
      </p:pic>
      <p:sp>
        <p:nvSpPr>
          <p:cNvPr id="5" name="正方形/長方形 4"/>
          <p:cNvSpPr/>
          <p:nvPr/>
        </p:nvSpPr>
        <p:spPr>
          <a:xfrm>
            <a:off x="3289534" y="8905439"/>
            <a:ext cx="10349150" cy="369332"/>
          </a:xfrm>
          <a:prstGeom prst="rect">
            <a:avLst/>
          </a:prstGeom>
        </p:spPr>
        <p:txBody>
          <a:bodyPr wrap="square">
            <a:spAutoFit/>
          </a:bodyPr>
          <a:lstStyle/>
          <a:p>
            <a:r>
              <a:rPr lang="zh-TW" altLang="en-US" b="1" dirty="0">
                <a:solidFill>
                  <a:srgbClr val="000000"/>
                </a:solidFill>
                <a:latin typeface="Meiryo" panose="020B0604030504040204" pitchFamily="50" charset="-128"/>
                <a:ea typeface="Meiryo" panose="020B0604030504040204" pitchFamily="50" charset="-128"/>
              </a:rPr>
              <a:t>渡辺博司</a:t>
            </a:r>
            <a:r>
              <a:rPr lang="ja-JP" altLang="en-US" dirty="0" err="1"/>
              <a:t>、</a:t>
            </a:r>
            <a:r>
              <a:rPr lang="zh-TW" altLang="en-US" b="1" dirty="0">
                <a:solidFill>
                  <a:srgbClr val="000000"/>
                </a:solidFill>
                <a:latin typeface="Meiryo" panose="020B0604030504040204" pitchFamily="50" charset="-128"/>
                <a:ea typeface="Meiryo" panose="020B0604030504040204" pitchFamily="50" charset="-128"/>
              </a:rPr>
              <a:t>齋藤一之</a:t>
            </a:r>
            <a:r>
              <a:rPr lang="en-US" altLang="zh-TW" b="1" dirty="0">
                <a:solidFill>
                  <a:srgbClr val="000000"/>
                </a:solidFill>
                <a:latin typeface="Meiryo" panose="020B0604030504040204" pitchFamily="50" charset="-128"/>
                <a:ea typeface="Meiryo" panose="020B0604030504040204" pitchFamily="50" charset="-128"/>
              </a:rPr>
              <a:t>(</a:t>
            </a:r>
            <a:r>
              <a:rPr lang="en-US" altLang="ja-JP" b="1" dirty="0">
                <a:solidFill>
                  <a:srgbClr val="000000"/>
                </a:solidFill>
                <a:latin typeface="Meiryo" panose="020B0604030504040204" pitchFamily="50" charset="-128"/>
                <a:ea typeface="Meiryo" panose="020B0604030504040204" pitchFamily="50" charset="-128"/>
              </a:rPr>
              <a:t>2010</a:t>
            </a:r>
            <a:r>
              <a:rPr lang="en-US" altLang="zh-TW" b="1" dirty="0">
                <a:solidFill>
                  <a:srgbClr val="000000"/>
                </a:solidFill>
                <a:latin typeface="Meiryo" panose="020B0604030504040204" pitchFamily="50" charset="-128"/>
                <a:ea typeface="Meiryo" panose="020B0604030504040204" pitchFamily="50" charset="-128"/>
              </a:rPr>
              <a:t>)</a:t>
            </a:r>
            <a:r>
              <a:rPr lang="ja-JP" altLang="en-US" b="1" dirty="0">
                <a:solidFill>
                  <a:srgbClr val="000000"/>
                </a:solidFill>
                <a:latin typeface="Meiryo" panose="020B0604030504040204" pitchFamily="50" charset="-128"/>
                <a:ea typeface="Meiryo" panose="020B0604030504040204" pitchFamily="50" charset="-128"/>
              </a:rPr>
              <a:t>「新訂死体の視かた」東京法令出版</a:t>
            </a:r>
            <a:endParaRPr lang="ja-JP" altLang="en-US" dirty="0"/>
          </a:p>
        </p:txBody>
      </p:sp>
    </p:spTree>
    <p:extLst>
      <p:ext uri="{BB962C8B-B14F-4D97-AF65-F5344CB8AC3E}">
        <p14:creationId xmlns:p14="http://schemas.microsoft.com/office/powerpoint/2010/main" val="3033047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中毒学概論</a:t>
            </a:r>
          </a:p>
        </p:txBody>
      </p:sp>
      <p:sp>
        <p:nvSpPr>
          <p:cNvPr id="3" name="コンテンツ プレースホルダー 2"/>
          <p:cNvSpPr>
            <a:spLocks noGrp="1"/>
          </p:cNvSpPr>
          <p:nvPr>
            <p:ph idx="1"/>
          </p:nvPr>
        </p:nvSpPr>
        <p:spPr>
          <a:xfrm>
            <a:off x="414579" y="1064568"/>
            <a:ext cx="12793421" cy="4004445"/>
          </a:xfrm>
        </p:spPr>
        <p:txBody>
          <a:bodyPr/>
          <a:lstStyle/>
          <a:p>
            <a:r>
              <a:rPr lang="ja-JP" altLang="en-US" sz="5778" dirty="0"/>
              <a:t>法中毒学　（</a:t>
            </a:r>
            <a:r>
              <a:rPr lang="en-US" altLang="ja-JP" sz="5778" dirty="0"/>
              <a:t>Forensic</a:t>
            </a:r>
            <a:r>
              <a:rPr lang="ja-JP" altLang="en-US" sz="5778" dirty="0"/>
              <a:t> </a:t>
            </a:r>
            <a:r>
              <a:rPr lang="en-US" altLang="ja-JP" sz="5778" dirty="0"/>
              <a:t>toxicology)</a:t>
            </a:r>
          </a:p>
          <a:p>
            <a:pPr marL="646622" indent="-646622"/>
            <a:r>
              <a:rPr lang="ja-JP" altLang="en-US" dirty="0"/>
              <a:t>→中毒死や、薬物による犯罪が主な対象。最終目的は死因の確定や、薬毒物使用の状況を明らかにする（時間をかけて緻密な</a:t>
            </a:r>
            <a:r>
              <a:rPr lang="ja-JP" altLang="en-US" dirty="0">
                <a:solidFill>
                  <a:srgbClr val="C00000"/>
                </a:solidFill>
              </a:rPr>
              <a:t>分析</a:t>
            </a:r>
            <a:r>
              <a:rPr lang="ja-JP" altLang="en-US" dirty="0"/>
              <a:t>をおこなう）</a:t>
            </a:r>
            <a:endParaRPr lang="en-US" altLang="ja-JP" dirty="0"/>
          </a:p>
        </p:txBody>
      </p:sp>
      <p:sp>
        <p:nvSpPr>
          <p:cNvPr id="4" name="テキスト ボックス 3"/>
          <p:cNvSpPr txBox="1"/>
          <p:nvPr/>
        </p:nvSpPr>
        <p:spPr>
          <a:xfrm>
            <a:off x="1195399" y="5837100"/>
            <a:ext cx="11805312" cy="5218993"/>
          </a:xfrm>
          <a:prstGeom prst="rect">
            <a:avLst/>
          </a:prstGeom>
          <a:noFill/>
        </p:spPr>
        <p:txBody>
          <a:bodyPr wrap="square" rtlCol="0">
            <a:spAutoFit/>
          </a:bodyPr>
          <a:lstStyle/>
          <a:p>
            <a:pPr>
              <a:lnSpc>
                <a:spcPct val="150000"/>
              </a:lnSpc>
            </a:pPr>
            <a:r>
              <a:rPr lang="ja-JP" altLang="en-US" sz="5778" dirty="0">
                <a:solidFill>
                  <a:srgbClr val="C00000"/>
                </a:solidFill>
                <a:latin typeface="HGPｺﾞｼｯｸE" panose="020B0900000000000000" pitchFamily="50" charset="-128"/>
                <a:ea typeface="HGPｺﾞｼｯｸE" panose="020B0900000000000000" pitchFamily="50" charset="-128"/>
              </a:rPr>
              <a:t>中毒死（薬毒物による）→死体</a:t>
            </a:r>
            <a:endParaRPr lang="en-US" altLang="ja-JP" sz="5778" dirty="0">
              <a:solidFill>
                <a:srgbClr val="C00000"/>
              </a:solidFill>
              <a:latin typeface="HGPｺﾞｼｯｸE" panose="020B0900000000000000" pitchFamily="50" charset="-128"/>
              <a:ea typeface="HGPｺﾞｼｯｸE" panose="020B0900000000000000" pitchFamily="50" charset="-128"/>
            </a:endParaRPr>
          </a:p>
          <a:p>
            <a:pPr>
              <a:lnSpc>
                <a:spcPct val="150000"/>
              </a:lnSpc>
            </a:pPr>
            <a:r>
              <a:rPr lang="ja-JP" altLang="en-US" sz="5778" dirty="0">
                <a:solidFill>
                  <a:schemeClr val="accent6">
                    <a:lumMod val="75000"/>
                  </a:schemeClr>
                </a:solidFill>
                <a:latin typeface="HGPｺﾞｼｯｸE" panose="020B0900000000000000" pitchFamily="50" charset="-128"/>
                <a:ea typeface="HGPｺﾞｼｯｸE" panose="020B0900000000000000" pitchFamily="50" charset="-128"/>
              </a:rPr>
              <a:t>薬物鑑定（濫用薬物）　→生体</a:t>
            </a:r>
            <a:endParaRPr lang="en-US" altLang="ja-JP" sz="5778" dirty="0">
              <a:solidFill>
                <a:schemeClr val="accent6">
                  <a:lumMod val="75000"/>
                </a:schemeClr>
              </a:solidFill>
              <a:latin typeface="HGPｺﾞｼｯｸE" panose="020B0900000000000000" pitchFamily="50" charset="-128"/>
              <a:ea typeface="HGPｺﾞｼｯｸE" panose="020B0900000000000000" pitchFamily="50" charset="-128"/>
            </a:endParaRPr>
          </a:p>
          <a:p>
            <a:pPr>
              <a:lnSpc>
                <a:spcPct val="150000"/>
              </a:lnSpc>
            </a:pPr>
            <a:endParaRPr lang="en-US" altLang="ja-JP" sz="5778"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pPr>
              <a:lnSpc>
                <a:spcPct val="150000"/>
              </a:lnSpc>
            </a:pPr>
            <a:endParaRPr lang="ja-JP" altLang="en-US" sz="5778"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Tree>
    <p:extLst>
      <p:ext uri="{BB962C8B-B14F-4D97-AF65-F5344CB8AC3E}">
        <p14:creationId xmlns:p14="http://schemas.microsoft.com/office/powerpoint/2010/main" val="3112580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薬毒物分析</a:t>
            </a:r>
          </a:p>
        </p:txBody>
      </p:sp>
      <p:sp>
        <p:nvSpPr>
          <p:cNvPr id="3" name="コンテンツ プレースホルダー 2"/>
          <p:cNvSpPr>
            <a:spLocks noGrp="1"/>
          </p:cNvSpPr>
          <p:nvPr>
            <p:ph idx="1"/>
          </p:nvPr>
        </p:nvSpPr>
        <p:spPr>
          <a:xfrm>
            <a:off x="363306" y="844545"/>
            <a:ext cx="12481387" cy="5616623"/>
          </a:xfrm>
        </p:spPr>
        <p:txBody>
          <a:bodyPr/>
          <a:lstStyle/>
          <a:p>
            <a:r>
              <a:rPr lang="ja-JP" altLang="en-US" sz="5200" dirty="0"/>
              <a:t>　</a:t>
            </a:r>
            <a:r>
              <a:rPr lang="ja-JP" altLang="en-US" sz="5200" dirty="0">
                <a:solidFill>
                  <a:srgbClr val="C00000"/>
                </a:solidFill>
              </a:rPr>
              <a:t>分析</a:t>
            </a:r>
            <a:r>
              <a:rPr lang="ja-JP" altLang="en-US" sz="5200" dirty="0"/>
              <a:t>にはさまざまな測定法が用いられる。</a:t>
            </a:r>
            <a:endParaRPr lang="en-US" altLang="ja-JP" sz="5200" dirty="0"/>
          </a:p>
          <a:p>
            <a:r>
              <a:rPr lang="ja-JP" altLang="en-US" sz="5200" dirty="0"/>
              <a:t>　それぞれの測定法には特徴があり、分析できる薬毒物が異なるため、情報、外観、簡易検査による薬毒物の絞り込みが必要。</a:t>
            </a:r>
          </a:p>
        </p:txBody>
      </p:sp>
      <p:pic>
        <p:nvPicPr>
          <p:cNvPr id="2050" name="Picture 2" descr="「分光光度計　サーモ」の画像検索結果"/>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15312" y="6461168"/>
            <a:ext cx="2700204" cy="270020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www.an.shimadzu.co.jp/sites/default/files/ckeditor/gcms/c6nq2v000000b6ww-img/c6nq2v000000fktr.jp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124058" y="5757800"/>
            <a:ext cx="5503333" cy="30268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1366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薬毒物分析</a:t>
            </a:r>
          </a:p>
        </p:txBody>
      </p:sp>
      <p:sp>
        <p:nvSpPr>
          <p:cNvPr id="3" name="コンテンツ プレースホルダー 2"/>
          <p:cNvSpPr>
            <a:spLocks noGrp="1"/>
          </p:cNvSpPr>
          <p:nvPr>
            <p:ph idx="1"/>
          </p:nvPr>
        </p:nvSpPr>
        <p:spPr>
          <a:xfrm>
            <a:off x="363306" y="1329846"/>
            <a:ext cx="12481387" cy="3921223"/>
          </a:xfrm>
        </p:spPr>
        <p:txBody>
          <a:bodyPr/>
          <a:lstStyle/>
          <a:p>
            <a:r>
              <a:rPr kumimoji="1" lang="ja-JP" altLang="en-US" dirty="0"/>
              <a:t>薬毒物の同定　</a:t>
            </a:r>
            <a:r>
              <a:rPr lang="ja-JP" altLang="en-US" dirty="0"/>
              <a:t>定性</a:t>
            </a:r>
            <a:r>
              <a:rPr kumimoji="1" lang="ja-JP" altLang="en-US" dirty="0"/>
              <a:t>→定量</a:t>
            </a:r>
          </a:p>
        </p:txBody>
      </p:sp>
      <p:sp>
        <p:nvSpPr>
          <p:cNvPr id="4" name="テキスト ボックス 3"/>
          <p:cNvSpPr txBox="1"/>
          <p:nvPr/>
        </p:nvSpPr>
        <p:spPr>
          <a:xfrm>
            <a:off x="532325" y="2703370"/>
            <a:ext cx="10973219" cy="803618"/>
          </a:xfrm>
          <a:prstGeom prst="rect">
            <a:avLst/>
          </a:prstGeom>
          <a:noFill/>
        </p:spPr>
        <p:txBody>
          <a:bodyPr wrap="square" rtlCol="0">
            <a:spAutoFit/>
          </a:bodyPr>
          <a:lstStyle/>
          <a:p>
            <a:r>
              <a:rPr lang="ja-JP" altLang="en-US" sz="4622" dirty="0">
                <a:solidFill>
                  <a:schemeClr val="tx1">
                    <a:lumMod val="75000"/>
                    <a:lumOff val="25000"/>
                  </a:schemeClr>
                </a:solidFill>
                <a:latin typeface="HGPｺﾞｼｯｸE" panose="020B0900000000000000" pitchFamily="50" charset="-128"/>
                <a:ea typeface="HGPｺﾞｼｯｸE" panose="020B0900000000000000" pitchFamily="50" charset="-128"/>
              </a:rPr>
              <a:t>どのような薬毒物か？</a:t>
            </a:r>
          </a:p>
        </p:txBody>
      </p:sp>
      <p:sp>
        <p:nvSpPr>
          <p:cNvPr id="5" name="テキスト ボックス 4"/>
          <p:cNvSpPr txBox="1"/>
          <p:nvPr/>
        </p:nvSpPr>
        <p:spPr>
          <a:xfrm>
            <a:off x="807356" y="3848180"/>
            <a:ext cx="10271141" cy="1692771"/>
          </a:xfrm>
          <a:prstGeom prst="rect">
            <a:avLst/>
          </a:prstGeom>
          <a:noFill/>
        </p:spPr>
        <p:txBody>
          <a:bodyPr wrap="square" rtlCol="0">
            <a:spAutoFit/>
          </a:bodyPr>
          <a:lstStyle/>
          <a:p>
            <a:r>
              <a:rPr lang="ja-JP" altLang="en-US" sz="5200" dirty="0">
                <a:solidFill>
                  <a:schemeClr val="tx1">
                    <a:lumMod val="75000"/>
                    <a:lumOff val="25000"/>
                  </a:schemeClr>
                </a:solidFill>
                <a:latin typeface="HGPｺﾞｼｯｸE" panose="020B0900000000000000" pitchFamily="50" charset="-128"/>
                <a:ea typeface="HGPｺﾞｼｯｸE" panose="020B0900000000000000" pitchFamily="50" charset="-128"/>
              </a:rPr>
              <a:t>定性検査</a:t>
            </a:r>
            <a:endParaRPr lang="en-US" altLang="ja-JP" sz="52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r>
              <a:rPr lang="ja-JP" altLang="en-US" sz="5200" dirty="0">
                <a:solidFill>
                  <a:schemeClr val="tx1">
                    <a:lumMod val="75000"/>
                    <a:lumOff val="25000"/>
                  </a:schemeClr>
                </a:solidFill>
                <a:latin typeface="HGPｺﾞｼｯｸE" panose="020B0900000000000000" pitchFamily="50" charset="-128"/>
                <a:ea typeface="HGPｺﾞｼｯｸE" panose="020B0900000000000000" pitchFamily="50" charset="-128"/>
              </a:rPr>
              <a:t>（どんな薬物があるか？ないか？）</a:t>
            </a:r>
          </a:p>
        </p:txBody>
      </p:sp>
      <p:sp>
        <p:nvSpPr>
          <p:cNvPr id="6" name="テキスト ボックス 5"/>
          <p:cNvSpPr txBox="1"/>
          <p:nvPr/>
        </p:nvSpPr>
        <p:spPr>
          <a:xfrm>
            <a:off x="807355" y="5692364"/>
            <a:ext cx="10271141" cy="1692771"/>
          </a:xfrm>
          <a:prstGeom prst="rect">
            <a:avLst/>
          </a:prstGeom>
          <a:noFill/>
        </p:spPr>
        <p:txBody>
          <a:bodyPr wrap="square" rtlCol="0">
            <a:spAutoFit/>
          </a:bodyPr>
          <a:lstStyle/>
          <a:p>
            <a:r>
              <a:rPr lang="ja-JP" altLang="en-US" sz="5200" dirty="0">
                <a:latin typeface="HGPｺﾞｼｯｸE" panose="020B0900000000000000" pitchFamily="50" charset="-128"/>
                <a:ea typeface="HGPｺﾞｼｯｸE" panose="020B0900000000000000" pitchFamily="50" charset="-128"/>
              </a:rPr>
              <a:t>半定量検査</a:t>
            </a:r>
            <a:endParaRPr lang="en-US" altLang="ja-JP" sz="5200" dirty="0">
              <a:latin typeface="HGPｺﾞｼｯｸE" panose="020B0900000000000000" pitchFamily="50" charset="-128"/>
              <a:ea typeface="HGPｺﾞｼｯｸE" panose="020B0900000000000000" pitchFamily="50" charset="-128"/>
            </a:endParaRPr>
          </a:p>
          <a:p>
            <a:r>
              <a:rPr lang="ja-JP" altLang="en-US" sz="5200" dirty="0">
                <a:latin typeface="HGPｺﾞｼｯｸE" panose="020B0900000000000000" pitchFamily="50" charset="-128"/>
                <a:ea typeface="HGPｺﾞｼｯｸE" panose="020B0900000000000000" pitchFamily="50" charset="-128"/>
              </a:rPr>
              <a:t>（薬物がどのくらいあるか？）</a:t>
            </a:r>
          </a:p>
        </p:txBody>
      </p:sp>
      <p:sp>
        <p:nvSpPr>
          <p:cNvPr id="7" name="テキスト ボックス 6"/>
          <p:cNvSpPr txBox="1"/>
          <p:nvPr/>
        </p:nvSpPr>
        <p:spPr>
          <a:xfrm>
            <a:off x="987376" y="7545288"/>
            <a:ext cx="10271141" cy="1692771"/>
          </a:xfrm>
          <a:prstGeom prst="rect">
            <a:avLst/>
          </a:prstGeom>
          <a:noFill/>
        </p:spPr>
        <p:txBody>
          <a:bodyPr wrap="square" rtlCol="0">
            <a:spAutoFit/>
          </a:bodyPr>
          <a:lstStyle/>
          <a:p>
            <a:r>
              <a:rPr lang="ja-JP" altLang="en-US" sz="5200" dirty="0">
                <a:solidFill>
                  <a:schemeClr val="tx1">
                    <a:lumMod val="75000"/>
                    <a:lumOff val="25000"/>
                  </a:schemeClr>
                </a:solidFill>
                <a:latin typeface="HGPｺﾞｼｯｸE" panose="020B0900000000000000" pitchFamily="50" charset="-128"/>
                <a:ea typeface="HGPｺﾞｼｯｸE" panose="020B0900000000000000" pitchFamily="50" charset="-128"/>
              </a:rPr>
              <a:t>定量検査</a:t>
            </a:r>
            <a:endParaRPr lang="en-US" altLang="ja-JP" sz="52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r>
              <a:rPr lang="ja-JP" altLang="en-US" sz="5200" dirty="0">
                <a:solidFill>
                  <a:schemeClr val="tx1">
                    <a:lumMod val="75000"/>
                    <a:lumOff val="25000"/>
                  </a:schemeClr>
                </a:solidFill>
                <a:latin typeface="HGPｺﾞｼｯｸE" panose="020B0900000000000000" pitchFamily="50" charset="-128"/>
                <a:ea typeface="HGPｺﾞｼｯｸE" panose="020B0900000000000000" pitchFamily="50" charset="-128"/>
              </a:rPr>
              <a:t>（薬物がどのくらいあるか？）</a:t>
            </a:r>
          </a:p>
        </p:txBody>
      </p:sp>
      <p:pic>
        <p:nvPicPr>
          <p:cNvPr id="1026" name="Picture 2" descr="「尿検査」の画像検索結果"/>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352651" y="829080"/>
            <a:ext cx="3976413" cy="2447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7838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endParaRPr kumimoji="1" lang="ja-JP" altLang="en-US"/>
          </a:p>
        </p:txBody>
      </p:sp>
      <p:sp>
        <p:nvSpPr>
          <p:cNvPr id="3" name="コンテンツ プレースホルダー 2"/>
          <p:cNvSpPr>
            <a:spLocks noGrp="1"/>
          </p:cNvSpPr>
          <p:nvPr>
            <p:ph idx="1"/>
          </p:nvPr>
        </p:nvSpPr>
        <p:spPr/>
        <p:txBody>
          <a:bodyPr/>
          <a:lstStyle/>
          <a:p>
            <a:endParaRPr kumimoji="1" lang="ja-JP" altLang="en-US" dirty="0"/>
          </a:p>
        </p:txBody>
      </p:sp>
      <p:pic>
        <p:nvPicPr>
          <p:cNvPr id="4" name="図 3"/>
          <p:cNvPicPr>
            <a:picLocks noChangeAspect="1"/>
          </p:cNvPicPr>
          <p:nvPr/>
        </p:nvPicPr>
        <p:blipFill>
          <a:blip r:embed="rId2"/>
          <a:stretch>
            <a:fillRect/>
          </a:stretch>
        </p:blipFill>
        <p:spPr>
          <a:xfrm>
            <a:off x="1130575" y="848544"/>
            <a:ext cx="11050861" cy="8416136"/>
          </a:xfrm>
          <a:prstGeom prst="rect">
            <a:avLst/>
          </a:prstGeom>
        </p:spPr>
      </p:pic>
      <p:sp>
        <p:nvSpPr>
          <p:cNvPr id="5" name="正方形/長方形 4"/>
          <p:cNvSpPr/>
          <p:nvPr/>
        </p:nvSpPr>
        <p:spPr>
          <a:xfrm>
            <a:off x="3471652" y="9491116"/>
            <a:ext cx="10661184" cy="359009"/>
          </a:xfrm>
          <a:prstGeom prst="rect">
            <a:avLst/>
          </a:prstGeom>
        </p:spPr>
        <p:txBody>
          <a:bodyPr wrap="square">
            <a:spAutoFit/>
          </a:bodyPr>
          <a:lstStyle/>
          <a:p>
            <a:r>
              <a:rPr lang="ja-JP" altLang="en-US" sz="1733" dirty="0">
                <a:solidFill>
                  <a:schemeClr val="bg1"/>
                </a:solidFill>
                <a:latin typeface="Arial" panose="020B0604020202020204" pitchFamily="34" charset="0"/>
              </a:rPr>
              <a:t>瀬戸康雄</a:t>
            </a:r>
            <a:r>
              <a:rPr lang="en-US" altLang="ja-JP" sz="1733" dirty="0">
                <a:solidFill>
                  <a:schemeClr val="bg1"/>
                </a:solidFill>
                <a:latin typeface="Arial" panose="020B0604020202020204" pitchFamily="34" charset="0"/>
              </a:rPr>
              <a:t>. (2007). </a:t>
            </a:r>
            <a:r>
              <a:rPr lang="ja-JP" altLang="en-US" sz="1733" dirty="0">
                <a:solidFill>
                  <a:schemeClr val="bg1"/>
                </a:solidFill>
                <a:latin typeface="Arial" panose="020B0604020202020204" pitchFamily="34" charset="0"/>
              </a:rPr>
              <a:t>毒劇物中毒事件における危機管理と分析化学の役割</a:t>
            </a:r>
            <a:r>
              <a:rPr lang="en-US" altLang="ja-JP" sz="1733" dirty="0">
                <a:solidFill>
                  <a:schemeClr val="bg1"/>
                </a:solidFill>
                <a:latin typeface="Arial" panose="020B0604020202020204" pitchFamily="34" charset="0"/>
              </a:rPr>
              <a:t>. </a:t>
            </a:r>
            <a:r>
              <a:rPr lang="ja-JP" altLang="en-US" sz="1733" i="1" dirty="0">
                <a:solidFill>
                  <a:schemeClr val="bg1"/>
                </a:solidFill>
                <a:latin typeface="Arial" panose="020B0604020202020204" pitchFamily="34" charset="0"/>
              </a:rPr>
              <a:t>分析化学</a:t>
            </a:r>
            <a:r>
              <a:rPr lang="en-US" altLang="ja-JP" sz="1733" dirty="0">
                <a:solidFill>
                  <a:schemeClr val="bg1"/>
                </a:solidFill>
                <a:latin typeface="Arial" panose="020B0604020202020204" pitchFamily="34" charset="0"/>
              </a:rPr>
              <a:t>, </a:t>
            </a:r>
            <a:r>
              <a:rPr lang="en-US" altLang="ja-JP" sz="1733" i="1" dirty="0">
                <a:solidFill>
                  <a:schemeClr val="bg1"/>
                </a:solidFill>
                <a:latin typeface="Arial" panose="020B0604020202020204" pitchFamily="34" charset="0"/>
              </a:rPr>
              <a:t>56</a:t>
            </a:r>
            <a:r>
              <a:rPr lang="en-US" altLang="ja-JP" sz="1733" dirty="0">
                <a:solidFill>
                  <a:schemeClr val="bg1"/>
                </a:solidFill>
                <a:latin typeface="Arial" panose="020B0604020202020204" pitchFamily="34" charset="0"/>
              </a:rPr>
              <a:t>(12), 981-991.</a:t>
            </a:r>
            <a:endParaRPr lang="ja-JP" altLang="en-US" sz="1733" dirty="0">
              <a:solidFill>
                <a:schemeClr val="bg1"/>
              </a:solidFill>
            </a:endParaRPr>
          </a:p>
        </p:txBody>
      </p:sp>
    </p:spTree>
    <p:extLst>
      <p:ext uri="{BB962C8B-B14F-4D97-AF65-F5344CB8AC3E}">
        <p14:creationId xmlns:p14="http://schemas.microsoft.com/office/powerpoint/2010/main" val="429995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686CB-FC6C-B10C-F481-64588A90385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4EF2F7-D981-D7C7-DE0C-B25A7BE91B9C}"/>
              </a:ext>
            </a:extLst>
          </p:cNvPr>
          <p:cNvSpPr>
            <a:spLocks noGrp="1"/>
          </p:cNvSpPr>
          <p:nvPr>
            <p:ph type="title"/>
          </p:nvPr>
        </p:nvSpPr>
        <p:spPr/>
        <p:txBody>
          <a:bodyPr/>
          <a:lstStyle/>
          <a:p>
            <a:r>
              <a:rPr kumimoji="1" lang="ja-JP" altLang="en-US" dirty="0"/>
              <a:t>質問</a:t>
            </a:r>
          </a:p>
        </p:txBody>
      </p:sp>
      <p:sp>
        <p:nvSpPr>
          <p:cNvPr id="3" name="コンテンツ プレースホルダー 2">
            <a:extLst>
              <a:ext uri="{FF2B5EF4-FFF2-40B4-BE49-F238E27FC236}">
                <a16:creationId xmlns:a16="http://schemas.microsoft.com/office/drawing/2014/main" id="{84543D7E-5C7C-3525-C78C-5247E7349D00}"/>
              </a:ext>
            </a:extLst>
          </p:cNvPr>
          <p:cNvSpPr>
            <a:spLocks noGrp="1"/>
          </p:cNvSpPr>
          <p:nvPr>
            <p:ph idx="1"/>
          </p:nvPr>
        </p:nvSpPr>
        <p:spPr>
          <a:xfrm>
            <a:off x="415312" y="1064568"/>
            <a:ext cx="12481387" cy="6261472"/>
          </a:xfrm>
        </p:spPr>
        <p:txBody>
          <a:bodyPr/>
          <a:lstStyle/>
          <a:p>
            <a:r>
              <a:rPr kumimoji="1" lang="ja-JP" altLang="en-US" dirty="0"/>
              <a:t>市販薬のオーバードーズについて質問があります。</a:t>
            </a:r>
            <a:endParaRPr kumimoji="1" lang="en-US" altLang="ja-JP" dirty="0"/>
          </a:p>
          <a:p>
            <a:r>
              <a:rPr lang="ja-JP" altLang="en-US" dirty="0"/>
              <a:t>授業のなかで販売のルールが変わるというお話がありました。ただ、今はインターネット等で色々なものが簡単に手に入ってしまう時代だと思います。そうした販売時のルールを厳しくするだけで、本当に若者の</a:t>
            </a:r>
            <a:r>
              <a:rPr lang="en-US" altLang="ja-JP" dirty="0"/>
              <a:t>OD</a:t>
            </a:r>
            <a:r>
              <a:rPr lang="ja-JP" altLang="en-US" dirty="0"/>
              <a:t>などを防ぐことはできるのでしょうか？</a:t>
            </a:r>
            <a:endParaRPr kumimoji="1" lang="ja-JP" altLang="en-US" dirty="0"/>
          </a:p>
        </p:txBody>
      </p:sp>
      <p:sp>
        <p:nvSpPr>
          <p:cNvPr id="4" name="スライド番号プレースホルダー 3">
            <a:extLst>
              <a:ext uri="{FF2B5EF4-FFF2-40B4-BE49-F238E27FC236}">
                <a16:creationId xmlns:a16="http://schemas.microsoft.com/office/drawing/2014/main" id="{CA04703F-1004-BB35-388E-1AE8835BC52D}"/>
              </a:ext>
            </a:extLst>
          </p:cNvPr>
          <p:cNvSpPr>
            <a:spLocks noGrp="1"/>
          </p:cNvSpPr>
          <p:nvPr>
            <p:ph type="sldNum" sz="quarter" idx="12"/>
          </p:nvPr>
        </p:nvSpPr>
        <p:spPr/>
        <p:txBody>
          <a:bodyPr/>
          <a:lstStyle/>
          <a:p>
            <a:pPr>
              <a:defRPr/>
            </a:pPr>
            <a:fld id="{6B43C332-1484-4553-8349-0303A35840A7}" type="slidenum">
              <a:rPr lang="ja-JP" altLang="en-US" smtClean="0"/>
              <a:pPr>
                <a:defRPr/>
              </a:pPr>
              <a:t>9</a:t>
            </a:fld>
            <a:endParaRPr lang="ja-JP" altLang="en-US"/>
          </a:p>
        </p:txBody>
      </p:sp>
    </p:spTree>
    <p:extLst>
      <p:ext uri="{BB962C8B-B14F-4D97-AF65-F5344CB8AC3E}">
        <p14:creationId xmlns:p14="http://schemas.microsoft.com/office/powerpoint/2010/main" val="3917519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40445-98C3-026F-8686-115C35240694}"/>
              </a:ext>
            </a:extLst>
          </p:cNvPr>
          <p:cNvSpPr>
            <a:spLocks noGrp="1"/>
          </p:cNvSpPr>
          <p:nvPr>
            <p:ph type="title"/>
          </p:nvPr>
        </p:nvSpPr>
        <p:spPr/>
        <p:txBody>
          <a:bodyPr/>
          <a:lstStyle/>
          <a:p>
            <a:r>
              <a:rPr lang="ja-JP" altLang="en-US" dirty="0"/>
              <a:t>指定濫用防止医薬品</a:t>
            </a:r>
            <a:endParaRPr kumimoji="1" lang="ja-JP" altLang="en-US" dirty="0"/>
          </a:p>
        </p:txBody>
      </p:sp>
      <p:sp>
        <p:nvSpPr>
          <p:cNvPr id="3" name="コンテンツ プレースホルダー 2">
            <a:extLst>
              <a:ext uri="{FF2B5EF4-FFF2-40B4-BE49-F238E27FC236}">
                <a16:creationId xmlns:a16="http://schemas.microsoft.com/office/drawing/2014/main" id="{087D8BBA-6A9F-0D45-755C-BB32FA1E11D0}"/>
              </a:ext>
            </a:extLst>
          </p:cNvPr>
          <p:cNvSpPr>
            <a:spLocks noGrp="1"/>
          </p:cNvSpPr>
          <p:nvPr>
            <p:ph idx="1"/>
          </p:nvPr>
        </p:nvSpPr>
        <p:spPr/>
        <p:txBody>
          <a:bodyPr/>
          <a:lstStyle/>
          <a:p>
            <a:endParaRPr kumimoji="1" lang="ja-JP" altLang="en-US"/>
          </a:p>
        </p:txBody>
      </p:sp>
      <p:pic>
        <p:nvPicPr>
          <p:cNvPr id="5" name="図 4" descr="The image shows a legal document outlining regulations for the proper use and distribution of a controlled substance, as specified by the Ministry of Health and Welfare in Japan.&#10;&#10;AI 生成コンテンツは誤りを含む可能性があります。">
            <a:extLst>
              <a:ext uri="{FF2B5EF4-FFF2-40B4-BE49-F238E27FC236}">
                <a16:creationId xmlns:a16="http://schemas.microsoft.com/office/drawing/2014/main" id="{818C7C56-A766-86EA-1E74-5BA406EE9381}"/>
              </a:ext>
            </a:extLst>
          </p:cNvPr>
          <p:cNvPicPr>
            <a:picLocks noChangeAspect="1"/>
          </p:cNvPicPr>
          <p:nvPr/>
        </p:nvPicPr>
        <p:blipFill>
          <a:blip r:embed="rId2"/>
          <a:stretch>
            <a:fillRect/>
          </a:stretch>
        </p:blipFill>
        <p:spPr>
          <a:xfrm>
            <a:off x="0" y="1535845"/>
            <a:ext cx="13208000" cy="6318641"/>
          </a:xfrm>
          <a:prstGeom prst="rect">
            <a:avLst/>
          </a:prstGeom>
        </p:spPr>
      </p:pic>
    </p:spTree>
    <p:extLst>
      <p:ext uri="{BB962C8B-B14F-4D97-AF65-F5344CB8AC3E}">
        <p14:creationId xmlns:p14="http://schemas.microsoft.com/office/powerpoint/2010/main" val="1518101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48FFD3-BC65-42B2-117A-022ED644945B}"/>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280C7E5C-4D96-DF4A-095B-A5BF7ABC8091}"/>
              </a:ext>
            </a:extLst>
          </p:cNvPr>
          <p:cNvSpPr>
            <a:spLocks noGrp="1"/>
          </p:cNvSpPr>
          <p:nvPr>
            <p:ph idx="1"/>
          </p:nvPr>
        </p:nvSpPr>
        <p:spPr/>
        <p:txBody>
          <a:bodyPr/>
          <a:lstStyle/>
          <a:p>
            <a:endParaRPr kumimoji="1" lang="ja-JP" altLang="en-US"/>
          </a:p>
        </p:txBody>
      </p:sp>
      <p:pic>
        <p:nvPicPr>
          <p:cNvPr id="5" name="図 4" descr="The image lists the eight specified substances from May 2026 that are under abuse prevention measures: Ephedrine, Codeine, Hydrocodone, Propranolol, Dextromethorphan (new), Diphenhydramine (new), Cetirizine, and Phenylephrine.&#10;&#10;AI 生成コンテンツは誤りを含む可能性があります。">
            <a:extLst>
              <a:ext uri="{FF2B5EF4-FFF2-40B4-BE49-F238E27FC236}">
                <a16:creationId xmlns:a16="http://schemas.microsoft.com/office/drawing/2014/main" id="{7C7EFC38-FB1B-6C94-19E0-30EEC80981DD}"/>
              </a:ext>
            </a:extLst>
          </p:cNvPr>
          <p:cNvPicPr>
            <a:picLocks noChangeAspect="1"/>
          </p:cNvPicPr>
          <p:nvPr/>
        </p:nvPicPr>
        <p:blipFill>
          <a:blip r:embed="rId2"/>
          <a:stretch>
            <a:fillRect/>
          </a:stretch>
        </p:blipFill>
        <p:spPr>
          <a:xfrm>
            <a:off x="0" y="64458"/>
            <a:ext cx="13208000" cy="9465735"/>
          </a:xfrm>
          <a:prstGeom prst="rect">
            <a:avLst/>
          </a:prstGeom>
        </p:spPr>
      </p:pic>
      <p:sp>
        <p:nvSpPr>
          <p:cNvPr id="7" name="テキスト ボックス 6">
            <a:extLst>
              <a:ext uri="{FF2B5EF4-FFF2-40B4-BE49-F238E27FC236}">
                <a16:creationId xmlns:a16="http://schemas.microsoft.com/office/drawing/2014/main" id="{E23EADF6-EEA8-936F-DE48-D092EFCF6265}"/>
              </a:ext>
            </a:extLst>
          </p:cNvPr>
          <p:cNvSpPr txBox="1"/>
          <p:nvPr/>
        </p:nvSpPr>
        <p:spPr>
          <a:xfrm>
            <a:off x="7332081" y="9526003"/>
            <a:ext cx="6709664" cy="369332"/>
          </a:xfrm>
          <a:prstGeom prst="rect">
            <a:avLst/>
          </a:prstGeom>
          <a:noFill/>
        </p:spPr>
        <p:txBody>
          <a:bodyPr wrap="square">
            <a:spAutoFit/>
          </a:bodyPr>
          <a:lstStyle/>
          <a:p>
            <a:r>
              <a:rPr lang="ja-JP" altLang="en-US" dirty="0">
                <a:solidFill>
                  <a:schemeClr val="bg1"/>
                </a:solidFill>
              </a:rPr>
              <a:t>https://info.tametoko.jp/column/1037/</a:t>
            </a:r>
          </a:p>
        </p:txBody>
      </p:sp>
    </p:spTree>
    <p:extLst>
      <p:ext uri="{BB962C8B-B14F-4D97-AF65-F5344CB8AC3E}">
        <p14:creationId xmlns:p14="http://schemas.microsoft.com/office/powerpoint/2010/main" val="810252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86F34-84E6-768F-6662-527F95F5B7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E8BC035-D9AF-6158-C04B-29AE37F49E48}"/>
              </a:ext>
            </a:extLst>
          </p:cNvPr>
          <p:cNvSpPr>
            <a:spLocks noGrp="1"/>
          </p:cNvSpPr>
          <p:nvPr>
            <p:ph type="title"/>
          </p:nvPr>
        </p:nvSpPr>
        <p:spPr/>
        <p:txBody>
          <a:bodyPr/>
          <a:lstStyle/>
          <a:p>
            <a:r>
              <a:rPr kumimoji="1" lang="ja-JP" altLang="en-US" dirty="0"/>
              <a:t>質問</a:t>
            </a:r>
          </a:p>
        </p:txBody>
      </p:sp>
      <p:sp>
        <p:nvSpPr>
          <p:cNvPr id="3" name="コンテンツ プレースホルダー 2">
            <a:extLst>
              <a:ext uri="{FF2B5EF4-FFF2-40B4-BE49-F238E27FC236}">
                <a16:creationId xmlns:a16="http://schemas.microsoft.com/office/drawing/2014/main" id="{11C3D87B-C650-CCCE-E79D-8CF6413D91A8}"/>
              </a:ext>
            </a:extLst>
          </p:cNvPr>
          <p:cNvSpPr>
            <a:spLocks noGrp="1"/>
          </p:cNvSpPr>
          <p:nvPr>
            <p:ph idx="1"/>
          </p:nvPr>
        </p:nvSpPr>
        <p:spPr>
          <a:xfrm>
            <a:off x="415312" y="1064568"/>
            <a:ext cx="12481387" cy="6261472"/>
          </a:xfrm>
        </p:spPr>
        <p:txBody>
          <a:bodyPr/>
          <a:lstStyle/>
          <a:p>
            <a:r>
              <a:rPr kumimoji="1" lang="ja-JP" altLang="en-US" dirty="0"/>
              <a:t>市販薬のオーバードーズについて質問があります。</a:t>
            </a:r>
            <a:endParaRPr kumimoji="1" lang="en-US" altLang="ja-JP" dirty="0"/>
          </a:p>
          <a:p>
            <a:r>
              <a:rPr lang="ja-JP" altLang="en-US" dirty="0"/>
              <a:t>授業のなかで販売のルールが変わるというお話がありました。ただ、今はインターネット等で色々なものが簡単に手に入ってしまう時代だと思います。そうした販売時のルールを厳しくするだけで、本当に若者の</a:t>
            </a:r>
            <a:r>
              <a:rPr lang="en-US" altLang="ja-JP" dirty="0"/>
              <a:t>OD</a:t>
            </a:r>
            <a:r>
              <a:rPr lang="ja-JP" altLang="en-US" dirty="0"/>
              <a:t>などを防ぐことはできるのでしょうか？</a:t>
            </a:r>
            <a:endParaRPr kumimoji="1" lang="ja-JP" altLang="en-US" dirty="0"/>
          </a:p>
        </p:txBody>
      </p:sp>
      <p:sp>
        <p:nvSpPr>
          <p:cNvPr id="4" name="スライド番号プレースホルダー 3">
            <a:extLst>
              <a:ext uri="{FF2B5EF4-FFF2-40B4-BE49-F238E27FC236}">
                <a16:creationId xmlns:a16="http://schemas.microsoft.com/office/drawing/2014/main" id="{33DBBD9A-41E7-97DB-02D4-F9FFF48EE0D0}"/>
              </a:ext>
            </a:extLst>
          </p:cNvPr>
          <p:cNvSpPr>
            <a:spLocks noGrp="1"/>
          </p:cNvSpPr>
          <p:nvPr>
            <p:ph type="sldNum" sz="quarter" idx="12"/>
          </p:nvPr>
        </p:nvSpPr>
        <p:spPr/>
        <p:txBody>
          <a:bodyPr/>
          <a:lstStyle/>
          <a:p>
            <a:pPr>
              <a:defRPr/>
            </a:pPr>
            <a:fld id="{6B43C332-1484-4553-8349-0303A35840A7}" type="slidenum">
              <a:rPr lang="ja-JP" altLang="en-US" smtClean="0"/>
              <a:pPr>
                <a:defRPr/>
              </a:pPr>
              <a:t>12</a:t>
            </a:fld>
            <a:endParaRPr lang="ja-JP" altLang="en-US"/>
          </a:p>
        </p:txBody>
      </p:sp>
      <p:sp>
        <p:nvSpPr>
          <p:cNvPr id="7" name="テキスト ボックス 6">
            <a:extLst>
              <a:ext uri="{FF2B5EF4-FFF2-40B4-BE49-F238E27FC236}">
                <a16:creationId xmlns:a16="http://schemas.microsoft.com/office/drawing/2014/main" id="{63C29D4D-9E0E-E40B-6E91-A1B566A8DA73}"/>
              </a:ext>
            </a:extLst>
          </p:cNvPr>
          <p:cNvSpPr txBox="1"/>
          <p:nvPr/>
        </p:nvSpPr>
        <p:spPr>
          <a:xfrm>
            <a:off x="1563440" y="7545706"/>
            <a:ext cx="8208912" cy="769441"/>
          </a:xfrm>
          <a:prstGeom prst="rect">
            <a:avLst/>
          </a:prstGeom>
          <a:noFill/>
        </p:spPr>
        <p:txBody>
          <a:bodyPr wrap="square">
            <a:spAutoFit/>
          </a:bodyPr>
          <a:lstStyle/>
          <a:p>
            <a:r>
              <a:rPr lang="ja-JP" altLang="en-US" sz="4400" dirty="0">
                <a:solidFill>
                  <a:srgbClr val="C00000"/>
                </a:solidFill>
                <a:latin typeface="HGPｺﾞｼｯｸE" pitchFamily="50" charset="-128"/>
                <a:ea typeface="HGPｺﾞｼｯｸE" pitchFamily="50" charset="-128"/>
              </a:rPr>
              <a:t>できませんね。</a:t>
            </a:r>
          </a:p>
        </p:txBody>
      </p:sp>
      <p:sp>
        <p:nvSpPr>
          <p:cNvPr id="6" name="矢印: 右 5">
            <a:extLst>
              <a:ext uri="{FF2B5EF4-FFF2-40B4-BE49-F238E27FC236}">
                <a16:creationId xmlns:a16="http://schemas.microsoft.com/office/drawing/2014/main" id="{D688B53E-B0E3-44FF-FFCC-D89FF52E1233}"/>
              </a:ext>
            </a:extLst>
          </p:cNvPr>
          <p:cNvSpPr/>
          <p:nvPr/>
        </p:nvSpPr>
        <p:spPr>
          <a:xfrm>
            <a:off x="807356" y="7595823"/>
            <a:ext cx="756084" cy="769441"/>
          </a:xfrm>
          <a:prstGeom prst="rightArrow">
            <a:avLst/>
          </a:prstGeom>
          <a:solidFill>
            <a:schemeClr val="accent2"/>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1892171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693C8-6268-5A5A-9158-839ED7E6B7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864581E-50BA-FEEB-52E2-1E08DEA36FAA}"/>
              </a:ext>
            </a:extLst>
          </p:cNvPr>
          <p:cNvSpPr>
            <a:spLocks noGrp="1"/>
          </p:cNvSpPr>
          <p:nvPr>
            <p:ph type="title"/>
          </p:nvPr>
        </p:nvSpPr>
        <p:spPr/>
        <p:txBody>
          <a:bodyPr/>
          <a:lstStyle/>
          <a:p>
            <a:r>
              <a:rPr kumimoji="1" lang="ja-JP" altLang="en-US" dirty="0"/>
              <a:t>質問</a:t>
            </a:r>
          </a:p>
        </p:txBody>
      </p:sp>
      <p:sp>
        <p:nvSpPr>
          <p:cNvPr id="3" name="コンテンツ プレースホルダー 2">
            <a:extLst>
              <a:ext uri="{FF2B5EF4-FFF2-40B4-BE49-F238E27FC236}">
                <a16:creationId xmlns:a16="http://schemas.microsoft.com/office/drawing/2014/main" id="{2F8FBA80-7C56-0E27-FE8D-72909356098B}"/>
              </a:ext>
            </a:extLst>
          </p:cNvPr>
          <p:cNvSpPr>
            <a:spLocks noGrp="1"/>
          </p:cNvSpPr>
          <p:nvPr>
            <p:ph idx="1"/>
          </p:nvPr>
        </p:nvSpPr>
        <p:spPr>
          <a:xfrm>
            <a:off x="415312" y="1064568"/>
            <a:ext cx="12481387" cy="6261472"/>
          </a:xfrm>
        </p:spPr>
        <p:txBody>
          <a:bodyPr/>
          <a:lstStyle/>
          <a:p>
            <a:r>
              <a:rPr kumimoji="1" lang="ja-JP" altLang="en-US" dirty="0"/>
              <a:t>実際に事件が起きたときに薬毒物についていち早く気づくために必要な資質などがあったら教えてほしいです。</a:t>
            </a:r>
          </a:p>
        </p:txBody>
      </p:sp>
      <p:sp>
        <p:nvSpPr>
          <p:cNvPr id="4" name="スライド番号プレースホルダー 3">
            <a:extLst>
              <a:ext uri="{FF2B5EF4-FFF2-40B4-BE49-F238E27FC236}">
                <a16:creationId xmlns:a16="http://schemas.microsoft.com/office/drawing/2014/main" id="{53C0B340-4959-9345-B6EB-EE8838E58802}"/>
              </a:ext>
            </a:extLst>
          </p:cNvPr>
          <p:cNvSpPr>
            <a:spLocks noGrp="1"/>
          </p:cNvSpPr>
          <p:nvPr>
            <p:ph type="sldNum" sz="quarter" idx="12"/>
          </p:nvPr>
        </p:nvSpPr>
        <p:spPr/>
        <p:txBody>
          <a:bodyPr/>
          <a:lstStyle/>
          <a:p>
            <a:pPr>
              <a:defRPr/>
            </a:pPr>
            <a:fld id="{6B43C332-1484-4553-8349-0303A35840A7}" type="slidenum">
              <a:rPr lang="ja-JP" altLang="en-US" smtClean="0"/>
              <a:pPr>
                <a:defRPr/>
              </a:pPr>
              <a:t>13</a:t>
            </a:fld>
            <a:endParaRPr lang="ja-JP" altLang="en-US"/>
          </a:p>
        </p:txBody>
      </p:sp>
    </p:spTree>
    <p:extLst>
      <p:ext uri="{BB962C8B-B14F-4D97-AF65-F5344CB8AC3E}">
        <p14:creationId xmlns:p14="http://schemas.microsoft.com/office/powerpoint/2010/main" val="4101060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01F75-33F7-B322-E3CD-7468F86FE1B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8C3C337-C6DC-93C8-7916-A4D1C0A452AC}"/>
              </a:ext>
            </a:extLst>
          </p:cNvPr>
          <p:cNvSpPr>
            <a:spLocks noGrp="1"/>
          </p:cNvSpPr>
          <p:nvPr>
            <p:ph type="title"/>
          </p:nvPr>
        </p:nvSpPr>
        <p:spPr/>
        <p:txBody>
          <a:bodyPr/>
          <a:lstStyle/>
          <a:p>
            <a:r>
              <a:rPr kumimoji="1" lang="ja-JP" altLang="en-US" dirty="0"/>
              <a:t>質問</a:t>
            </a:r>
          </a:p>
        </p:txBody>
      </p:sp>
      <p:sp>
        <p:nvSpPr>
          <p:cNvPr id="3" name="コンテンツ プレースホルダー 2">
            <a:extLst>
              <a:ext uri="{FF2B5EF4-FFF2-40B4-BE49-F238E27FC236}">
                <a16:creationId xmlns:a16="http://schemas.microsoft.com/office/drawing/2014/main" id="{1A8B0BF0-90AD-5A99-9427-A4BB101A6C14}"/>
              </a:ext>
            </a:extLst>
          </p:cNvPr>
          <p:cNvSpPr>
            <a:spLocks noGrp="1"/>
          </p:cNvSpPr>
          <p:nvPr>
            <p:ph idx="1"/>
          </p:nvPr>
        </p:nvSpPr>
        <p:spPr>
          <a:xfrm>
            <a:off x="415312" y="1064568"/>
            <a:ext cx="12481387" cy="6261472"/>
          </a:xfrm>
        </p:spPr>
        <p:txBody>
          <a:bodyPr/>
          <a:lstStyle/>
          <a:p>
            <a:r>
              <a:rPr kumimoji="1" lang="ja-JP" altLang="en-US" dirty="0"/>
              <a:t>実際に事件が起きたときに薬毒物についていち早く気づくために必要な資質などがあったら教えてほしいです。</a:t>
            </a:r>
          </a:p>
        </p:txBody>
      </p:sp>
      <p:sp>
        <p:nvSpPr>
          <p:cNvPr id="4" name="スライド番号プレースホルダー 3">
            <a:extLst>
              <a:ext uri="{FF2B5EF4-FFF2-40B4-BE49-F238E27FC236}">
                <a16:creationId xmlns:a16="http://schemas.microsoft.com/office/drawing/2014/main" id="{E86E4980-6B85-73BE-7F95-1003D8310941}"/>
              </a:ext>
            </a:extLst>
          </p:cNvPr>
          <p:cNvSpPr>
            <a:spLocks noGrp="1"/>
          </p:cNvSpPr>
          <p:nvPr>
            <p:ph type="sldNum" sz="quarter" idx="12"/>
          </p:nvPr>
        </p:nvSpPr>
        <p:spPr/>
        <p:txBody>
          <a:bodyPr/>
          <a:lstStyle/>
          <a:p>
            <a:pPr>
              <a:defRPr/>
            </a:pPr>
            <a:fld id="{6B43C332-1484-4553-8349-0303A35840A7}" type="slidenum">
              <a:rPr lang="ja-JP" altLang="en-US" smtClean="0"/>
              <a:pPr>
                <a:defRPr/>
              </a:pPr>
              <a:t>14</a:t>
            </a:fld>
            <a:endParaRPr lang="ja-JP" altLang="en-US"/>
          </a:p>
        </p:txBody>
      </p:sp>
      <p:sp>
        <p:nvSpPr>
          <p:cNvPr id="7" name="テキスト ボックス 6">
            <a:extLst>
              <a:ext uri="{FF2B5EF4-FFF2-40B4-BE49-F238E27FC236}">
                <a16:creationId xmlns:a16="http://schemas.microsoft.com/office/drawing/2014/main" id="{3A819F46-7959-3045-6377-60A43C622BD6}"/>
              </a:ext>
            </a:extLst>
          </p:cNvPr>
          <p:cNvSpPr txBox="1"/>
          <p:nvPr/>
        </p:nvSpPr>
        <p:spPr>
          <a:xfrm>
            <a:off x="1563440" y="4362823"/>
            <a:ext cx="10945216" cy="2800767"/>
          </a:xfrm>
          <a:prstGeom prst="rect">
            <a:avLst/>
          </a:prstGeom>
          <a:noFill/>
        </p:spPr>
        <p:txBody>
          <a:bodyPr wrap="square">
            <a:spAutoFit/>
          </a:bodyPr>
          <a:lstStyle/>
          <a:p>
            <a:r>
              <a:rPr lang="ja-JP" altLang="en-US" sz="4400" dirty="0">
                <a:solidFill>
                  <a:srgbClr val="C00000"/>
                </a:solidFill>
                <a:latin typeface="HGPｺﾞｼｯｸE" pitchFamily="50" charset="-128"/>
                <a:ea typeface="HGPｺﾞｼｯｸE" pitchFamily="50" charset="-128"/>
              </a:rPr>
              <a:t>頭の片隅に、もしかしたら薬毒物かも？との疑いがはさめることでしょうか？</a:t>
            </a:r>
            <a:endParaRPr lang="en-US" altLang="ja-JP" sz="4400" dirty="0">
              <a:solidFill>
                <a:srgbClr val="C00000"/>
              </a:solidFill>
              <a:latin typeface="HGPｺﾞｼｯｸE" pitchFamily="50" charset="-128"/>
              <a:ea typeface="HGPｺﾞｼｯｸE" pitchFamily="50" charset="-128"/>
            </a:endParaRPr>
          </a:p>
          <a:p>
            <a:r>
              <a:rPr lang="ja-JP" altLang="en-US" sz="4400" dirty="0">
                <a:solidFill>
                  <a:srgbClr val="C00000"/>
                </a:solidFill>
                <a:latin typeface="HGPｺﾞｼｯｸE" pitchFamily="50" charset="-128"/>
                <a:ea typeface="HGPｺﾞｼｯｸE" pitchFamily="50" charset="-128"/>
              </a:rPr>
              <a:t>多くの臨床例に埋没していってしまうと思います。</a:t>
            </a:r>
          </a:p>
        </p:txBody>
      </p:sp>
      <p:sp>
        <p:nvSpPr>
          <p:cNvPr id="6" name="矢印: 右 5">
            <a:extLst>
              <a:ext uri="{FF2B5EF4-FFF2-40B4-BE49-F238E27FC236}">
                <a16:creationId xmlns:a16="http://schemas.microsoft.com/office/drawing/2014/main" id="{78E25BD5-D1C0-8105-020B-AD9F3CC09FD6}"/>
              </a:ext>
            </a:extLst>
          </p:cNvPr>
          <p:cNvSpPr/>
          <p:nvPr/>
        </p:nvSpPr>
        <p:spPr>
          <a:xfrm>
            <a:off x="807356" y="4412940"/>
            <a:ext cx="756084" cy="769441"/>
          </a:xfrm>
          <a:prstGeom prst="rightArrow">
            <a:avLst/>
          </a:prstGeom>
          <a:solidFill>
            <a:schemeClr val="accent2"/>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1644985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6B229-9B80-6C31-50DD-DC4851E414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707F20D-453B-8C23-8077-565AC745712F}"/>
              </a:ext>
            </a:extLst>
          </p:cNvPr>
          <p:cNvSpPr>
            <a:spLocks noGrp="1"/>
          </p:cNvSpPr>
          <p:nvPr>
            <p:ph type="title"/>
          </p:nvPr>
        </p:nvSpPr>
        <p:spPr/>
        <p:txBody>
          <a:bodyPr/>
          <a:lstStyle/>
          <a:p>
            <a:r>
              <a:rPr kumimoji="1" lang="ja-JP" altLang="en-US" dirty="0"/>
              <a:t>質問</a:t>
            </a:r>
          </a:p>
        </p:txBody>
      </p:sp>
      <p:sp>
        <p:nvSpPr>
          <p:cNvPr id="3" name="コンテンツ プレースホルダー 2">
            <a:extLst>
              <a:ext uri="{FF2B5EF4-FFF2-40B4-BE49-F238E27FC236}">
                <a16:creationId xmlns:a16="http://schemas.microsoft.com/office/drawing/2014/main" id="{1FC107BF-727D-0D87-CB0F-87BF13D2B26D}"/>
              </a:ext>
            </a:extLst>
          </p:cNvPr>
          <p:cNvSpPr>
            <a:spLocks noGrp="1"/>
          </p:cNvSpPr>
          <p:nvPr>
            <p:ph idx="1"/>
          </p:nvPr>
        </p:nvSpPr>
        <p:spPr>
          <a:xfrm>
            <a:off x="415312" y="1064568"/>
            <a:ext cx="12481387" cy="6261472"/>
          </a:xfrm>
        </p:spPr>
        <p:txBody>
          <a:bodyPr/>
          <a:lstStyle/>
          <a:p>
            <a:r>
              <a:rPr kumimoji="1" lang="ja-JP" altLang="en-US" dirty="0"/>
              <a:t>合成ドラックは４つの項目を指定している構造が入っていると、それを合成ドラッグと呼ぶという理解で適切か？</a:t>
            </a:r>
          </a:p>
        </p:txBody>
      </p:sp>
      <p:sp>
        <p:nvSpPr>
          <p:cNvPr id="4" name="スライド番号プレースホルダー 3">
            <a:extLst>
              <a:ext uri="{FF2B5EF4-FFF2-40B4-BE49-F238E27FC236}">
                <a16:creationId xmlns:a16="http://schemas.microsoft.com/office/drawing/2014/main" id="{5FA96444-13B4-DC37-C7D1-B3E106B9CD59}"/>
              </a:ext>
            </a:extLst>
          </p:cNvPr>
          <p:cNvSpPr>
            <a:spLocks noGrp="1"/>
          </p:cNvSpPr>
          <p:nvPr>
            <p:ph type="sldNum" sz="quarter" idx="12"/>
          </p:nvPr>
        </p:nvSpPr>
        <p:spPr/>
        <p:txBody>
          <a:bodyPr/>
          <a:lstStyle/>
          <a:p>
            <a:pPr>
              <a:defRPr/>
            </a:pPr>
            <a:fld id="{6B43C332-1484-4553-8349-0303A35840A7}" type="slidenum">
              <a:rPr lang="ja-JP" altLang="en-US" smtClean="0"/>
              <a:pPr>
                <a:defRPr/>
              </a:pPr>
              <a:t>15</a:t>
            </a:fld>
            <a:endParaRPr lang="ja-JP" altLang="en-US"/>
          </a:p>
        </p:txBody>
      </p:sp>
      <p:pic>
        <p:nvPicPr>
          <p:cNvPr id="8" name="図 7" descr="The image illustrates the structural formula of synthetic cannabinoids, depicting various chemical components such as indole, indazole, carbonyl, and quinolinyl, as well as specific compounds like JWH-018 and 3-methylbutanamide.&#10;&#10;AI 生成コンテンツは誤りを含む可能性があります。">
            <a:extLst>
              <a:ext uri="{FF2B5EF4-FFF2-40B4-BE49-F238E27FC236}">
                <a16:creationId xmlns:a16="http://schemas.microsoft.com/office/drawing/2014/main" id="{EB528DE3-245C-BCBE-DA7D-861AB4F40B11}"/>
              </a:ext>
            </a:extLst>
          </p:cNvPr>
          <p:cNvPicPr>
            <a:picLocks noChangeAspect="1"/>
          </p:cNvPicPr>
          <p:nvPr/>
        </p:nvPicPr>
        <p:blipFill>
          <a:blip r:embed="rId2"/>
          <a:stretch>
            <a:fillRect/>
          </a:stretch>
        </p:blipFill>
        <p:spPr>
          <a:xfrm>
            <a:off x="5379864" y="3728864"/>
            <a:ext cx="7192799" cy="5457907"/>
          </a:xfrm>
          <a:prstGeom prst="rect">
            <a:avLst/>
          </a:prstGeom>
        </p:spPr>
      </p:pic>
    </p:spTree>
    <p:extLst>
      <p:ext uri="{BB962C8B-B14F-4D97-AF65-F5344CB8AC3E}">
        <p14:creationId xmlns:p14="http://schemas.microsoft.com/office/powerpoint/2010/main" val="2816304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4E1F9-A574-CED2-E2A8-2F1A0442F62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0F1A97F-F907-9147-4425-05573FC03551}"/>
              </a:ext>
            </a:extLst>
          </p:cNvPr>
          <p:cNvSpPr>
            <a:spLocks noGrp="1"/>
          </p:cNvSpPr>
          <p:nvPr>
            <p:ph type="title"/>
          </p:nvPr>
        </p:nvSpPr>
        <p:spPr/>
        <p:txBody>
          <a:bodyPr/>
          <a:lstStyle/>
          <a:p>
            <a:r>
              <a:rPr kumimoji="1" lang="ja-JP" altLang="en-US" dirty="0"/>
              <a:t>質問</a:t>
            </a:r>
          </a:p>
        </p:txBody>
      </p:sp>
      <p:sp>
        <p:nvSpPr>
          <p:cNvPr id="3" name="コンテンツ プレースホルダー 2">
            <a:extLst>
              <a:ext uri="{FF2B5EF4-FFF2-40B4-BE49-F238E27FC236}">
                <a16:creationId xmlns:a16="http://schemas.microsoft.com/office/drawing/2014/main" id="{B61874E0-0AB9-1F82-89A1-5F8F4BC8B893}"/>
              </a:ext>
            </a:extLst>
          </p:cNvPr>
          <p:cNvSpPr>
            <a:spLocks noGrp="1"/>
          </p:cNvSpPr>
          <p:nvPr>
            <p:ph idx="1"/>
          </p:nvPr>
        </p:nvSpPr>
        <p:spPr>
          <a:xfrm>
            <a:off x="415312" y="1064568"/>
            <a:ext cx="12481387" cy="6261472"/>
          </a:xfrm>
        </p:spPr>
        <p:txBody>
          <a:bodyPr/>
          <a:lstStyle/>
          <a:p>
            <a:r>
              <a:rPr kumimoji="1" lang="ja-JP" altLang="en-US" dirty="0"/>
              <a:t>合成ドラックは４つの項目を指定している構造が入っていると、それを合成ドラッグと呼ぶという理解で適切か？</a:t>
            </a:r>
          </a:p>
        </p:txBody>
      </p:sp>
      <p:sp>
        <p:nvSpPr>
          <p:cNvPr id="4" name="スライド番号プレースホルダー 3">
            <a:extLst>
              <a:ext uri="{FF2B5EF4-FFF2-40B4-BE49-F238E27FC236}">
                <a16:creationId xmlns:a16="http://schemas.microsoft.com/office/drawing/2014/main" id="{B8679ACC-39AF-8A6E-986A-F1E3E74ED53C}"/>
              </a:ext>
            </a:extLst>
          </p:cNvPr>
          <p:cNvSpPr>
            <a:spLocks noGrp="1"/>
          </p:cNvSpPr>
          <p:nvPr>
            <p:ph type="sldNum" sz="quarter" idx="12"/>
          </p:nvPr>
        </p:nvSpPr>
        <p:spPr/>
        <p:txBody>
          <a:bodyPr/>
          <a:lstStyle/>
          <a:p>
            <a:pPr>
              <a:defRPr/>
            </a:pPr>
            <a:fld id="{6B43C332-1484-4553-8349-0303A35840A7}" type="slidenum">
              <a:rPr lang="ja-JP" altLang="en-US" smtClean="0"/>
              <a:pPr>
                <a:defRPr/>
              </a:pPr>
              <a:t>16</a:t>
            </a:fld>
            <a:endParaRPr lang="ja-JP" altLang="en-US"/>
          </a:p>
        </p:txBody>
      </p:sp>
      <p:pic>
        <p:nvPicPr>
          <p:cNvPr id="8" name="図 7" descr="The image illustrates the structural formula of synthetic cannabinoids, depicting various chemical components such as indole, indazole, carbonyl, and quinolinyl, as well as specific compounds like JWH-018 and 3-methylbutanamide.&#10;&#10;AI 生成コンテンツは誤りを含む可能性があります。">
            <a:extLst>
              <a:ext uri="{FF2B5EF4-FFF2-40B4-BE49-F238E27FC236}">
                <a16:creationId xmlns:a16="http://schemas.microsoft.com/office/drawing/2014/main" id="{9FF729F9-D05F-D8D5-B2AD-D824F89173A2}"/>
              </a:ext>
            </a:extLst>
          </p:cNvPr>
          <p:cNvPicPr>
            <a:picLocks noChangeAspect="1"/>
          </p:cNvPicPr>
          <p:nvPr/>
        </p:nvPicPr>
        <p:blipFill>
          <a:blip r:embed="rId2"/>
          <a:stretch>
            <a:fillRect/>
          </a:stretch>
        </p:blipFill>
        <p:spPr>
          <a:xfrm>
            <a:off x="5379864" y="3728864"/>
            <a:ext cx="7192799" cy="5457907"/>
          </a:xfrm>
          <a:prstGeom prst="rect">
            <a:avLst/>
          </a:prstGeom>
        </p:spPr>
      </p:pic>
      <p:sp>
        <p:nvSpPr>
          <p:cNvPr id="5" name="テキスト ボックス 4">
            <a:extLst>
              <a:ext uri="{FF2B5EF4-FFF2-40B4-BE49-F238E27FC236}">
                <a16:creationId xmlns:a16="http://schemas.microsoft.com/office/drawing/2014/main" id="{31596307-8310-1FAF-1884-3682724AA57E}"/>
              </a:ext>
            </a:extLst>
          </p:cNvPr>
          <p:cNvSpPr txBox="1"/>
          <p:nvPr/>
        </p:nvSpPr>
        <p:spPr>
          <a:xfrm>
            <a:off x="155284" y="5132264"/>
            <a:ext cx="5224580" cy="4154984"/>
          </a:xfrm>
          <a:prstGeom prst="rect">
            <a:avLst/>
          </a:prstGeom>
          <a:noFill/>
        </p:spPr>
        <p:txBody>
          <a:bodyPr wrap="square">
            <a:spAutoFit/>
          </a:bodyPr>
          <a:lstStyle/>
          <a:p>
            <a:r>
              <a:rPr lang="ja-JP" altLang="en-US" sz="4400" dirty="0">
                <a:solidFill>
                  <a:srgbClr val="C00000"/>
                </a:solidFill>
                <a:latin typeface="HGPｺﾞｼｯｸE" pitchFamily="50" charset="-128"/>
                <a:ea typeface="HGPｺﾞｼｯｸE" pitchFamily="50" charset="-128"/>
              </a:rPr>
              <a:t>この例は</a:t>
            </a:r>
            <a:endParaRPr lang="en-US" altLang="ja-JP" sz="4400" dirty="0">
              <a:solidFill>
                <a:srgbClr val="C00000"/>
              </a:solidFill>
              <a:latin typeface="HGPｺﾞｼｯｸE" pitchFamily="50" charset="-128"/>
              <a:ea typeface="HGPｺﾞｼｯｸE" pitchFamily="50" charset="-128"/>
            </a:endParaRPr>
          </a:p>
          <a:p>
            <a:r>
              <a:rPr lang="ja-JP" altLang="en-US" sz="4400" dirty="0">
                <a:solidFill>
                  <a:srgbClr val="C00000"/>
                </a:solidFill>
                <a:latin typeface="HGPｺﾞｼｯｸE" pitchFamily="50" charset="-128"/>
                <a:ea typeface="HGPｺﾞｼｯｸE" pitchFamily="50" charset="-128"/>
              </a:rPr>
              <a:t>「合成カンナビノイド」</a:t>
            </a:r>
            <a:endParaRPr lang="en-US" altLang="ja-JP" sz="4400" dirty="0">
              <a:solidFill>
                <a:srgbClr val="C00000"/>
              </a:solidFill>
              <a:latin typeface="HGPｺﾞｼｯｸE" pitchFamily="50" charset="-128"/>
              <a:ea typeface="HGPｺﾞｼｯｸE" pitchFamily="50" charset="-128"/>
            </a:endParaRPr>
          </a:p>
          <a:p>
            <a:r>
              <a:rPr lang="en-US" altLang="ja-JP" sz="4400" dirty="0">
                <a:solidFill>
                  <a:srgbClr val="C00000"/>
                </a:solidFill>
                <a:latin typeface="HGPｺﾞｼｯｸE" pitchFamily="50" charset="-128"/>
                <a:ea typeface="HGPｺﾞｼｯｸE" pitchFamily="50" charset="-128"/>
              </a:rPr>
              <a:t>A,B,C,D,</a:t>
            </a:r>
            <a:r>
              <a:rPr lang="ja-JP" altLang="en-US" sz="4400" dirty="0">
                <a:solidFill>
                  <a:srgbClr val="C00000"/>
                </a:solidFill>
                <a:latin typeface="HGPｺﾞｼｯｸE" pitchFamily="50" charset="-128"/>
                <a:ea typeface="HGPｺﾞｼｯｸE" pitchFamily="50" charset="-128"/>
              </a:rPr>
              <a:t>それぞれのパーツをちょこっと変えてもカンナビノイド作用がある。</a:t>
            </a:r>
          </a:p>
        </p:txBody>
      </p:sp>
      <p:sp>
        <p:nvSpPr>
          <p:cNvPr id="6" name="矢印: 右 5">
            <a:extLst>
              <a:ext uri="{FF2B5EF4-FFF2-40B4-BE49-F238E27FC236}">
                <a16:creationId xmlns:a16="http://schemas.microsoft.com/office/drawing/2014/main" id="{B66F0AB6-E87A-BA39-98D8-B117E8956D7C}"/>
              </a:ext>
            </a:extLst>
          </p:cNvPr>
          <p:cNvSpPr/>
          <p:nvPr/>
        </p:nvSpPr>
        <p:spPr>
          <a:xfrm>
            <a:off x="483320" y="4362823"/>
            <a:ext cx="756084" cy="769441"/>
          </a:xfrm>
          <a:prstGeom prst="rightArrow">
            <a:avLst/>
          </a:prstGeom>
          <a:solidFill>
            <a:schemeClr val="accent2"/>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1650563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710763-BD80-FFCA-6A87-823E310C9972}"/>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A4AE0A38-06CD-1811-FC21-778A05E5A779}"/>
              </a:ext>
            </a:extLst>
          </p:cNvPr>
          <p:cNvSpPr>
            <a:spLocks noGrp="1"/>
          </p:cNvSpPr>
          <p:nvPr>
            <p:ph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E0E9439-2EFC-4196-9784-CB1998C04B49}"/>
              </a:ext>
            </a:extLst>
          </p:cNvPr>
          <p:cNvSpPr>
            <a:spLocks noGrp="1"/>
          </p:cNvSpPr>
          <p:nvPr>
            <p:ph type="sldNum" sz="quarter" idx="12"/>
          </p:nvPr>
        </p:nvSpPr>
        <p:spPr/>
        <p:txBody>
          <a:bodyPr/>
          <a:lstStyle/>
          <a:p>
            <a:pPr>
              <a:defRPr/>
            </a:pPr>
            <a:fld id="{6B43C332-1484-4553-8349-0303A35840A7}" type="slidenum">
              <a:rPr lang="ja-JP" altLang="en-US" smtClean="0"/>
              <a:pPr>
                <a:defRPr/>
              </a:pPr>
              <a:t>17</a:t>
            </a:fld>
            <a:endParaRPr lang="ja-JP" altLang="en-US"/>
          </a:p>
        </p:txBody>
      </p:sp>
      <p:pic>
        <p:nvPicPr>
          <p:cNvPr id="5" name="図 4">
            <a:extLst>
              <a:ext uri="{FF2B5EF4-FFF2-40B4-BE49-F238E27FC236}">
                <a16:creationId xmlns:a16="http://schemas.microsoft.com/office/drawing/2014/main" id="{18432A5B-CA0F-32C6-477F-84276D5EECFA}"/>
              </a:ext>
            </a:extLst>
          </p:cNvPr>
          <p:cNvPicPr>
            <a:picLocks noChangeAspect="1"/>
          </p:cNvPicPr>
          <p:nvPr/>
        </p:nvPicPr>
        <p:blipFill>
          <a:blip r:embed="rId2"/>
          <a:stretch>
            <a:fillRect/>
          </a:stretch>
        </p:blipFill>
        <p:spPr>
          <a:xfrm>
            <a:off x="6437655" y="4376936"/>
            <a:ext cx="6401693" cy="4820323"/>
          </a:xfrm>
          <a:prstGeom prst="rect">
            <a:avLst/>
          </a:prstGeom>
        </p:spPr>
      </p:pic>
      <p:sp>
        <p:nvSpPr>
          <p:cNvPr id="6" name="タイトル 1">
            <a:extLst>
              <a:ext uri="{FF2B5EF4-FFF2-40B4-BE49-F238E27FC236}">
                <a16:creationId xmlns:a16="http://schemas.microsoft.com/office/drawing/2014/main" id="{0FCC1C94-A0B0-63F4-AFE2-6D8113ACF1E3}"/>
              </a:ext>
            </a:extLst>
          </p:cNvPr>
          <p:cNvSpPr txBox="1">
            <a:spLocks/>
          </p:cNvSpPr>
          <p:nvPr/>
        </p:nvSpPr>
        <p:spPr bwMode="auto">
          <a:xfrm>
            <a:off x="155284" y="64458"/>
            <a:ext cx="13001444" cy="57709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700" kern="1200">
                <a:solidFill>
                  <a:schemeClr val="bg1"/>
                </a:solidFill>
                <a:latin typeface="HGPｺﾞｼｯｸE" pitchFamily="50" charset="-128"/>
                <a:ea typeface="HGPｺﾞｼｯｸE" pitchFamily="50" charset="-128"/>
                <a:cs typeface="+mj-cs"/>
              </a:defRPr>
            </a:lvl1pPr>
            <a:lvl2pPr algn="ctr" rtl="0" eaLnBrk="0" fontAlgn="base" hangingPunct="0">
              <a:spcBef>
                <a:spcPct val="0"/>
              </a:spcBef>
              <a:spcAft>
                <a:spcPct val="0"/>
              </a:spcAft>
              <a:defRPr kumimoji="1" sz="3300">
                <a:solidFill>
                  <a:schemeClr val="tx1"/>
                </a:solidFill>
                <a:latin typeface="Calibri" pitchFamily="34" charset="0"/>
                <a:ea typeface="ＭＳ Ｐゴシック" pitchFamily="50" charset="-128"/>
              </a:defRPr>
            </a:lvl2pPr>
            <a:lvl3pPr algn="ctr" rtl="0" eaLnBrk="0" fontAlgn="base" hangingPunct="0">
              <a:spcBef>
                <a:spcPct val="0"/>
              </a:spcBef>
              <a:spcAft>
                <a:spcPct val="0"/>
              </a:spcAft>
              <a:defRPr kumimoji="1" sz="3300">
                <a:solidFill>
                  <a:schemeClr val="tx1"/>
                </a:solidFill>
                <a:latin typeface="Calibri" pitchFamily="34" charset="0"/>
                <a:ea typeface="ＭＳ Ｐゴシック" pitchFamily="50" charset="-128"/>
              </a:defRPr>
            </a:lvl3pPr>
            <a:lvl4pPr algn="ctr" rtl="0" eaLnBrk="0" fontAlgn="base" hangingPunct="0">
              <a:spcBef>
                <a:spcPct val="0"/>
              </a:spcBef>
              <a:spcAft>
                <a:spcPct val="0"/>
              </a:spcAft>
              <a:defRPr kumimoji="1" sz="3300">
                <a:solidFill>
                  <a:schemeClr val="tx1"/>
                </a:solidFill>
                <a:latin typeface="Calibri" pitchFamily="34" charset="0"/>
                <a:ea typeface="ＭＳ Ｐゴシック" pitchFamily="50" charset="-128"/>
              </a:defRPr>
            </a:lvl4pPr>
            <a:lvl5pPr algn="ctr" rtl="0" eaLnBrk="0" fontAlgn="base" hangingPunct="0">
              <a:spcBef>
                <a:spcPct val="0"/>
              </a:spcBef>
              <a:spcAft>
                <a:spcPct val="0"/>
              </a:spcAft>
              <a:defRPr kumimoji="1" sz="3300">
                <a:solidFill>
                  <a:schemeClr val="tx1"/>
                </a:solidFill>
                <a:latin typeface="Calibri" pitchFamily="34" charset="0"/>
                <a:ea typeface="ＭＳ Ｐゴシック" pitchFamily="50" charset="-128"/>
              </a:defRPr>
            </a:lvl5pPr>
            <a:lvl6pPr marL="342900" algn="ctr" rtl="0" fontAlgn="base">
              <a:spcBef>
                <a:spcPct val="0"/>
              </a:spcBef>
              <a:spcAft>
                <a:spcPct val="0"/>
              </a:spcAft>
              <a:defRPr kumimoji="1" sz="3300">
                <a:solidFill>
                  <a:schemeClr val="tx1"/>
                </a:solidFill>
                <a:latin typeface="Calibri" pitchFamily="34" charset="0"/>
                <a:ea typeface="ＭＳ Ｐゴシック" pitchFamily="50" charset="-128"/>
              </a:defRPr>
            </a:lvl6pPr>
            <a:lvl7pPr marL="685800" algn="ctr" rtl="0" fontAlgn="base">
              <a:spcBef>
                <a:spcPct val="0"/>
              </a:spcBef>
              <a:spcAft>
                <a:spcPct val="0"/>
              </a:spcAft>
              <a:defRPr kumimoji="1" sz="3300">
                <a:solidFill>
                  <a:schemeClr val="tx1"/>
                </a:solidFill>
                <a:latin typeface="Calibri" pitchFamily="34" charset="0"/>
                <a:ea typeface="ＭＳ Ｐゴシック" pitchFamily="50" charset="-128"/>
              </a:defRPr>
            </a:lvl7pPr>
            <a:lvl8pPr marL="1028700" algn="ctr" rtl="0" fontAlgn="base">
              <a:spcBef>
                <a:spcPct val="0"/>
              </a:spcBef>
              <a:spcAft>
                <a:spcPct val="0"/>
              </a:spcAft>
              <a:defRPr kumimoji="1" sz="3300">
                <a:solidFill>
                  <a:schemeClr val="tx1"/>
                </a:solidFill>
                <a:latin typeface="Calibri" pitchFamily="34" charset="0"/>
                <a:ea typeface="ＭＳ Ｐゴシック" pitchFamily="50" charset="-128"/>
              </a:defRPr>
            </a:lvl8pPr>
            <a:lvl9pPr marL="1371600" algn="ctr" rtl="0" fontAlgn="base">
              <a:spcBef>
                <a:spcPct val="0"/>
              </a:spcBef>
              <a:spcAft>
                <a:spcPct val="0"/>
              </a:spcAft>
              <a:defRPr kumimoji="1" sz="3300">
                <a:solidFill>
                  <a:schemeClr val="tx1"/>
                </a:solidFill>
                <a:latin typeface="Calibri" pitchFamily="34" charset="0"/>
                <a:ea typeface="ＭＳ Ｐゴシック" pitchFamily="50" charset="-128"/>
              </a:defRPr>
            </a:lvl9pPr>
          </a:lstStyle>
          <a:p>
            <a:r>
              <a:rPr lang="ja-JP" altLang="en-US"/>
              <a:t>質問</a:t>
            </a:r>
            <a:endParaRPr lang="ja-JP" altLang="en-US" dirty="0"/>
          </a:p>
        </p:txBody>
      </p:sp>
      <p:sp>
        <p:nvSpPr>
          <p:cNvPr id="7" name="コンテンツ プレースホルダー 2">
            <a:extLst>
              <a:ext uri="{FF2B5EF4-FFF2-40B4-BE49-F238E27FC236}">
                <a16:creationId xmlns:a16="http://schemas.microsoft.com/office/drawing/2014/main" id="{6B53FAB3-056A-62A9-54C5-DAC905E41B02}"/>
              </a:ext>
            </a:extLst>
          </p:cNvPr>
          <p:cNvSpPr txBox="1">
            <a:spLocks/>
          </p:cNvSpPr>
          <p:nvPr/>
        </p:nvSpPr>
        <p:spPr bwMode="auto">
          <a:xfrm>
            <a:off x="196961" y="931555"/>
            <a:ext cx="12481387" cy="6261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lnSpc>
                <a:spcPct val="150000"/>
              </a:lnSpc>
              <a:spcBef>
                <a:spcPct val="20000"/>
              </a:spcBef>
              <a:spcAft>
                <a:spcPct val="0"/>
              </a:spcAft>
              <a:buFont typeface="Arial" charset="0"/>
              <a:buNone/>
              <a:defRPr kumimoji="1" sz="4400" kern="1200">
                <a:solidFill>
                  <a:schemeClr val="tx1">
                    <a:lumMod val="75000"/>
                    <a:lumOff val="25000"/>
                  </a:schemeClr>
                </a:solidFill>
                <a:latin typeface="HGPｺﾞｼｯｸE" pitchFamily="50" charset="-128"/>
                <a:ea typeface="HGPｺﾞｼｯｸE" pitchFamily="50" charset="-128"/>
                <a:cs typeface="+mn-cs"/>
              </a:defRPr>
            </a:lvl1pPr>
            <a:lvl2pPr marL="557213" indent="-214313" algn="l" rtl="0" eaLnBrk="0" fontAlgn="base" hangingPunct="0">
              <a:spcBef>
                <a:spcPct val="20000"/>
              </a:spcBef>
              <a:spcAft>
                <a:spcPct val="0"/>
              </a:spcAft>
              <a:buFont typeface="Arial" charset="0"/>
              <a:buChar char="–"/>
              <a:defRPr kumimoji="1" sz="2100" kern="1200">
                <a:solidFill>
                  <a:schemeClr val="tx1">
                    <a:lumMod val="75000"/>
                    <a:lumOff val="25000"/>
                  </a:schemeClr>
                </a:solidFill>
                <a:latin typeface="HGPｺﾞｼｯｸE" pitchFamily="50" charset="-128"/>
                <a:ea typeface="HGPｺﾞｼｯｸE" pitchFamily="50" charset="-128"/>
                <a:cs typeface="+mn-cs"/>
              </a:defRPr>
            </a:lvl2pPr>
            <a:lvl3pPr marL="857250" indent="-171450" algn="l" rtl="0" eaLnBrk="0" fontAlgn="base" hangingPunct="0">
              <a:spcBef>
                <a:spcPct val="20000"/>
              </a:spcBef>
              <a:spcAft>
                <a:spcPct val="0"/>
              </a:spcAft>
              <a:buFont typeface="Arial" charset="0"/>
              <a:buChar char="•"/>
              <a:defRPr kumimoji="1" sz="1800" kern="1200">
                <a:solidFill>
                  <a:schemeClr val="tx1">
                    <a:lumMod val="75000"/>
                    <a:lumOff val="25000"/>
                  </a:schemeClr>
                </a:solidFill>
                <a:latin typeface="HGPｺﾞｼｯｸE" pitchFamily="50" charset="-128"/>
                <a:ea typeface="HGPｺﾞｼｯｸE" pitchFamily="50" charset="-128"/>
                <a:cs typeface="+mn-cs"/>
              </a:defRPr>
            </a:lvl3pPr>
            <a:lvl4pPr marL="1200150" indent="-171450" algn="l" rtl="0" eaLnBrk="0" fontAlgn="base" hangingPunct="0">
              <a:spcBef>
                <a:spcPct val="20000"/>
              </a:spcBef>
              <a:spcAft>
                <a:spcPct val="0"/>
              </a:spcAft>
              <a:buFont typeface="Arial" charset="0"/>
              <a:buChar char="–"/>
              <a:defRPr kumimoji="1" sz="1500" kern="1200">
                <a:solidFill>
                  <a:schemeClr val="tx1">
                    <a:lumMod val="75000"/>
                    <a:lumOff val="25000"/>
                  </a:schemeClr>
                </a:solidFill>
                <a:latin typeface="HGPｺﾞｼｯｸE" pitchFamily="50" charset="-128"/>
                <a:ea typeface="HGPｺﾞｼｯｸE" pitchFamily="50" charset="-128"/>
                <a:cs typeface="+mn-cs"/>
              </a:defRPr>
            </a:lvl4pPr>
            <a:lvl5pPr marL="1543050" indent="-171450" algn="l" rtl="0" eaLnBrk="0" fontAlgn="base" hangingPunct="0">
              <a:spcBef>
                <a:spcPct val="20000"/>
              </a:spcBef>
              <a:spcAft>
                <a:spcPct val="0"/>
              </a:spcAft>
              <a:buFont typeface="Arial" charset="0"/>
              <a:buChar char="»"/>
              <a:defRPr kumimoji="1" sz="1500" kern="1200">
                <a:solidFill>
                  <a:schemeClr val="tx1">
                    <a:lumMod val="75000"/>
                    <a:lumOff val="25000"/>
                  </a:schemeClr>
                </a:solidFill>
                <a:latin typeface="HGPｺﾞｼｯｸE" pitchFamily="50" charset="-128"/>
                <a:ea typeface="HGPｺﾞｼｯｸE" pitchFamily="50" charset="-128"/>
                <a:cs typeface="+mn-cs"/>
              </a:defRPr>
            </a:lvl5pPr>
            <a:lvl6pPr marL="18859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kumimoji="1" sz="1500" kern="1200">
                <a:solidFill>
                  <a:schemeClr val="tx1"/>
                </a:solidFill>
                <a:latin typeface="+mn-lt"/>
                <a:ea typeface="+mn-ea"/>
                <a:cs typeface="+mn-cs"/>
              </a:defRPr>
            </a:lvl9pPr>
          </a:lstStyle>
          <a:p>
            <a:r>
              <a:rPr lang="ja-JP" altLang="en-US"/>
              <a:t>合成ドラックは４つの項目を指定している構造が入っていると、それを合成ドラッグと呼ぶという理解で適切か？</a:t>
            </a:r>
            <a:endParaRPr lang="ja-JP" altLang="en-US" dirty="0"/>
          </a:p>
        </p:txBody>
      </p:sp>
      <p:sp>
        <p:nvSpPr>
          <p:cNvPr id="8" name="テキスト ボックス 7">
            <a:extLst>
              <a:ext uri="{FF2B5EF4-FFF2-40B4-BE49-F238E27FC236}">
                <a16:creationId xmlns:a16="http://schemas.microsoft.com/office/drawing/2014/main" id="{5E9C70A8-779E-3095-B214-FE75B67CB969}"/>
              </a:ext>
            </a:extLst>
          </p:cNvPr>
          <p:cNvSpPr txBox="1"/>
          <p:nvPr/>
        </p:nvSpPr>
        <p:spPr>
          <a:xfrm>
            <a:off x="699344" y="5128324"/>
            <a:ext cx="5224580" cy="3477875"/>
          </a:xfrm>
          <a:prstGeom prst="rect">
            <a:avLst/>
          </a:prstGeom>
          <a:noFill/>
        </p:spPr>
        <p:txBody>
          <a:bodyPr wrap="square">
            <a:spAutoFit/>
          </a:bodyPr>
          <a:lstStyle/>
          <a:p>
            <a:r>
              <a:rPr lang="ja-JP" altLang="en-US" sz="4400" dirty="0">
                <a:solidFill>
                  <a:srgbClr val="C00000"/>
                </a:solidFill>
                <a:latin typeface="HGPｺﾞｼｯｸE" pitchFamily="50" charset="-128"/>
                <a:ea typeface="HGPｺﾞｼｯｸE" pitchFamily="50" charset="-128"/>
              </a:rPr>
              <a:t>それは作る側の論理で、対策側は、薬機法の包括指定で</a:t>
            </a:r>
            <a:endParaRPr lang="en-US" altLang="ja-JP" sz="4400" dirty="0">
              <a:solidFill>
                <a:srgbClr val="C00000"/>
              </a:solidFill>
              <a:latin typeface="HGPｺﾞｼｯｸE" pitchFamily="50" charset="-128"/>
              <a:ea typeface="HGPｺﾞｼｯｸE" pitchFamily="50" charset="-128"/>
            </a:endParaRPr>
          </a:p>
          <a:p>
            <a:r>
              <a:rPr lang="ja-JP" altLang="en-US" sz="4400" dirty="0">
                <a:solidFill>
                  <a:srgbClr val="C00000"/>
                </a:solidFill>
                <a:latin typeface="HGPｺﾞｼｯｸE" pitchFamily="50" charset="-128"/>
                <a:ea typeface="HGPｺﾞｼｯｸE" pitchFamily="50" charset="-128"/>
              </a:rPr>
              <a:t>「危険ドラック」として規制できるようにした。</a:t>
            </a:r>
          </a:p>
        </p:txBody>
      </p:sp>
      <p:sp>
        <p:nvSpPr>
          <p:cNvPr id="9" name="矢印: 右 8">
            <a:extLst>
              <a:ext uri="{FF2B5EF4-FFF2-40B4-BE49-F238E27FC236}">
                <a16:creationId xmlns:a16="http://schemas.microsoft.com/office/drawing/2014/main" id="{A4287915-B442-86B0-1CA4-F89721101B69}"/>
              </a:ext>
            </a:extLst>
          </p:cNvPr>
          <p:cNvSpPr/>
          <p:nvPr/>
        </p:nvSpPr>
        <p:spPr>
          <a:xfrm>
            <a:off x="483320" y="4362823"/>
            <a:ext cx="756084" cy="769441"/>
          </a:xfrm>
          <a:prstGeom prst="rightArrow">
            <a:avLst/>
          </a:prstGeom>
          <a:solidFill>
            <a:schemeClr val="accent2"/>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3027961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7A849-1256-A6F0-5547-0510F51A9A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2504E7-F3EB-443E-0BC5-3BD0BE1EC654}"/>
              </a:ext>
            </a:extLst>
          </p:cNvPr>
          <p:cNvSpPr>
            <a:spLocks noGrp="1"/>
          </p:cNvSpPr>
          <p:nvPr>
            <p:ph type="title"/>
          </p:nvPr>
        </p:nvSpPr>
        <p:spPr/>
        <p:txBody>
          <a:bodyPr/>
          <a:lstStyle/>
          <a:p>
            <a:r>
              <a:rPr kumimoji="1" lang="ja-JP" altLang="en-US" dirty="0"/>
              <a:t>質問</a:t>
            </a:r>
          </a:p>
        </p:txBody>
      </p:sp>
      <p:sp>
        <p:nvSpPr>
          <p:cNvPr id="3" name="コンテンツ プレースホルダー 2">
            <a:extLst>
              <a:ext uri="{FF2B5EF4-FFF2-40B4-BE49-F238E27FC236}">
                <a16:creationId xmlns:a16="http://schemas.microsoft.com/office/drawing/2014/main" id="{236FFF9D-8668-54CE-CF29-4352D3080380}"/>
              </a:ext>
            </a:extLst>
          </p:cNvPr>
          <p:cNvSpPr>
            <a:spLocks noGrp="1"/>
          </p:cNvSpPr>
          <p:nvPr>
            <p:ph idx="1"/>
          </p:nvPr>
        </p:nvSpPr>
        <p:spPr>
          <a:xfrm>
            <a:off x="415312" y="1064568"/>
            <a:ext cx="12481387" cy="6261472"/>
          </a:xfrm>
        </p:spPr>
        <p:txBody>
          <a:bodyPr/>
          <a:lstStyle/>
          <a:p>
            <a:r>
              <a:rPr kumimoji="1" lang="ja-JP" altLang="en-US" sz="4000" dirty="0"/>
              <a:t>農薬中毒内の「グルタミン酸受容体」のスライドで（（２）では「グルホシネートがグルタミン酸と同様に血液脳関門を通過しにくい」と記載されているが、（３）では「グルホシネートが脳内に移行してから直接作用を発現するまで時間を要する」と記載されている。グルタミン酸が脳内で過剰になると神経細胞死が引き起こされるため、血液脳関門を通過しにくいと学んだ記憶がある。構造が似ているから同様の移動をしているのか</a:t>
            </a:r>
          </a:p>
        </p:txBody>
      </p:sp>
      <p:sp>
        <p:nvSpPr>
          <p:cNvPr id="4" name="スライド番号プレースホルダー 3">
            <a:extLst>
              <a:ext uri="{FF2B5EF4-FFF2-40B4-BE49-F238E27FC236}">
                <a16:creationId xmlns:a16="http://schemas.microsoft.com/office/drawing/2014/main" id="{ED9EF826-7063-4C25-16D4-2C458D783BDF}"/>
              </a:ext>
            </a:extLst>
          </p:cNvPr>
          <p:cNvSpPr>
            <a:spLocks noGrp="1"/>
          </p:cNvSpPr>
          <p:nvPr>
            <p:ph type="sldNum" sz="quarter" idx="12"/>
          </p:nvPr>
        </p:nvSpPr>
        <p:spPr/>
        <p:txBody>
          <a:bodyPr/>
          <a:lstStyle/>
          <a:p>
            <a:pPr>
              <a:defRPr/>
            </a:pPr>
            <a:fld id="{6B43C332-1484-4553-8349-0303A35840A7}" type="slidenum">
              <a:rPr lang="ja-JP" altLang="en-US" smtClean="0"/>
              <a:pPr>
                <a:defRPr/>
              </a:pPr>
              <a:t>18</a:t>
            </a:fld>
            <a:endParaRPr lang="ja-JP" altLang="en-US"/>
          </a:p>
        </p:txBody>
      </p:sp>
    </p:spTree>
    <p:extLst>
      <p:ext uri="{BB962C8B-B14F-4D97-AF65-F5344CB8AC3E}">
        <p14:creationId xmlns:p14="http://schemas.microsoft.com/office/powerpoint/2010/main" val="2584866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グルタミン酸受容体</a:t>
            </a:r>
          </a:p>
        </p:txBody>
      </p:sp>
      <p:sp>
        <p:nvSpPr>
          <p:cNvPr id="3" name="コンテンツ プレースホルダー 2"/>
          <p:cNvSpPr>
            <a:spLocks noGrp="1"/>
          </p:cNvSpPr>
          <p:nvPr>
            <p:ph idx="1"/>
          </p:nvPr>
        </p:nvSpPr>
        <p:spPr>
          <a:xfrm>
            <a:off x="166364" y="1572625"/>
            <a:ext cx="12626324" cy="6537502"/>
          </a:xfrm>
        </p:spPr>
        <p:txBody>
          <a:bodyPr/>
          <a:lstStyle/>
          <a:p>
            <a:pPr>
              <a:lnSpc>
                <a:spcPct val="150000"/>
              </a:lnSpc>
            </a:pPr>
            <a:r>
              <a:rPr lang="en-US" altLang="ja-JP" sz="3467" dirty="0"/>
              <a:t>(1)</a:t>
            </a:r>
            <a:r>
              <a:rPr lang="ja-JP" altLang="en-US" sz="3467" dirty="0"/>
              <a:t>グルホシネートによりグルタミン合成が阻害され，アンモニアやグルタミン酸が蓄積することや，</a:t>
            </a:r>
            <a:r>
              <a:rPr lang="en-US" altLang="ja-JP" sz="3467" dirty="0"/>
              <a:t>(2)</a:t>
            </a:r>
            <a:r>
              <a:rPr lang="ja-JP" altLang="en-US" sz="3467" dirty="0">
                <a:solidFill>
                  <a:srgbClr val="C00000"/>
                </a:solidFill>
              </a:rPr>
              <a:t>グルホシネートがグルタミン酸と同様に血液脳関門を通過しにくい</a:t>
            </a:r>
            <a:r>
              <a:rPr lang="ja-JP" altLang="en-US" sz="3467" dirty="0"/>
              <a:t>こと，</a:t>
            </a:r>
            <a:r>
              <a:rPr lang="en-US" altLang="ja-JP" sz="3467" dirty="0"/>
              <a:t>(3)</a:t>
            </a:r>
            <a:r>
              <a:rPr lang="ja-JP" altLang="en-US" sz="3467" dirty="0"/>
              <a:t>グルホシネートが脳内に移行してから，直接作用を発現するまでに時間を要することが考えられる</a:t>
            </a:r>
          </a:p>
        </p:txBody>
      </p:sp>
      <p:sp>
        <p:nvSpPr>
          <p:cNvPr id="5" name="正方形/長方形 4"/>
          <p:cNvSpPr/>
          <p:nvPr/>
        </p:nvSpPr>
        <p:spPr>
          <a:xfrm>
            <a:off x="166364" y="8302252"/>
            <a:ext cx="5356595" cy="1159163"/>
          </a:xfrm>
          <a:prstGeom prst="rect">
            <a:avLst/>
          </a:prstGeom>
        </p:spPr>
        <p:txBody>
          <a:bodyPr wrap="square">
            <a:spAutoFit/>
          </a:bodyPr>
          <a:lstStyle/>
          <a:p>
            <a:r>
              <a:rPr lang="ja-JP" altLang="en-US" sz="2311" dirty="0">
                <a:solidFill>
                  <a:srgbClr val="222222"/>
                </a:solidFill>
                <a:latin typeface="Arial" panose="020B0604020202020204" pitchFamily="34" charset="0"/>
              </a:rPr>
              <a:t>小網 博之</a:t>
            </a:r>
            <a:r>
              <a:rPr lang="en-US" altLang="ja-JP" sz="2311" dirty="0">
                <a:solidFill>
                  <a:srgbClr val="222222"/>
                </a:solidFill>
                <a:latin typeface="Arial" panose="020B0604020202020204" pitchFamily="34" charset="0"/>
              </a:rPr>
              <a:t>. "</a:t>
            </a:r>
            <a:r>
              <a:rPr lang="ja-JP" altLang="en-US" sz="2311" dirty="0">
                <a:solidFill>
                  <a:srgbClr val="222222"/>
                </a:solidFill>
                <a:latin typeface="Arial" panose="020B0604020202020204" pitchFamily="34" charset="0"/>
              </a:rPr>
              <a:t>遅発性呼吸停止を来したグルホシネート中毒の</a:t>
            </a:r>
            <a:r>
              <a:rPr lang="en-US" altLang="ja-JP" sz="2311" dirty="0">
                <a:solidFill>
                  <a:srgbClr val="222222"/>
                </a:solidFill>
                <a:latin typeface="Arial" panose="020B0604020202020204" pitchFamily="34" charset="0"/>
              </a:rPr>
              <a:t>1</a:t>
            </a:r>
            <a:r>
              <a:rPr lang="ja-JP" altLang="en-US" sz="2311" dirty="0">
                <a:solidFill>
                  <a:srgbClr val="222222"/>
                </a:solidFill>
                <a:latin typeface="Arial" panose="020B0604020202020204" pitchFamily="34" charset="0"/>
              </a:rPr>
              <a:t>例</a:t>
            </a:r>
            <a:r>
              <a:rPr lang="en-US" altLang="ja-JP" sz="2311" dirty="0">
                <a:solidFill>
                  <a:srgbClr val="222222"/>
                </a:solidFill>
                <a:latin typeface="Arial" panose="020B0604020202020204" pitchFamily="34" charset="0"/>
              </a:rPr>
              <a:t>." </a:t>
            </a:r>
            <a:r>
              <a:rPr lang="ja-JP" altLang="en-US" sz="2311" i="1" dirty="0">
                <a:solidFill>
                  <a:srgbClr val="222222"/>
                </a:solidFill>
                <a:latin typeface="Arial" panose="020B0604020202020204" pitchFamily="34" charset="0"/>
              </a:rPr>
              <a:t>日本救急医学会雑誌</a:t>
            </a:r>
            <a:r>
              <a:rPr lang="ja-JP" altLang="en-US" sz="2311" dirty="0">
                <a:solidFill>
                  <a:srgbClr val="222222"/>
                </a:solidFill>
                <a:latin typeface="Arial" panose="020B0604020202020204" pitchFamily="34" charset="0"/>
              </a:rPr>
              <a:t> </a:t>
            </a:r>
            <a:r>
              <a:rPr lang="en-US" altLang="ja-JP" sz="2311" dirty="0">
                <a:solidFill>
                  <a:srgbClr val="222222"/>
                </a:solidFill>
                <a:latin typeface="Arial" panose="020B0604020202020204" pitchFamily="34" charset="0"/>
              </a:rPr>
              <a:t>26.1(2015): 30-35.</a:t>
            </a:r>
            <a:endParaRPr lang="ja-JP" altLang="en-US" sz="2311" dirty="0"/>
          </a:p>
        </p:txBody>
      </p:sp>
      <p:pic>
        <p:nvPicPr>
          <p:cNvPr id="5122" name="Picture 2">
            <a:extLst>
              <a:ext uri="{FF2B5EF4-FFF2-40B4-BE49-F238E27FC236}">
                <a16:creationId xmlns:a16="http://schemas.microsoft.com/office/drawing/2014/main" id="{63BDAA93-63AB-43EF-8A73-9130BAC8D8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7953" y="4736073"/>
            <a:ext cx="6760932" cy="4676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407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41F676-9945-E8FA-1EFD-6FEB7225715F}"/>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06EF50B-2E21-E481-E2A6-7B1BEBE64B9C}"/>
              </a:ext>
            </a:extLst>
          </p:cNvPr>
          <p:cNvSpPr>
            <a:spLocks noGrp="1"/>
          </p:cNvSpPr>
          <p:nvPr>
            <p:ph type="sldNum" sz="quarter" idx="12"/>
          </p:nvPr>
        </p:nvSpPr>
        <p:spPr/>
        <p:txBody>
          <a:bodyPr/>
          <a:lstStyle/>
          <a:p>
            <a:pPr>
              <a:defRPr/>
            </a:pPr>
            <a:fld id="{6B43C332-1484-4553-8349-0303A35840A7}" type="slidenum">
              <a:rPr lang="ja-JP" altLang="en-US" smtClean="0"/>
              <a:pPr>
                <a:defRPr/>
              </a:pPr>
              <a:t>20</a:t>
            </a:fld>
            <a:endParaRPr lang="ja-JP" altLang="en-US"/>
          </a:p>
        </p:txBody>
      </p:sp>
      <p:sp>
        <p:nvSpPr>
          <p:cNvPr id="8" name="テキスト ボックス 7">
            <a:extLst>
              <a:ext uri="{FF2B5EF4-FFF2-40B4-BE49-F238E27FC236}">
                <a16:creationId xmlns:a16="http://schemas.microsoft.com/office/drawing/2014/main" id="{948C93A3-F4ED-6725-A845-0056EC534030}"/>
              </a:ext>
            </a:extLst>
          </p:cNvPr>
          <p:cNvSpPr txBox="1"/>
          <p:nvPr/>
        </p:nvSpPr>
        <p:spPr>
          <a:xfrm>
            <a:off x="155284" y="848544"/>
            <a:ext cx="5508612" cy="5186035"/>
          </a:xfrm>
          <a:prstGeom prst="rect">
            <a:avLst/>
          </a:prstGeom>
          <a:noFill/>
        </p:spPr>
        <p:txBody>
          <a:bodyPr wrap="square">
            <a:spAutoFit/>
          </a:bodyPr>
          <a:lstStyle/>
          <a:p>
            <a:pPr>
              <a:spcBef>
                <a:spcPts val="1800"/>
              </a:spcBef>
              <a:spcAft>
                <a:spcPts val="900"/>
              </a:spcAft>
              <a:buNone/>
            </a:pPr>
            <a:r>
              <a:rPr lang="ja-JP" altLang="en-US" b="1" u="none" strike="noStrike" dirty="0">
                <a:effectLst/>
                <a:latin typeface="Arial" panose="020B0604020202020204" pitchFamily="34" charset="0"/>
              </a:rPr>
              <a:t>〇白丸（</a:t>
            </a:r>
            <a:r>
              <a:rPr lang="en-US" altLang="ja-JP" b="1" u="none" strike="noStrike" dirty="0">
                <a:effectLst/>
                <a:latin typeface="Arial" panose="020B0604020202020204" pitchFamily="34" charset="0"/>
              </a:rPr>
              <a:t>Open circles</a:t>
            </a:r>
            <a:r>
              <a:rPr lang="ja-JP" altLang="en-US" b="1" u="none" strike="noStrike" dirty="0">
                <a:effectLst/>
                <a:latin typeface="Arial" panose="020B0604020202020204" pitchFamily="34" charset="0"/>
              </a:rPr>
              <a:t>）：重症の患者（</a:t>
            </a:r>
            <a:r>
              <a:rPr lang="en-US" altLang="ja-JP" b="1" u="none" strike="noStrike" dirty="0">
                <a:effectLst/>
                <a:latin typeface="Arial" panose="020B0604020202020204" pitchFamily="34" charset="0"/>
              </a:rPr>
              <a:t>14</a:t>
            </a:r>
            <a:r>
              <a:rPr lang="ja-JP" altLang="en-US" b="1" u="none" strike="noStrike" dirty="0">
                <a:effectLst/>
                <a:latin typeface="Arial" panose="020B0604020202020204" pitchFamily="34" charset="0"/>
              </a:rPr>
              <a:t>名）</a:t>
            </a:r>
          </a:p>
          <a:p>
            <a:pPr>
              <a:spcBef>
                <a:spcPts val="900"/>
              </a:spcBef>
              <a:spcAft>
                <a:spcPts val="1200"/>
              </a:spcAft>
              <a:buNone/>
            </a:pPr>
            <a:r>
              <a:rPr lang="ja-JP" altLang="en-US" b="0" u="none" strike="noStrike" dirty="0">
                <a:effectLst/>
                <a:latin typeface="Arial" panose="020B0604020202020204" pitchFamily="34" charset="0"/>
              </a:rPr>
              <a:t>以下の</a:t>
            </a:r>
            <a:r>
              <a:rPr lang="en-US" altLang="ja-JP" b="1" u="none" strike="noStrike" dirty="0">
                <a:effectLst/>
                <a:latin typeface="Arial" panose="020B0604020202020204" pitchFamily="34" charset="0"/>
              </a:rPr>
              <a:t>3</a:t>
            </a:r>
            <a:r>
              <a:rPr lang="ja-JP" altLang="en-US" b="1" u="none" strike="noStrike" dirty="0">
                <a:effectLst/>
                <a:latin typeface="Arial" panose="020B0604020202020204" pitchFamily="34" charset="0"/>
              </a:rPr>
              <a:t>つの深刻な中枢神経症状のうち、</a:t>
            </a:r>
            <a:r>
              <a:rPr lang="en-US" altLang="ja-JP" b="1" u="none" strike="noStrike" dirty="0">
                <a:effectLst/>
                <a:latin typeface="Arial" panose="020B0604020202020204" pitchFamily="34" charset="0"/>
              </a:rPr>
              <a:t>1</a:t>
            </a:r>
            <a:r>
              <a:rPr lang="ja-JP" altLang="en-US" b="1" u="none" strike="noStrike" dirty="0">
                <a:effectLst/>
                <a:latin typeface="Arial" panose="020B0604020202020204" pitchFamily="34" charset="0"/>
              </a:rPr>
              <a:t>つ以上を発症した患者</a:t>
            </a:r>
            <a:r>
              <a:rPr lang="ja-JP" altLang="en-US" b="0" u="none" strike="noStrike" dirty="0">
                <a:effectLst/>
                <a:latin typeface="Arial" panose="020B0604020202020204" pitchFamily="34" charset="0"/>
              </a:rPr>
              <a:t>のデータ。</a:t>
            </a:r>
          </a:p>
          <a:p>
            <a:pPr>
              <a:spcBef>
                <a:spcPts val="900"/>
              </a:spcBef>
              <a:spcAft>
                <a:spcPts val="900"/>
              </a:spcAft>
              <a:buFont typeface="Arial" panose="020B0604020202020204" pitchFamily="34" charset="0"/>
              <a:buChar char="•"/>
            </a:pPr>
            <a:r>
              <a:rPr lang="ja-JP" altLang="en-US" b="1" u="none" strike="noStrike" dirty="0">
                <a:effectLst/>
                <a:latin typeface="Arial" panose="020B0604020202020204" pitchFamily="34" charset="0"/>
              </a:rPr>
              <a:t>昏睡</a:t>
            </a:r>
            <a:r>
              <a:rPr lang="ja-JP" altLang="en-US" b="0" u="none" strike="noStrike" dirty="0">
                <a:effectLst/>
                <a:latin typeface="Arial" panose="020B0604020202020204" pitchFamily="34" charset="0"/>
              </a:rPr>
              <a:t>（</a:t>
            </a:r>
            <a:r>
              <a:rPr lang="en-US" altLang="ja-JP" b="0" u="none" strike="noStrike" dirty="0">
                <a:effectLst/>
                <a:latin typeface="Arial" panose="020B0604020202020204" pitchFamily="34" charset="0"/>
              </a:rPr>
              <a:t>Coma</a:t>
            </a:r>
            <a:r>
              <a:rPr lang="ja-JP" altLang="en-US" b="0" u="none" strike="noStrike" dirty="0">
                <a:effectLst/>
                <a:latin typeface="Arial" panose="020B0604020202020204" pitchFamily="34" charset="0"/>
              </a:rPr>
              <a:t>）</a:t>
            </a:r>
          </a:p>
          <a:p>
            <a:pPr>
              <a:spcBef>
                <a:spcPts val="900"/>
              </a:spcBef>
              <a:spcAft>
                <a:spcPts val="900"/>
              </a:spcAft>
              <a:buFont typeface="Arial" panose="020B0604020202020204" pitchFamily="34" charset="0"/>
              <a:buChar char="•"/>
            </a:pPr>
            <a:r>
              <a:rPr lang="ja-JP" altLang="en-US" b="1" u="none" strike="noStrike" dirty="0">
                <a:effectLst/>
                <a:latin typeface="Arial" panose="020B0604020202020204" pitchFamily="34" charset="0"/>
              </a:rPr>
              <a:t>呼吸停止</a:t>
            </a:r>
            <a:r>
              <a:rPr lang="ja-JP" altLang="en-US" b="0" u="none" strike="noStrike" dirty="0">
                <a:effectLst/>
                <a:latin typeface="Arial" panose="020B0604020202020204" pitchFamily="34" charset="0"/>
              </a:rPr>
              <a:t>（</a:t>
            </a:r>
            <a:r>
              <a:rPr lang="en-US" altLang="ja-JP" b="0" u="none" strike="noStrike" dirty="0">
                <a:effectLst/>
                <a:latin typeface="Arial" panose="020B0604020202020204" pitchFamily="34" charset="0"/>
              </a:rPr>
              <a:t>Respiratory arrest</a:t>
            </a:r>
            <a:r>
              <a:rPr lang="ja-JP" altLang="en-US" b="0" u="none" strike="noStrike" dirty="0">
                <a:effectLst/>
                <a:latin typeface="Arial" panose="020B0604020202020204" pitchFamily="34" charset="0"/>
              </a:rPr>
              <a:t>）</a:t>
            </a:r>
          </a:p>
          <a:p>
            <a:pPr>
              <a:spcBef>
                <a:spcPts val="900"/>
              </a:spcBef>
              <a:spcAft>
                <a:spcPts val="900"/>
              </a:spcAft>
              <a:buFont typeface="Arial" panose="020B0604020202020204" pitchFamily="34" charset="0"/>
              <a:buChar char="•"/>
            </a:pPr>
            <a:r>
              <a:rPr lang="ja-JP" altLang="en-US" b="1" u="none" strike="noStrike" dirty="0">
                <a:effectLst/>
                <a:latin typeface="Arial" panose="020B0604020202020204" pitchFamily="34" charset="0"/>
              </a:rPr>
              <a:t>全身の痙攣</a:t>
            </a:r>
            <a:r>
              <a:rPr lang="ja-JP" altLang="en-US" b="0" u="none" strike="noStrike" dirty="0">
                <a:effectLst/>
                <a:latin typeface="Arial" panose="020B0604020202020204" pitchFamily="34" charset="0"/>
              </a:rPr>
              <a:t>（</a:t>
            </a:r>
            <a:r>
              <a:rPr lang="en-US" altLang="ja-JP" b="0" u="none" strike="noStrike" dirty="0">
                <a:effectLst/>
                <a:latin typeface="Arial" panose="020B0604020202020204" pitchFamily="34" charset="0"/>
              </a:rPr>
              <a:t>Generalized convulsion</a:t>
            </a:r>
            <a:r>
              <a:rPr lang="ja-JP" altLang="en-US" b="0" u="none" strike="noStrike" dirty="0">
                <a:effectLst/>
                <a:latin typeface="Arial" panose="020B0604020202020204" pitchFamily="34" charset="0"/>
              </a:rPr>
              <a:t>）</a:t>
            </a:r>
          </a:p>
          <a:p>
            <a:pPr>
              <a:spcBef>
                <a:spcPts val="900"/>
              </a:spcBef>
              <a:spcAft>
                <a:spcPts val="900"/>
              </a:spcAft>
              <a:buFont typeface="Arial" panose="020B0604020202020204" pitchFamily="34" charset="0"/>
              <a:buChar char="•"/>
            </a:pPr>
            <a:r>
              <a:rPr lang="ja-JP" altLang="en-US" b="0" u="none" strike="noStrike" dirty="0">
                <a:effectLst/>
                <a:latin typeface="Arial" panose="020B0604020202020204" pitchFamily="34" charset="0"/>
              </a:rPr>
              <a:t>グラフを見ると、時間の経過（横軸）に対して、血中グルホシネート濃度（縦軸）が全体的に高い位置にあります。</a:t>
            </a:r>
          </a:p>
          <a:p>
            <a:pPr>
              <a:spcBef>
                <a:spcPts val="1800"/>
              </a:spcBef>
              <a:spcAft>
                <a:spcPts val="900"/>
              </a:spcAft>
              <a:buNone/>
            </a:pPr>
            <a:r>
              <a:rPr lang="ja-JP" altLang="en-US" b="1" u="none" strike="noStrike" dirty="0">
                <a:effectLst/>
                <a:latin typeface="Arial" panose="020B0604020202020204" pitchFamily="34" charset="0"/>
              </a:rPr>
              <a:t>● 黒丸（</a:t>
            </a:r>
            <a:r>
              <a:rPr lang="en-US" altLang="ja-JP" b="1" u="none" strike="noStrike" dirty="0">
                <a:effectLst/>
                <a:latin typeface="Arial" panose="020B0604020202020204" pitchFamily="34" charset="0"/>
              </a:rPr>
              <a:t>Closed circles</a:t>
            </a:r>
            <a:r>
              <a:rPr lang="ja-JP" altLang="en-US" b="1" u="none" strike="noStrike" dirty="0">
                <a:effectLst/>
                <a:latin typeface="Arial" panose="020B0604020202020204" pitchFamily="34" charset="0"/>
              </a:rPr>
              <a:t>）：非重症の患者（</a:t>
            </a:r>
            <a:r>
              <a:rPr lang="en-US" altLang="ja-JP" b="1" u="none" strike="noStrike" dirty="0">
                <a:effectLst/>
                <a:latin typeface="Arial" panose="020B0604020202020204" pitchFamily="34" charset="0"/>
              </a:rPr>
              <a:t>6</a:t>
            </a:r>
            <a:r>
              <a:rPr lang="ja-JP" altLang="en-US" b="1" u="none" strike="noStrike" dirty="0">
                <a:effectLst/>
                <a:latin typeface="Arial" panose="020B0604020202020204" pitchFamily="34" charset="0"/>
              </a:rPr>
              <a:t>名）</a:t>
            </a:r>
          </a:p>
          <a:p>
            <a:pPr>
              <a:spcBef>
                <a:spcPts val="900"/>
              </a:spcBef>
              <a:spcAft>
                <a:spcPts val="1200"/>
              </a:spcAft>
              <a:buNone/>
            </a:pPr>
            <a:r>
              <a:rPr lang="ja-JP" altLang="en-US" b="0" u="none" strike="noStrike" dirty="0">
                <a:effectLst/>
                <a:latin typeface="Arial" panose="020B0604020202020204" pitchFamily="34" charset="0"/>
              </a:rPr>
              <a:t>上記の</a:t>
            </a:r>
            <a:r>
              <a:rPr lang="ja-JP" altLang="en-US" b="1" u="none" strike="noStrike" dirty="0">
                <a:effectLst/>
                <a:latin typeface="Arial" panose="020B0604020202020204" pitchFamily="34" charset="0"/>
              </a:rPr>
              <a:t>深刻な症状（昏睡・呼吸停止・痙攣）をいずれも発症しなかった患者</a:t>
            </a:r>
            <a:r>
              <a:rPr lang="ja-JP" altLang="en-US" b="0" u="none" strike="noStrike" dirty="0">
                <a:effectLst/>
                <a:latin typeface="Arial" panose="020B0604020202020204" pitchFamily="34" charset="0"/>
              </a:rPr>
              <a:t>のデータ。</a:t>
            </a:r>
          </a:p>
        </p:txBody>
      </p:sp>
      <p:pic>
        <p:nvPicPr>
          <p:cNvPr id="10" name="図 9" descr="This diagram illustrates the concentration of glufosinate in the blood over time, showing a declining trend from an initial high level of 100 ppm to a low of 0.1 ppm.&#10;&#10;AI 生成コンテンツは誤りを含む可能性があります。">
            <a:extLst>
              <a:ext uri="{FF2B5EF4-FFF2-40B4-BE49-F238E27FC236}">
                <a16:creationId xmlns:a16="http://schemas.microsoft.com/office/drawing/2014/main" id="{C1384293-E6FE-E4DA-B482-3C44EBFB6383}"/>
              </a:ext>
            </a:extLst>
          </p:cNvPr>
          <p:cNvPicPr>
            <a:picLocks noChangeAspect="1"/>
          </p:cNvPicPr>
          <p:nvPr/>
        </p:nvPicPr>
        <p:blipFill>
          <a:blip r:embed="rId2"/>
          <a:stretch>
            <a:fillRect/>
          </a:stretch>
        </p:blipFill>
        <p:spPr>
          <a:xfrm>
            <a:off x="5663896" y="3164452"/>
            <a:ext cx="7201905" cy="5249008"/>
          </a:xfrm>
          <a:prstGeom prst="rect">
            <a:avLst/>
          </a:prstGeom>
        </p:spPr>
      </p:pic>
      <p:sp>
        <p:nvSpPr>
          <p:cNvPr id="14" name="テキスト ボックス 13">
            <a:extLst>
              <a:ext uri="{FF2B5EF4-FFF2-40B4-BE49-F238E27FC236}">
                <a16:creationId xmlns:a16="http://schemas.microsoft.com/office/drawing/2014/main" id="{269A3B65-5A13-EE9E-F514-736F77DD5AA1}"/>
              </a:ext>
            </a:extLst>
          </p:cNvPr>
          <p:cNvSpPr txBox="1"/>
          <p:nvPr/>
        </p:nvSpPr>
        <p:spPr>
          <a:xfrm>
            <a:off x="428761" y="8758158"/>
            <a:ext cx="12350477" cy="646331"/>
          </a:xfrm>
          <a:prstGeom prst="rect">
            <a:avLst/>
          </a:prstGeom>
          <a:noFill/>
        </p:spPr>
        <p:txBody>
          <a:bodyPr wrap="square">
            <a:spAutoFit/>
          </a:bodyPr>
          <a:lstStyle/>
          <a:p>
            <a:r>
              <a:rPr lang="ja-JP" altLang="en-US" b="0" i="0" dirty="0">
                <a:solidFill>
                  <a:srgbClr val="222222"/>
                </a:solidFill>
                <a:effectLst/>
                <a:latin typeface="Arial" panose="020B0604020202020204" pitchFamily="34" charset="0"/>
              </a:rPr>
              <a:t>小山完二</a:t>
            </a:r>
            <a:r>
              <a:rPr lang="en-US" altLang="ja-JP" b="0" i="0" dirty="0">
                <a:solidFill>
                  <a:srgbClr val="222222"/>
                </a:solidFill>
                <a:effectLst/>
                <a:latin typeface="Arial" panose="020B0604020202020204" pitchFamily="34" charset="0"/>
              </a:rPr>
              <a:t>, </a:t>
            </a:r>
            <a:r>
              <a:rPr lang="ja-JP" altLang="en-US" b="0" i="0" dirty="0">
                <a:solidFill>
                  <a:srgbClr val="222222"/>
                </a:solidFill>
                <a:effectLst/>
                <a:latin typeface="Arial" panose="020B0604020202020204" pitchFamily="34" charset="0"/>
              </a:rPr>
              <a:t>広瀬保夫</a:t>
            </a:r>
            <a:r>
              <a:rPr lang="en-US" altLang="ja-JP" b="0" i="0" dirty="0">
                <a:solidFill>
                  <a:srgbClr val="222222"/>
                </a:solidFill>
                <a:effectLst/>
                <a:latin typeface="Arial" panose="020B0604020202020204" pitchFamily="34" charset="0"/>
              </a:rPr>
              <a:t>, </a:t>
            </a:r>
            <a:r>
              <a:rPr lang="ja-JP" altLang="en-US" b="0" i="0" dirty="0">
                <a:solidFill>
                  <a:srgbClr val="222222"/>
                </a:solidFill>
                <a:effectLst/>
                <a:latin typeface="Arial" panose="020B0604020202020204" pitchFamily="34" charset="0"/>
              </a:rPr>
              <a:t>奥田孝範</a:t>
            </a:r>
            <a:r>
              <a:rPr lang="en-US" altLang="ja-JP" b="0" i="0" dirty="0">
                <a:solidFill>
                  <a:srgbClr val="222222"/>
                </a:solidFill>
                <a:effectLst/>
                <a:latin typeface="Arial" panose="020B0604020202020204" pitchFamily="34" charset="0"/>
              </a:rPr>
              <a:t>, </a:t>
            </a:r>
            <a:r>
              <a:rPr lang="ja-JP" altLang="en-US" b="0" i="0" dirty="0">
                <a:solidFill>
                  <a:srgbClr val="222222"/>
                </a:solidFill>
                <a:effectLst/>
                <a:latin typeface="Arial" panose="020B0604020202020204" pitchFamily="34" charset="0"/>
              </a:rPr>
              <a:t>元川暁子</a:t>
            </a:r>
            <a:r>
              <a:rPr lang="en-US" altLang="ja-JP" b="0" i="0" dirty="0">
                <a:solidFill>
                  <a:srgbClr val="222222"/>
                </a:solidFill>
                <a:effectLst/>
                <a:latin typeface="Arial" panose="020B0604020202020204" pitchFamily="34" charset="0"/>
              </a:rPr>
              <a:t>, </a:t>
            </a:r>
            <a:r>
              <a:rPr lang="ja-JP" altLang="en-US" b="0" i="0" dirty="0">
                <a:solidFill>
                  <a:srgbClr val="222222"/>
                </a:solidFill>
                <a:effectLst/>
                <a:latin typeface="Arial" panose="020B0604020202020204" pitchFamily="34" charset="0"/>
              </a:rPr>
              <a:t>大橋教良</a:t>
            </a:r>
            <a:r>
              <a:rPr lang="en-US" altLang="ja-JP" b="0" i="0" dirty="0">
                <a:solidFill>
                  <a:srgbClr val="222222"/>
                </a:solidFill>
                <a:effectLst/>
                <a:latin typeface="Arial" panose="020B0604020202020204" pitchFamily="34" charset="0"/>
              </a:rPr>
              <a:t>, </a:t>
            </a:r>
            <a:r>
              <a:rPr lang="ja-JP" altLang="en-US" b="0" i="0" dirty="0">
                <a:solidFill>
                  <a:srgbClr val="222222"/>
                </a:solidFill>
                <a:effectLst/>
                <a:latin typeface="Arial" panose="020B0604020202020204" pitchFamily="34" charset="0"/>
              </a:rPr>
              <a:t>岩井美佐</a:t>
            </a:r>
            <a:r>
              <a:rPr lang="en-US" altLang="ja-JP" b="0" i="0" dirty="0">
                <a:solidFill>
                  <a:srgbClr val="222222"/>
                </a:solidFill>
                <a:effectLst/>
                <a:latin typeface="Arial" panose="020B0604020202020204" pitchFamily="34" charset="0"/>
              </a:rPr>
              <a:t>, ... &amp; </a:t>
            </a:r>
            <a:r>
              <a:rPr lang="ja-JP" altLang="en-US" b="0" i="0" dirty="0">
                <a:solidFill>
                  <a:srgbClr val="222222"/>
                </a:solidFill>
                <a:effectLst/>
                <a:latin typeface="Arial" panose="020B0604020202020204" pitchFamily="34" charset="0"/>
              </a:rPr>
              <a:t>後藤勝年</a:t>
            </a:r>
            <a:r>
              <a:rPr lang="en-US" altLang="ja-JP" b="0" i="0" dirty="0">
                <a:solidFill>
                  <a:srgbClr val="222222"/>
                </a:solidFill>
                <a:effectLst/>
                <a:latin typeface="Arial" panose="020B0604020202020204" pitchFamily="34" charset="0"/>
              </a:rPr>
              <a:t>. (1997). </a:t>
            </a:r>
            <a:r>
              <a:rPr lang="ja-JP" altLang="en-US" b="0" i="0" dirty="0">
                <a:solidFill>
                  <a:srgbClr val="222222"/>
                </a:solidFill>
                <a:effectLst/>
                <a:latin typeface="Arial" panose="020B0604020202020204" pitchFamily="34" charset="0"/>
              </a:rPr>
              <a:t>グルホシネート含有除草剤 </a:t>
            </a:r>
            <a:r>
              <a:rPr lang="en-US" altLang="ja-JP" b="0" i="0" dirty="0">
                <a:solidFill>
                  <a:srgbClr val="222222"/>
                </a:solidFill>
                <a:effectLst/>
                <a:latin typeface="Arial" panose="020B0604020202020204" pitchFamily="34" charset="0"/>
              </a:rPr>
              <a:t>(</a:t>
            </a:r>
            <a:r>
              <a:rPr lang="ja-JP" altLang="en-US" b="0" i="0" dirty="0">
                <a:solidFill>
                  <a:srgbClr val="222222"/>
                </a:solidFill>
                <a:effectLst/>
                <a:latin typeface="Arial" panose="020B0604020202020204" pitchFamily="34" charset="0"/>
              </a:rPr>
              <a:t>バスタ液剤</a:t>
            </a:r>
            <a:r>
              <a:rPr lang="en-US" altLang="ja-JP" b="0" i="0" dirty="0">
                <a:solidFill>
                  <a:srgbClr val="222222"/>
                </a:solidFill>
                <a:effectLst/>
                <a:latin typeface="Arial" panose="020B0604020202020204" pitchFamily="34" charset="0"/>
              </a:rPr>
              <a:t>) </a:t>
            </a:r>
            <a:r>
              <a:rPr lang="ja-JP" altLang="en-US" b="0" i="0" dirty="0">
                <a:solidFill>
                  <a:srgbClr val="222222"/>
                </a:solidFill>
                <a:effectLst/>
                <a:latin typeface="Arial" panose="020B0604020202020204" pitchFamily="34" charset="0"/>
              </a:rPr>
              <a:t>の服毒中毒における患者の重症化と血清グルホシネート濃度との関係</a:t>
            </a:r>
            <a:r>
              <a:rPr lang="en-US" altLang="ja-JP" b="0" i="0" dirty="0">
                <a:solidFill>
                  <a:srgbClr val="222222"/>
                </a:solidFill>
                <a:effectLst/>
                <a:latin typeface="Arial" panose="020B0604020202020204" pitchFamily="34" charset="0"/>
              </a:rPr>
              <a:t>. </a:t>
            </a:r>
            <a:r>
              <a:rPr lang="ja-JP" altLang="en-US" b="0" i="1" dirty="0">
                <a:solidFill>
                  <a:srgbClr val="222222"/>
                </a:solidFill>
                <a:effectLst/>
                <a:latin typeface="Arial" panose="020B0604020202020204" pitchFamily="34" charset="0"/>
              </a:rPr>
              <a:t>日本救急医学会雑誌</a:t>
            </a:r>
            <a:r>
              <a:rPr lang="en-US" altLang="ja-JP" b="0" i="0" dirty="0">
                <a:solidFill>
                  <a:srgbClr val="222222"/>
                </a:solidFill>
                <a:effectLst/>
                <a:latin typeface="Arial" panose="020B0604020202020204" pitchFamily="34" charset="0"/>
              </a:rPr>
              <a:t>, </a:t>
            </a:r>
            <a:r>
              <a:rPr lang="en-US" altLang="ja-JP" b="0" i="1" dirty="0">
                <a:solidFill>
                  <a:srgbClr val="222222"/>
                </a:solidFill>
                <a:effectLst/>
                <a:latin typeface="Arial" panose="020B0604020202020204" pitchFamily="34" charset="0"/>
              </a:rPr>
              <a:t>8</a:t>
            </a:r>
            <a:r>
              <a:rPr lang="en-US" altLang="ja-JP" b="0" i="0" dirty="0">
                <a:solidFill>
                  <a:srgbClr val="222222"/>
                </a:solidFill>
                <a:effectLst/>
                <a:latin typeface="Arial" panose="020B0604020202020204" pitchFamily="34" charset="0"/>
              </a:rPr>
              <a:t>(11), 617-618.</a:t>
            </a:r>
            <a:endParaRPr lang="ja-JP" altLang="en-US" dirty="0"/>
          </a:p>
        </p:txBody>
      </p:sp>
      <p:sp>
        <p:nvSpPr>
          <p:cNvPr id="16" name="テキスト ボックス 15">
            <a:extLst>
              <a:ext uri="{FF2B5EF4-FFF2-40B4-BE49-F238E27FC236}">
                <a16:creationId xmlns:a16="http://schemas.microsoft.com/office/drawing/2014/main" id="{D475358D-E9EB-D8DE-1513-F9F7DC768DCB}"/>
              </a:ext>
            </a:extLst>
          </p:cNvPr>
          <p:cNvSpPr txBox="1"/>
          <p:nvPr/>
        </p:nvSpPr>
        <p:spPr>
          <a:xfrm>
            <a:off x="155284" y="8413460"/>
            <a:ext cx="13253472" cy="369332"/>
          </a:xfrm>
          <a:prstGeom prst="rect">
            <a:avLst/>
          </a:prstGeom>
          <a:noFill/>
        </p:spPr>
        <p:txBody>
          <a:bodyPr wrap="square">
            <a:spAutoFit/>
          </a:bodyPr>
          <a:lstStyle/>
          <a:p>
            <a:r>
              <a:rPr lang="ja-JP" altLang="en-US" b="0" i="0" dirty="0">
                <a:solidFill>
                  <a:srgbClr val="222222"/>
                </a:solidFill>
                <a:effectLst/>
                <a:latin typeface="Arial" panose="020B0604020202020204" pitchFamily="34" charset="0"/>
              </a:rPr>
              <a:t>飯盛惠美子</a:t>
            </a:r>
            <a:r>
              <a:rPr lang="en-US" altLang="ja-JP" b="0" i="0" dirty="0">
                <a:solidFill>
                  <a:srgbClr val="222222"/>
                </a:solidFill>
                <a:effectLst/>
                <a:latin typeface="Arial" panose="020B0604020202020204" pitchFamily="34" charset="0"/>
              </a:rPr>
              <a:t>, et al. "</a:t>
            </a:r>
            <a:r>
              <a:rPr lang="ja-JP" altLang="en-US" b="0" i="0" dirty="0">
                <a:solidFill>
                  <a:srgbClr val="222222"/>
                </a:solidFill>
                <a:effectLst/>
                <a:latin typeface="Arial" panose="020B0604020202020204" pitchFamily="34" charset="0"/>
              </a:rPr>
              <a:t>除草剤バスタ</a:t>
            </a:r>
            <a:r>
              <a:rPr lang="en-US" altLang="ja-JP" b="0" i="0" dirty="0">
                <a:solidFill>
                  <a:srgbClr val="222222"/>
                </a:solidFill>
                <a:effectLst/>
                <a:latin typeface="Arial" panose="020B0604020202020204" pitchFamily="34" charset="0"/>
              </a:rPr>
              <a:t>® </a:t>
            </a:r>
            <a:r>
              <a:rPr lang="ja-JP" altLang="en-US" b="0" i="0" dirty="0">
                <a:solidFill>
                  <a:srgbClr val="222222"/>
                </a:solidFill>
                <a:effectLst/>
                <a:latin typeface="Arial" panose="020B0604020202020204" pitchFamily="34" charset="0"/>
              </a:rPr>
              <a:t>の服毒症例におけるグルホシネート体内動態の解析</a:t>
            </a:r>
            <a:r>
              <a:rPr lang="en-US" altLang="ja-JP" b="0" i="0" dirty="0">
                <a:solidFill>
                  <a:srgbClr val="222222"/>
                </a:solidFill>
                <a:effectLst/>
                <a:latin typeface="Arial" panose="020B0604020202020204" pitchFamily="34" charset="0"/>
              </a:rPr>
              <a:t>." </a:t>
            </a:r>
            <a:r>
              <a:rPr lang="ja-JP" altLang="en-US" b="0" i="1" dirty="0">
                <a:solidFill>
                  <a:srgbClr val="222222"/>
                </a:solidFill>
                <a:effectLst/>
                <a:latin typeface="Arial" panose="020B0604020202020204" pitchFamily="34" charset="0"/>
              </a:rPr>
              <a:t>第一薬科大学研究年報</a:t>
            </a:r>
            <a:r>
              <a:rPr lang="ja-JP" altLang="en-US" b="0" i="0" dirty="0">
                <a:solidFill>
                  <a:srgbClr val="222222"/>
                </a:solidFill>
                <a:effectLst/>
                <a:latin typeface="Arial" panose="020B0604020202020204" pitchFamily="34" charset="0"/>
              </a:rPr>
              <a:t> </a:t>
            </a:r>
            <a:r>
              <a:rPr lang="en-US" altLang="ja-JP" b="0" i="0" dirty="0">
                <a:solidFill>
                  <a:srgbClr val="222222"/>
                </a:solidFill>
                <a:effectLst/>
                <a:latin typeface="Arial" panose="020B0604020202020204" pitchFamily="34" charset="0"/>
              </a:rPr>
              <a:t>30 (2014): 19-26.</a:t>
            </a:r>
            <a:endParaRPr lang="ja-JP" altLang="en-US" dirty="0"/>
          </a:p>
        </p:txBody>
      </p:sp>
      <p:sp>
        <p:nvSpPr>
          <p:cNvPr id="18" name="テキスト ボックス 17">
            <a:extLst>
              <a:ext uri="{FF2B5EF4-FFF2-40B4-BE49-F238E27FC236}">
                <a16:creationId xmlns:a16="http://schemas.microsoft.com/office/drawing/2014/main" id="{F4BBD1BC-C90D-0097-02B3-CB73803374B5}"/>
              </a:ext>
            </a:extLst>
          </p:cNvPr>
          <p:cNvSpPr txBox="1"/>
          <p:nvPr/>
        </p:nvSpPr>
        <p:spPr>
          <a:xfrm>
            <a:off x="5663896" y="879500"/>
            <a:ext cx="7388820" cy="2308324"/>
          </a:xfrm>
          <a:prstGeom prst="rect">
            <a:avLst/>
          </a:prstGeom>
          <a:noFill/>
        </p:spPr>
        <p:txBody>
          <a:bodyPr wrap="square">
            <a:spAutoFit/>
          </a:bodyPr>
          <a:lstStyle/>
          <a:p>
            <a:r>
              <a:rPr lang="ja-JP" altLang="en-US" dirty="0"/>
              <a:t>　バスタ</a:t>
            </a:r>
            <a:r>
              <a:rPr lang="en-US" altLang="ja-JP" dirty="0"/>
              <a:t>®</a:t>
            </a:r>
            <a:r>
              <a:rPr lang="ja-JP" altLang="en-US" dirty="0"/>
              <a:t>中毒は、服毒後、数時間程度は症状に乏しく軽症に見える。しかし、</a:t>
            </a:r>
            <a:r>
              <a:rPr lang="en-US" altLang="ja-JP" dirty="0"/>
              <a:t>6</a:t>
            </a:r>
            <a:r>
              <a:rPr lang="ja-JP" altLang="en-US" dirty="0"/>
              <a:t>～</a:t>
            </a:r>
            <a:r>
              <a:rPr lang="en-US" altLang="ja-JP" dirty="0"/>
              <a:t>40 </a:t>
            </a:r>
            <a:r>
              <a:rPr lang="ja-JP" altLang="en-US" dirty="0"/>
              <a:t>時間の潜伏期を経て、急激な意識レベルの低下、痙攣、呼吸停止などの中枢神経症状が出現し重症化することもある。他に発熱、失調、興奮、眼振、構語障害、気道分泌 亢進、逆行性健忘などが出現する。</a:t>
            </a:r>
            <a:endParaRPr lang="en-US" altLang="ja-JP" dirty="0"/>
          </a:p>
          <a:p>
            <a:r>
              <a:rPr lang="ja-JP" altLang="en-US" dirty="0"/>
              <a:t>　本症例において、搬入時に特に目立った変化は起こっていなかったが、服毒</a:t>
            </a:r>
            <a:r>
              <a:rPr lang="en-US" altLang="ja-JP" dirty="0"/>
              <a:t>14</a:t>
            </a:r>
            <a:r>
              <a:rPr lang="ja-JP" altLang="en-US" dirty="0"/>
              <a:t>時 間頃より舌根沈下、呼吸不全、意識障害等が出現し全身状態の悪化が見られている。 搬入時の状態は臨床症状に乏しかったが、そこで患者を呼吸管理していなければ重大 な結果となっていた。</a:t>
            </a:r>
          </a:p>
        </p:txBody>
      </p:sp>
    </p:spTree>
    <p:extLst>
      <p:ext uri="{BB962C8B-B14F-4D97-AF65-F5344CB8AC3E}">
        <p14:creationId xmlns:p14="http://schemas.microsoft.com/office/powerpoint/2010/main" val="1142520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98E16-D59F-6538-E294-F65C33BA02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22BC286-286E-09B6-DBA1-74AAC3E7386E}"/>
              </a:ext>
            </a:extLst>
          </p:cNvPr>
          <p:cNvSpPr>
            <a:spLocks noGrp="1"/>
          </p:cNvSpPr>
          <p:nvPr>
            <p:ph type="title"/>
          </p:nvPr>
        </p:nvSpPr>
        <p:spPr/>
        <p:txBody>
          <a:bodyPr/>
          <a:lstStyle/>
          <a:p>
            <a:r>
              <a:rPr kumimoji="1" lang="ja-JP" altLang="en-US" dirty="0"/>
              <a:t>質問</a:t>
            </a:r>
          </a:p>
        </p:txBody>
      </p:sp>
      <p:sp>
        <p:nvSpPr>
          <p:cNvPr id="3" name="コンテンツ プレースホルダー 2">
            <a:extLst>
              <a:ext uri="{FF2B5EF4-FFF2-40B4-BE49-F238E27FC236}">
                <a16:creationId xmlns:a16="http://schemas.microsoft.com/office/drawing/2014/main" id="{4D106BB2-7F48-37FC-6AC7-815A9F3CC188}"/>
              </a:ext>
            </a:extLst>
          </p:cNvPr>
          <p:cNvSpPr>
            <a:spLocks noGrp="1"/>
          </p:cNvSpPr>
          <p:nvPr>
            <p:ph idx="1"/>
          </p:nvPr>
        </p:nvSpPr>
        <p:spPr>
          <a:xfrm>
            <a:off x="415312" y="1064568"/>
            <a:ext cx="12481387" cy="6261472"/>
          </a:xfrm>
        </p:spPr>
        <p:txBody>
          <a:bodyPr/>
          <a:lstStyle/>
          <a:p>
            <a:r>
              <a:rPr kumimoji="1" lang="ja-JP" altLang="en-US" sz="4000" dirty="0"/>
              <a:t>農薬中毒内の「グルタミン酸受容体」のスライドで（（２）では「グルホシネートがグルタミン酸と同様に血液脳関門を通過しにくい」と記載されているが、（３）では「グルホシネートが脳内に移行してから直接作用を発現するまで時間を要する」と記載されている。グルタミン酸が脳内で過剰になると神経細胞死が引き起こされるため、血液脳関門を通過しにくいと学んだ記憶がある。構造が似ているから同様の移動をしているのか</a:t>
            </a:r>
          </a:p>
        </p:txBody>
      </p:sp>
      <p:sp>
        <p:nvSpPr>
          <p:cNvPr id="4" name="スライド番号プレースホルダー 3">
            <a:extLst>
              <a:ext uri="{FF2B5EF4-FFF2-40B4-BE49-F238E27FC236}">
                <a16:creationId xmlns:a16="http://schemas.microsoft.com/office/drawing/2014/main" id="{828387C0-F77E-2455-3438-DE5915D265AB}"/>
              </a:ext>
            </a:extLst>
          </p:cNvPr>
          <p:cNvSpPr>
            <a:spLocks noGrp="1"/>
          </p:cNvSpPr>
          <p:nvPr>
            <p:ph type="sldNum" sz="quarter" idx="12"/>
          </p:nvPr>
        </p:nvSpPr>
        <p:spPr/>
        <p:txBody>
          <a:bodyPr/>
          <a:lstStyle/>
          <a:p>
            <a:pPr>
              <a:defRPr/>
            </a:pPr>
            <a:fld id="{6B43C332-1484-4553-8349-0303A35840A7}" type="slidenum">
              <a:rPr lang="ja-JP" altLang="en-US" smtClean="0"/>
              <a:pPr>
                <a:defRPr/>
              </a:pPr>
              <a:t>21</a:t>
            </a:fld>
            <a:endParaRPr lang="ja-JP" altLang="en-US"/>
          </a:p>
        </p:txBody>
      </p:sp>
      <p:sp>
        <p:nvSpPr>
          <p:cNvPr id="5" name="矢印: 右 4">
            <a:extLst>
              <a:ext uri="{FF2B5EF4-FFF2-40B4-BE49-F238E27FC236}">
                <a16:creationId xmlns:a16="http://schemas.microsoft.com/office/drawing/2014/main" id="{6CD2FD42-DA09-1591-3C27-555C110859BE}"/>
              </a:ext>
            </a:extLst>
          </p:cNvPr>
          <p:cNvSpPr/>
          <p:nvPr/>
        </p:nvSpPr>
        <p:spPr>
          <a:xfrm>
            <a:off x="519324" y="8456711"/>
            <a:ext cx="756084" cy="769441"/>
          </a:xfrm>
          <a:prstGeom prst="rightArrow">
            <a:avLst/>
          </a:prstGeom>
          <a:solidFill>
            <a:schemeClr val="accent2"/>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
        <p:nvSpPr>
          <p:cNvPr id="6" name="テキスト ボックス 5">
            <a:extLst>
              <a:ext uri="{FF2B5EF4-FFF2-40B4-BE49-F238E27FC236}">
                <a16:creationId xmlns:a16="http://schemas.microsoft.com/office/drawing/2014/main" id="{381E2C8E-6C61-449D-7AD2-429F6424901B}"/>
              </a:ext>
            </a:extLst>
          </p:cNvPr>
          <p:cNvSpPr txBox="1"/>
          <p:nvPr/>
        </p:nvSpPr>
        <p:spPr>
          <a:xfrm>
            <a:off x="1383420" y="8456710"/>
            <a:ext cx="11957328" cy="769441"/>
          </a:xfrm>
          <a:prstGeom prst="rect">
            <a:avLst/>
          </a:prstGeom>
          <a:noFill/>
        </p:spPr>
        <p:txBody>
          <a:bodyPr wrap="square">
            <a:spAutoFit/>
          </a:bodyPr>
          <a:lstStyle/>
          <a:p>
            <a:r>
              <a:rPr lang="ja-JP" altLang="en-US" sz="4400" dirty="0">
                <a:solidFill>
                  <a:srgbClr val="C00000"/>
                </a:solidFill>
                <a:latin typeface="HGPｺﾞｼｯｸE" pitchFamily="50" charset="-128"/>
                <a:ea typeface="HGPｺﾞｼｯｸE" pitchFamily="50" charset="-128"/>
              </a:rPr>
              <a:t>分子の極性（水溶性）の度合いが似ているから</a:t>
            </a:r>
          </a:p>
        </p:txBody>
      </p:sp>
    </p:spTree>
    <p:extLst>
      <p:ext uri="{BB962C8B-B14F-4D97-AF65-F5344CB8AC3E}">
        <p14:creationId xmlns:p14="http://schemas.microsoft.com/office/powerpoint/2010/main" val="3329180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いわゆる「パラコート肺」</a:t>
            </a:r>
          </a:p>
        </p:txBody>
      </p:sp>
      <p:sp>
        <p:nvSpPr>
          <p:cNvPr id="3" name="コンテンツ プレースホルダー 2"/>
          <p:cNvSpPr>
            <a:spLocks noGrp="1"/>
          </p:cNvSpPr>
          <p:nvPr>
            <p:ph idx="1"/>
          </p:nvPr>
        </p:nvSpPr>
        <p:spPr>
          <a:xfrm>
            <a:off x="99685" y="1352600"/>
            <a:ext cx="10089121" cy="6537502"/>
          </a:xfrm>
        </p:spPr>
        <p:txBody>
          <a:bodyPr/>
          <a:lstStyle/>
          <a:p>
            <a:r>
              <a:rPr lang="en-US" altLang="ja-JP" sz="4000" dirty="0"/>
              <a:t>53</a:t>
            </a:r>
            <a:r>
              <a:rPr lang="ja-JP" altLang="en-US" sz="4000" dirty="0"/>
              <a:t>歳，男性</a:t>
            </a:r>
            <a:endParaRPr lang="en-US" altLang="ja-JP" sz="4000" dirty="0"/>
          </a:p>
          <a:p>
            <a:r>
              <a:rPr lang="ja-JP" altLang="en-US" sz="4000" dirty="0"/>
              <a:t>自宅で飲酒中に夫婦喧嘩となり，納屋に行き</a:t>
            </a:r>
          </a:p>
          <a:p>
            <a:r>
              <a:rPr lang="ja-JP" altLang="en-US" sz="4000" dirty="0"/>
              <a:t>パラコート製剤を約</a:t>
            </a:r>
            <a:r>
              <a:rPr lang="en-US" altLang="ja-JP" sz="4000" dirty="0"/>
              <a:t>100 mL</a:t>
            </a:r>
            <a:r>
              <a:rPr lang="ja-JP" altLang="en-US" sz="4000" dirty="0"/>
              <a:t>を飲んだ。直後に嘔吐し，妻が救急車を要請したが本人が搬送を拒否した。その後，口腔内違和感で飲食できず徐々に体調不良となり， </a:t>
            </a:r>
            <a:r>
              <a:rPr lang="en-US" altLang="ja-JP" sz="4000" dirty="0"/>
              <a:t>6 </a:t>
            </a:r>
            <a:r>
              <a:rPr lang="ja-JP" altLang="en-US" sz="4000" dirty="0"/>
              <a:t>日後に近医を独歩受診し，当院（深谷赤十字病院）へ紹介となった。</a:t>
            </a:r>
            <a:endParaRPr kumimoji="1" lang="ja-JP" altLang="en-US" sz="4000" dirty="0"/>
          </a:p>
        </p:txBody>
      </p:sp>
      <p:sp>
        <p:nvSpPr>
          <p:cNvPr id="5" name="正方形/長方形 4"/>
          <p:cNvSpPr/>
          <p:nvPr/>
        </p:nvSpPr>
        <p:spPr>
          <a:xfrm>
            <a:off x="7995462" y="9468034"/>
            <a:ext cx="3619902" cy="369332"/>
          </a:xfrm>
          <a:prstGeom prst="rect">
            <a:avLst/>
          </a:prstGeom>
        </p:spPr>
        <p:txBody>
          <a:bodyPr wrap="none">
            <a:spAutoFit/>
          </a:bodyPr>
          <a:lstStyle/>
          <a:p>
            <a:r>
              <a:rPr lang="ja-JP" altLang="en-US" dirty="0">
                <a:solidFill>
                  <a:schemeClr val="bg1"/>
                </a:solidFill>
                <a:latin typeface="RyuminPr6-Light"/>
              </a:rPr>
              <a:t>日救急医会関東誌　</a:t>
            </a:r>
            <a:r>
              <a:rPr lang="en-US" altLang="ja-JP" dirty="0">
                <a:solidFill>
                  <a:schemeClr val="bg1"/>
                </a:solidFill>
                <a:latin typeface="RyuminPr6-Light"/>
              </a:rPr>
              <a:t>40</a:t>
            </a:r>
            <a:r>
              <a:rPr lang="ja-JP" altLang="en-US" dirty="0">
                <a:solidFill>
                  <a:schemeClr val="bg1"/>
                </a:solidFill>
                <a:latin typeface="RyuminPr6-Light"/>
              </a:rPr>
              <a:t>（</a:t>
            </a:r>
            <a:r>
              <a:rPr lang="en-US" altLang="ja-JP" dirty="0">
                <a:solidFill>
                  <a:schemeClr val="bg1"/>
                </a:solidFill>
                <a:latin typeface="RyuminPr6-Light"/>
              </a:rPr>
              <a:t>3</a:t>
            </a:r>
            <a:r>
              <a:rPr lang="ja-JP" altLang="en-US" dirty="0">
                <a:solidFill>
                  <a:schemeClr val="bg1"/>
                </a:solidFill>
                <a:latin typeface="RyuminPr6-Light"/>
              </a:rPr>
              <a:t>），</a:t>
            </a:r>
            <a:r>
              <a:rPr lang="en-US" altLang="ja-JP" dirty="0">
                <a:solidFill>
                  <a:schemeClr val="bg1"/>
                </a:solidFill>
                <a:latin typeface="RyuminPr6-Light"/>
              </a:rPr>
              <a:t>2019</a:t>
            </a:r>
            <a:r>
              <a:rPr lang="ja-JP" altLang="en-US" dirty="0">
                <a:solidFill>
                  <a:schemeClr val="bg1"/>
                </a:solidFill>
                <a:latin typeface="RyuminPr6-Light"/>
              </a:rPr>
              <a:t>年</a:t>
            </a:r>
            <a:endParaRPr lang="ja-JP" altLang="en-US" dirty="0">
              <a:solidFill>
                <a:schemeClr val="bg1"/>
              </a:solidFill>
            </a:endParaRPr>
          </a:p>
        </p:txBody>
      </p:sp>
      <p:pic>
        <p:nvPicPr>
          <p:cNvPr id="5122" name="Picture 2" descr="プリグロックスL液剤 【※毒物】 | 株式会社 中西園材"/>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504434" y="3548845"/>
            <a:ext cx="2517775" cy="3783542"/>
          </a:xfrm>
          <a:prstGeom prst="rect">
            <a:avLst/>
          </a:prstGeom>
          <a:noFill/>
          <a:extLst>
            <a:ext uri="{909E8E84-426E-40DD-AFC4-6F175D3DCCD1}">
              <a14:hiddenFill xmlns:a14="http://schemas.microsoft.com/office/drawing/2010/main">
                <a:solidFill>
                  <a:srgbClr val="FFFFFF"/>
                </a:solidFill>
              </a14:hiddenFill>
            </a:ext>
          </a:extLst>
        </p:spPr>
      </p:pic>
      <p:sp>
        <p:nvSpPr>
          <p:cNvPr id="4" name="正方形/長方形 3"/>
          <p:cNvSpPr/>
          <p:nvPr/>
        </p:nvSpPr>
        <p:spPr>
          <a:xfrm>
            <a:off x="10410803" y="7399901"/>
            <a:ext cx="2705034" cy="625684"/>
          </a:xfrm>
          <a:prstGeom prst="rect">
            <a:avLst/>
          </a:prstGeom>
        </p:spPr>
        <p:txBody>
          <a:bodyPr wrap="square">
            <a:spAutoFit/>
          </a:bodyPr>
          <a:lstStyle/>
          <a:p>
            <a:r>
              <a:rPr lang="en-US" altLang="ja-JP" sz="1733" dirty="0"/>
              <a:t>https://www.nakanishienzai.com/product/37/8894</a:t>
            </a:r>
            <a:endParaRPr lang="ja-JP" altLang="en-US" sz="1733" dirty="0"/>
          </a:p>
        </p:txBody>
      </p:sp>
    </p:spTree>
    <p:extLst>
      <p:ext uri="{BB962C8B-B14F-4D97-AF65-F5344CB8AC3E}">
        <p14:creationId xmlns:p14="http://schemas.microsoft.com/office/powerpoint/2010/main" val="109781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DC9274-6E78-CAA7-3DA4-0C8D54B1F6D5}"/>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B4213D0-CBFD-4787-4F3F-B084A54B4A2E}"/>
              </a:ext>
            </a:extLst>
          </p:cNvPr>
          <p:cNvSpPr>
            <a:spLocks noGrp="1"/>
          </p:cNvSpPr>
          <p:nvPr>
            <p:ph type="sldNum" sz="quarter" idx="12"/>
          </p:nvPr>
        </p:nvSpPr>
        <p:spPr/>
        <p:txBody>
          <a:bodyPr/>
          <a:lstStyle/>
          <a:p>
            <a:pPr>
              <a:defRPr/>
            </a:pPr>
            <a:fld id="{6B43C332-1484-4553-8349-0303A35840A7}" type="slidenum">
              <a:rPr lang="ja-JP" altLang="en-US" smtClean="0"/>
              <a:pPr>
                <a:defRPr/>
              </a:pPr>
              <a:t>23</a:t>
            </a:fld>
            <a:endParaRPr lang="ja-JP" altLang="en-US"/>
          </a:p>
        </p:txBody>
      </p:sp>
      <p:pic>
        <p:nvPicPr>
          <p:cNvPr id="6" name="図 5">
            <a:extLst>
              <a:ext uri="{FF2B5EF4-FFF2-40B4-BE49-F238E27FC236}">
                <a16:creationId xmlns:a16="http://schemas.microsoft.com/office/drawing/2014/main" id="{90BFCA55-8432-77AA-16BA-9C6C6C1374AD}"/>
              </a:ext>
            </a:extLst>
          </p:cNvPr>
          <p:cNvPicPr>
            <a:picLocks noChangeAspect="1"/>
          </p:cNvPicPr>
          <p:nvPr/>
        </p:nvPicPr>
        <p:blipFill>
          <a:blip r:embed="rId2"/>
          <a:stretch>
            <a:fillRect/>
          </a:stretch>
        </p:blipFill>
        <p:spPr>
          <a:xfrm>
            <a:off x="-6536" y="680441"/>
            <a:ext cx="6087325" cy="8545118"/>
          </a:xfrm>
          <a:prstGeom prst="rect">
            <a:avLst/>
          </a:prstGeom>
        </p:spPr>
      </p:pic>
      <p:sp>
        <p:nvSpPr>
          <p:cNvPr id="8" name="テキスト ボックス 7">
            <a:extLst>
              <a:ext uri="{FF2B5EF4-FFF2-40B4-BE49-F238E27FC236}">
                <a16:creationId xmlns:a16="http://schemas.microsoft.com/office/drawing/2014/main" id="{36F78D05-8CD5-71CE-8BCA-B3E0F54C2D12}"/>
              </a:ext>
            </a:extLst>
          </p:cNvPr>
          <p:cNvSpPr txBox="1"/>
          <p:nvPr/>
        </p:nvSpPr>
        <p:spPr>
          <a:xfrm>
            <a:off x="5883920" y="8625355"/>
            <a:ext cx="6686550" cy="646331"/>
          </a:xfrm>
          <a:prstGeom prst="rect">
            <a:avLst/>
          </a:prstGeom>
          <a:noFill/>
        </p:spPr>
        <p:txBody>
          <a:bodyPr wrap="square">
            <a:spAutoFit/>
          </a:bodyPr>
          <a:lstStyle/>
          <a:p>
            <a:r>
              <a:rPr lang="ja-JP" altLang="en-US"/>
              <a:t>山東農薬オンラインストア（</a:t>
            </a:r>
            <a:r>
              <a:rPr lang="en-US" altLang="ja-JP"/>
              <a:t>2025</a:t>
            </a:r>
            <a:r>
              <a:rPr lang="ja-JP" altLang="en-US"/>
              <a:t>年</a:t>
            </a:r>
            <a:r>
              <a:rPr lang="en-US" altLang="ja-JP"/>
              <a:t>6</a:t>
            </a:r>
            <a:r>
              <a:rPr lang="ja-JP" altLang="en-US"/>
              <a:t>月</a:t>
            </a:r>
            <a:r>
              <a:rPr lang="en-US" altLang="ja-JP"/>
              <a:t>3</a:t>
            </a:r>
            <a:r>
              <a:rPr lang="ja-JP" altLang="en-US"/>
              <a:t>日閲覧）</a:t>
            </a:r>
            <a:r>
              <a:rPr lang="en-US" altLang="ja-JP"/>
              <a:t>『</a:t>
            </a:r>
            <a:r>
              <a:rPr lang="ja-JP" altLang="en-US"/>
              <a:t>プリグロックス</a:t>
            </a:r>
            <a:r>
              <a:rPr lang="en-US" altLang="ja-JP"/>
              <a:t>L 1L』</a:t>
            </a:r>
            <a:r>
              <a:rPr lang="ja-JP" altLang="en-US"/>
              <a:t>。</a:t>
            </a:r>
            <a:r>
              <a:rPr lang="en-US" altLang="ja-JP">
                <a:hlinkClick r:id="rId3"/>
              </a:rPr>
              <a:t>https://www.sandonoyaku.com/?pid=151571063</a:t>
            </a:r>
            <a:endParaRPr lang="ja-JP" altLang="en-US"/>
          </a:p>
        </p:txBody>
      </p:sp>
      <p:pic>
        <p:nvPicPr>
          <p:cNvPr id="10" name="図 9">
            <a:extLst>
              <a:ext uri="{FF2B5EF4-FFF2-40B4-BE49-F238E27FC236}">
                <a16:creationId xmlns:a16="http://schemas.microsoft.com/office/drawing/2014/main" id="{1BA6FEB1-C5F0-067C-F19D-AB12AC08B436}"/>
              </a:ext>
            </a:extLst>
          </p:cNvPr>
          <p:cNvPicPr>
            <a:picLocks noChangeAspect="1"/>
          </p:cNvPicPr>
          <p:nvPr/>
        </p:nvPicPr>
        <p:blipFill>
          <a:blip r:embed="rId4"/>
          <a:stretch>
            <a:fillRect/>
          </a:stretch>
        </p:blipFill>
        <p:spPr>
          <a:xfrm>
            <a:off x="5775908" y="1666416"/>
            <a:ext cx="6573167" cy="6573167"/>
          </a:xfrm>
          <a:prstGeom prst="rect">
            <a:avLst/>
          </a:prstGeom>
        </p:spPr>
      </p:pic>
    </p:spTree>
    <p:extLst>
      <p:ext uri="{BB962C8B-B14F-4D97-AF65-F5344CB8AC3E}">
        <p14:creationId xmlns:p14="http://schemas.microsoft.com/office/powerpoint/2010/main" val="71155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CBF29-46CD-148D-AF75-0A4F262277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D20BAB-7C86-D513-5DB6-ADBD98440A23}"/>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22D3A9E-240D-43D4-4F13-2DA36D3624A4}"/>
              </a:ext>
            </a:extLst>
          </p:cNvPr>
          <p:cNvSpPr>
            <a:spLocks noGrp="1"/>
          </p:cNvSpPr>
          <p:nvPr>
            <p:ph type="sldNum" sz="quarter" idx="12"/>
          </p:nvPr>
        </p:nvSpPr>
        <p:spPr/>
        <p:txBody>
          <a:bodyPr/>
          <a:lstStyle/>
          <a:p>
            <a:pPr>
              <a:defRPr/>
            </a:pPr>
            <a:fld id="{6B43C332-1484-4553-8349-0303A35840A7}" type="slidenum">
              <a:rPr lang="ja-JP" altLang="en-US" smtClean="0"/>
              <a:pPr>
                <a:defRPr/>
              </a:pPr>
              <a:t>24</a:t>
            </a:fld>
            <a:endParaRPr lang="ja-JP" altLang="en-US"/>
          </a:p>
        </p:txBody>
      </p:sp>
      <p:pic>
        <p:nvPicPr>
          <p:cNvPr id="6" name="図 5">
            <a:extLst>
              <a:ext uri="{FF2B5EF4-FFF2-40B4-BE49-F238E27FC236}">
                <a16:creationId xmlns:a16="http://schemas.microsoft.com/office/drawing/2014/main" id="{319B1A7A-DB31-C994-0418-DBBDEC31850C}"/>
              </a:ext>
            </a:extLst>
          </p:cNvPr>
          <p:cNvPicPr>
            <a:picLocks noChangeAspect="1"/>
          </p:cNvPicPr>
          <p:nvPr/>
        </p:nvPicPr>
        <p:blipFill>
          <a:blip r:embed="rId2"/>
          <a:stretch>
            <a:fillRect/>
          </a:stretch>
        </p:blipFill>
        <p:spPr>
          <a:xfrm>
            <a:off x="-6536" y="680441"/>
            <a:ext cx="6087325" cy="8545118"/>
          </a:xfrm>
          <a:prstGeom prst="rect">
            <a:avLst/>
          </a:prstGeom>
        </p:spPr>
      </p:pic>
      <p:sp>
        <p:nvSpPr>
          <p:cNvPr id="8" name="テキスト ボックス 7">
            <a:extLst>
              <a:ext uri="{FF2B5EF4-FFF2-40B4-BE49-F238E27FC236}">
                <a16:creationId xmlns:a16="http://schemas.microsoft.com/office/drawing/2014/main" id="{711A5B6D-96B3-9352-691C-1E84D1DAE54A}"/>
              </a:ext>
            </a:extLst>
          </p:cNvPr>
          <p:cNvSpPr txBox="1"/>
          <p:nvPr/>
        </p:nvSpPr>
        <p:spPr>
          <a:xfrm>
            <a:off x="5883920" y="8625355"/>
            <a:ext cx="6686550" cy="646331"/>
          </a:xfrm>
          <a:prstGeom prst="rect">
            <a:avLst/>
          </a:prstGeom>
          <a:noFill/>
        </p:spPr>
        <p:txBody>
          <a:bodyPr wrap="square">
            <a:spAutoFit/>
          </a:bodyPr>
          <a:lstStyle/>
          <a:p>
            <a:r>
              <a:rPr lang="ja-JP" altLang="en-US"/>
              <a:t>山東農薬オンラインストア（</a:t>
            </a:r>
            <a:r>
              <a:rPr lang="en-US" altLang="ja-JP"/>
              <a:t>2025</a:t>
            </a:r>
            <a:r>
              <a:rPr lang="ja-JP" altLang="en-US"/>
              <a:t>年</a:t>
            </a:r>
            <a:r>
              <a:rPr lang="en-US" altLang="ja-JP"/>
              <a:t>6</a:t>
            </a:r>
            <a:r>
              <a:rPr lang="ja-JP" altLang="en-US"/>
              <a:t>月</a:t>
            </a:r>
            <a:r>
              <a:rPr lang="en-US" altLang="ja-JP"/>
              <a:t>3</a:t>
            </a:r>
            <a:r>
              <a:rPr lang="ja-JP" altLang="en-US"/>
              <a:t>日閲覧）</a:t>
            </a:r>
            <a:r>
              <a:rPr lang="en-US" altLang="ja-JP"/>
              <a:t>『</a:t>
            </a:r>
            <a:r>
              <a:rPr lang="ja-JP" altLang="en-US"/>
              <a:t>プリグロックス</a:t>
            </a:r>
            <a:r>
              <a:rPr lang="en-US" altLang="ja-JP"/>
              <a:t>L 1L』</a:t>
            </a:r>
            <a:r>
              <a:rPr lang="ja-JP" altLang="en-US"/>
              <a:t>。</a:t>
            </a:r>
            <a:r>
              <a:rPr lang="en-US" altLang="ja-JP">
                <a:hlinkClick r:id="rId3"/>
              </a:rPr>
              <a:t>https://www.sandonoyaku.com/?pid=151571063</a:t>
            </a:r>
            <a:endParaRPr lang="ja-JP" altLang="en-US"/>
          </a:p>
        </p:txBody>
      </p:sp>
      <p:pic>
        <p:nvPicPr>
          <p:cNvPr id="5" name="図 4">
            <a:extLst>
              <a:ext uri="{FF2B5EF4-FFF2-40B4-BE49-F238E27FC236}">
                <a16:creationId xmlns:a16="http://schemas.microsoft.com/office/drawing/2014/main" id="{538CB650-3E8E-F199-7CCB-9467CB37BCCA}"/>
              </a:ext>
            </a:extLst>
          </p:cNvPr>
          <p:cNvPicPr>
            <a:picLocks noChangeAspect="1"/>
          </p:cNvPicPr>
          <p:nvPr/>
        </p:nvPicPr>
        <p:blipFill>
          <a:blip r:embed="rId4"/>
          <a:stretch>
            <a:fillRect/>
          </a:stretch>
        </p:blipFill>
        <p:spPr>
          <a:xfrm>
            <a:off x="5559884" y="1656890"/>
            <a:ext cx="6563641" cy="6592220"/>
          </a:xfrm>
          <a:prstGeom prst="rect">
            <a:avLst/>
          </a:prstGeom>
        </p:spPr>
      </p:pic>
    </p:spTree>
    <p:extLst>
      <p:ext uri="{BB962C8B-B14F-4D97-AF65-F5344CB8AC3E}">
        <p14:creationId xmlns:p14="http://schemas.microsoft.com/office/powerpoint/2010/main" val="25817230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AB151D-12E5-DCA7-FD30-55237BC7FA15}"/>
              </a:ext>
            </a:extLst>
          </p:cNvPr>
          <p:cNvSpPr>
            <a:spLocks noGrp="1"/>
          </p:cNvSpPr>
          <p:nvPr>
            <p:ph type="title"/>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75D316D-59D1-DF22-9560-BEBF0E20041A}"/>
              </a:ext>
            </a:extLst>
          </p:cNvPr>
          <p:cNvSpPr>
            <a:spLocks noGrp="1"/>
          </p:cNvSpPr>
          <p:nvPr>
            <p:ph type="sldNum" sz="quarter" idx="12"/>
          </p:nvPr>
        </p:nvSpPr>
        <p:spPr/>
        <p:txBody>
          <a:bodyPr/>
          <a:lstStyle/>
          <a:p>
            <a:pPr>
              <a:defRPr/>
            </a:pPr>
            <a:fld id="{6B43C332-1484-4553-8349-0303A35840A7}" type="slidenum">
              <a:rPr lang="ja-JP" altLang="en-US" smtClean="0"/>
              <a:pPr>
                <a:defRPr/>
              </a:pPr>
              <a:t>25</a:t>
            </a:fld>
            <a:endParaRPr lang="ja-JP" altLang="en-US"/>
          </a:p>
        </p:txBody>
      </p:sp>
      <p:pic>
        <p:nvPicPr>
          <p:cNvPr id="6" name="図 5">
            <a:extLst>
              <a:ext uri="{FF2B5EF4-FFF2-40B4-BE49-F238E27FC236}">
                <a16:creationId xmlns:a16="http://schemas.microsoft.com/office/drawing/2014/main" id="{A7D6F681-8CC4-706A-09A6-787F6020DE30}"/>
              </a:ext>
            </a:extLst>
          </p:cNvPr>
          <p:cNvPicPr>
            <a:picLocks noChangeAspect="1"/>
          </p:cNvPicPr>
          <p:nvPr/>
        </p:nvPicPr>
        <p:blipFill>
          <a:blip r:embed="rId2"/>
          <a:stretch>
            <a:fillRect/>
          </a:stretch>
        </p:blipFill>
        <p:spPr>
          <a:xfrm>
            <a:off x="0" y="1244588"/>
            <a:ext cx="13208000" cy="2880719"/>
          </a:xfrm>
          <a:prstGeom prst="rect">
            <a:avLst/>
          </a:prstGeom>
        </p:spPr>
      </p:pic>
      <p:sp>
        <p:nvSpPr>
          <p:cNvPr id="7" name="テキスト ボックス 6">
            <a:extLst>
              <a:ext uri="{FF2B5EF4-FFF2-40B4-BE49-F238E27FC236}">
                <a16:creationId xmlns:a16="http://schemas.microsoft.com/office/drawing/2014/main" id="{12BFDCCB-8853-FBF2-095F-DCDCF1BEF23B}"/>
              </a:ext>
            </a:extLst>
          </p:cNvPr>
          <p:cNvSpPr txBox="1"/>
          <p:nvPr/>
        </p:nvSpPr>
        <p:spPr>
          <a:xfrm>
            <a:off x="5883920" y="8625355"/>
            <a:ext cx="6686550" cy="646331"/>
          </a:xfrm>
          <a:prstGeom prst="rect">
            <a:avLst/>
          </a:prstGeom>
          <a:noFill/>
        </p:spPr>
        <p:txBody>
          <a:bodyPr wrap="square">
            <a:spAutoFit/>
          </a:bodyPr>
          <a:lstStyle/>
          <a:p>
            <a:r>
              <a:rPr lang="ja-JP" altLang="en-US" dirty="0"/>
              <a:t>山東農薬オンラインストア（</a:t>
            </a:r>
            <a:r>
              <a:rPr lang="en-US" altLang="ja-JP" dirty="0"/>
              <a:t>2026</a:t>
            </a:r>
            <a:r>
              <a:rPr lang="ja-JP" altLang="en-US" dirty="0"/>
              <a:t>年</a:t>
            </a:r>
            <a:r>
              <a:rPr lang="en-US" altLang="ja-JP" dirty="0"/>
              <a:t>5</a:t>
            </a:r>
            <a:r>
              <a:rPr lang="ja-JP" altLang="en-US" dirty="0"/>
              <a:t>月</a:t>
            </a:r>
            <a:r>
              <a:rPr lang="en-US" altLang="ja-JP" dirty="0"/>
              <a:t>25</a:t>
            </a:r>
            <a:r>
              <a:rPr lang="ja-JP" altLang="en-US" dirty="0"/>
              <a:t>日閲覧）</a:t>
            </a:r>
            <a:r>
              <a:rPr lang="en-US" altLang="ja-JP" dirty="0"/>
              <a:t>『</a:t>
            </a:r>
            <a:r>
              <a:rPr lang="ja-JP" altLang="en-US" dirty="0"/>
              <a:t>プリグロックス</a:t>
            </a:r>
            <a:r>
              <a:rPr lang="en-US" altLang="ja-JP" dirty="0"/>
              <a:t>L 1L』</a:t>
            </a:r>
            <a:r>
              <a:rPr lang="ja-JP" altLang="en-US" dirty="0"/>
              <a:t>。</a:t>
            </a:r>
            <a:r>
              <a:rPr lang="en-US" altLang="ja-JP" dirty="0">
                <a:hlinkClick r:id="rId3"/>
              </a:rPr>
              <a:t>https://www.sandonoyaku.com/?pid=151571063</a:t>
            </a:r>
            <a:endParaRPr lang="ja-JP" altLang="en-US" dirty="0"/>
          </a:p>
        </p:txBody>
      </p:sp>
      <p:pic>
        <p:nvPicPr>
          <p:cNvPr id="9" name="図 8">
            <a:extLst>
              <a:ext uri="{FF2B5EF4-FFF2-40B4-BE49-F238E27FC236}">
                <a16:creationId xmlns:a16="http://schemas.microsoft.com/office/drawing/2014/main" id="{30A24F03-5C74-66F4-A595-1ABF876857E5}"/>
              </a:ext>
            </a:extLst>
          </p:cNvPr>
          <p:cNvPicPr>
            <a:picLocks noChangeAspect="1"/>
          </p:cNvPicPr>
          <p:nvPr/>
        </p:nvPicPr>
        <p:blipFill>
          <a:blip r:embed="rId4"/>
          <a:stretch>
            <a:fillRect/>
          </a:stretch>
        </p:blipFill>
        <p:spPr>
          <a:xfrm>
            <a:off x="155284" y="4628065"/>
            <a:ext cx="4824536" cy="4764790"/>
          </a:xfrm>
          <a:prstGeom prst="rect">
            <a:avLst/>
          </a:prstGeom>
          <a:ln>
            <a:solidFill>
              <a:schemeClr val="tx1"/>
            </a:solidFill>
          </a:ln>
        </p:spPr>
      </p:pic>
    </p:spTree>
    <p:extLst>
      <p:ext uri="{BB962C8B-B14F-4D97-AF65-F5344CB8AC3E}">
        <p14:creationId xmlns:p14="http://schemas.microsoft.com/office/powerpoint/2010/main" val="1304410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F55B43-E1D1-8E43-94A2-ED35889CBC71}"/>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1BFE4300-2B01-3032-A721-16EB2328C37E}"/>
              </a:ext>
            </a:extLst>
          </p:cNvPr>
          <p:cNvSpPr>
            <a:spLocks noGrp="1"/>
          </p:cNvSpPr>
          <p:nvPr>
            <p:ph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39125B7-5F17-5F5E-C817-DA3AB80B8DAA}"/>
              </a:ext>
            </a:extLst>
          </p:cNvPr>
          <p:cNvSpPr>
            <a:spLocks noGrp="1"/>
          </p:cNvSpPr>
          <p:nvPr>
            <p:ph type="sldNum" sz="quarter" idx="12"/>
          </p:nvPr>
        </p:nvSpPr>
        <p:spPr/>
        <p:txBody>
          <a:bodyPr/>
          <a:lstStyle/>
          <a:p>
            <a:pPr>
              <a:defRPr/>
            </a:pPr>
            <a:fld id="{6B43C332-1484-4553-8349-0303A35840A7}" type="slidenum">
              <a:rPr lang="ja-JP" altLang="en-US" smtClean="0"/>
              <a:pPr>
                <a:defRPr/>
              </a:pPr>
              <a:t>26</a:t>
            </a:fld>
            <a:endParaRPr lang="ja-JP" altLang="en-US"/>
          </a:p>
        </p:txBody>
      </p:sp>
      <p:pic>
        <p:nvPicPr>
          <p:cNvPr id="6" name="図 5">
            <a:extLst>
              <a:ext uri="{FF2B5EF4-FFF2-40B4-BE49-F238E27FC236}">
                <a16:creationId xmlns:a16="http://schemas.microsoft.com/office/drawing/2014/main" id="{75F2635E-D4EE-0CAD-4CE2-4C2DF11550FF}"/>
              </a:ext>
            </a:extLst>
          </p:cNvPr>
          <p:cNvPicPr>
            <a:picLocks noChangeAspect="1"/>
          </p:cNvPicPr>
          <p:nvPr/>
        </p:nvPicPr>
        <p:blipFill>
          <a:blip r:embed="rId2"/>
          <a:stretch>
            <a:fillRect/>
          </a:stretch>
        </p:blipFill>
        <p:spPr>
          <a:xfrm>
            <a:off x="0" y="848544"/>
            <a:ext cx="13232344" cy="6948772"/>
          </a:xfrm>
          <a:prstGeom prst="rect">
            <a:avLst/>
          </a:prstGeom>
        </p:spPr>
      </p:pic>
      <p:sp>
        <p:nvSpPr>
          <p:cNvPr id="8" name="テキスト ボックス 7">
            <a:extLst>
              <a:ext uri="{FF2B5EF4-FFF2-40B4-BE49-F238E27FC236}">
                <a16:creationId xmlns:a16="http://schemas.microsoft.com/office/drawing/2014/main" id="{70720D28-FA5B-D14C-7337-6AD97CB4EA4C}"/>
              </a:ext>
            </a:extLst>
          </p:cNvPr>
          <p:cNvSpPr txBox="1"/>
          <p:nvPr/>
        </p:nvSpPr>
        <p:spPr>
          <a:xfrm>
            <a:off x="4767796" y="8819407"/>
            <a:ext cx="8604956" cy="646331"/>
          </a:xfrm>
          <a:prstGeom prst="rect">
            <a:avLst/>
          </a:prstGeom>
          <a:noFill/>
        </p:spPr>
        <p:txBody>
          <a:bodyPr wrap="square">
            <a:spAutoFit/>
          </a:bodyPr>
          <a:lstStyle/>
          <a:p>
            <a:r>
              <a:rPr lang="en-US" altLang="ja-JP"/>
              <a:t>FLIGHT-AG</a:t>
            </a:r>
            <a:r>
              <a:rPr lang="ja-JP" altLang="en-US"/>
              <a:t>（</a:t>
            </a:r>
            <a:r>
              <a:rPr lang="en-US" altLang="ja-JP"/>
              <a:t>2019</a:t>
            </a:r>
            <a:r>
              <a:rPr lang="ja-JP" altLang="en-US"/>
              <a:t>年</a:t>
            </a:r>
            <a:r>
              <a:rPr lang="en-US" altLang="ja-JP"/>
              <a:t>4</a:t>
            </a:r>
            <a:r>
              <a:rPr lang="ja-JP" altLang="en-US"/>
              <a:t>月</a:t>
            </a:r>
            <a:r>
              <a:rPr lang="en-US" altLang="ja-JP"/>
              <a:t>19</a:t>
            </a:r>
            <a:r>
              <a:rPr lang="ja-JP" altLang="en-US"/>
              <a:t>日）</a:t>
            </a:r>
            <a:r>
              <a:rPr lang="en-US" altLang="ja-JP"/>
              <a:t>『</a:t>
            </a:r>
            <a:r>
              <a:rPr lang="ja-JP" altLang="en-US"/>
              <a:t>プリグロックスとは？パラコート系除草剤について</a:t>
            </a:r>
            <a:r>
              <a:rPr lang="en-US" altLang="ja-JP"/>
              <a:t>』</a:t>
            </a:r>
            <a:r>
              <a:rPr lang="ja-JP" altLang="en-US"/>
              <a:t>。</a:t>
            </a:r>
            <a:r>
              <a:rPr lang="en-US" altLang="ja-JP">
                <a:hlinkClick r:id="rId3"/>
              </a:rPr>
              <a:t>https://flights-ag.com/herbicide/102/</a:t>
            </a:r>
            <a:r>
              <a:rPr lang="ja-JP" altLang="en-US">
                <a:hlinkClick r:id="rId3"/>
              </a:rPr>
              <a:t>（</a:t>
            </a:r>
            <a:r>
              <a:rPr lang="en-US" altLang="ja-JP">
                <a:hlinkClick r:id="rId3"/>
              </a:rPr>
              <a:t>2025</a:t>
            </a:r>
            <a:r>
              <a:rPr lang="ja-JP" altLang="en-US">
                <a:hlinkClick r:id="rId3"/>
              </a:rPr>
              <a:t>年</a:t>
            </a:r>
            <a:r>
              <a:rPr lang="en-US" altLang="ja-JP">
                <a:hlinkClick r:id="rId3"/>
              </a:rPr>
              <a:t>6</a:t>
            </a:r>
            <a:r>
              <a:rPr lang="ja-JP" altLang="en-US">
                <a:hlinkClick r:id="rId3"/>
              </a:rPr>
              <a:t>月</a:t>
            </a:r>
            <a:r>
              <a:rPr lang="en-US" altLang="ja-JP">
                <a:hlinkClick r:id="rId3"/>
              </a:rPr>
              <a:t>3</a:t>
            </a:r>
            <a:r>
              <a:rPr lang="ja-JP" altLang="en-US">
                <a:hlinkClick r:id="rId3"/>
              </a:rPr>
              <a:t>日閲覧）</a:t>
            </a:r>
            <a:endParaRPr lang="ja-JP" altLang="en-US"/>
          </a:p>
        </p:txBody>
      </p:sp>
    </p:spTree>
    <p:extLst>
      <p:ext uri="{BB962C8B-B14F-4D97-AF65-F5344CB8AC3E}">
        <p14:creationId xmlns:p14="http://schemas.microsoft.com/office/powerpoint/2010/main" val="3839312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56238-E333-C6E9-DEDE-C523189E7C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9CF770-D2BB-B01D-10CB-C533BB0F6ED4}"/>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DA31B4D9-1785-8AE5-0562-D8BF765987D4}"/>
              </a:ext>
            </a:extLst>
          </p:cNvPr>
          <p:cNvSpPr>
            <a:spLocks noGrp="1"/>
          </p:cNvSpPr>
          <p:nvPr>
            <p:ph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CAB9B0A-600E-4DB0-9B11-4D0BF856ED9B}"/>
              </a:ext>
            </a:extLst>
          </p:cNvPr>
          <p:cNvSpPr>
            <a:spLocks noGrp="1"/>
          </p:cNvSpPr>
          <p:nvPr>
            <p:ph type="sldNum" sz="quarter" idx="12"/>
          </p:nvPr>
        </p:nvSpPr>
        <p:spPr/>
        <p:txBody>
          <a:bodyPr/>
          <a:lstStyle/>
          <a:p>
            <a:pPr>
              <a:defRPr/>
            </a:pPr>
            <a:fld id="{6B43C332-1484-4553-8349-0303A35840A7}" type="slidenum">
              <a:rPr lang="ja-JP" altLang="en-US" smtClean="0"/>
              <a:pPr>
                <a:defRPr/>
              </a:pPr>
              <a:t>27</a:t>
            </a:fld>
            <a:endParaRPr lang="ja-JP" altLang="en-US"/>
          </a:p>
        </p:txBody>
      </p:sp>
      <p:sp>
        <p:nvSpPr>
          <p:cNvPr id="8" name="テキスト ボックス 7">
            <a:extLst>
              <a:ext uri="{FF2B5EF4-FFF2-40B4-BE49-F238E27FC236}">
                <a16:creationId xmlns:a16="http://schemas.microsoft.com/office/drawing/2014/main" id="{D05C8CDA-B1CE-4A67-B45B-46557F61D580}"/>
              </a:ext>
            </a:extLst>
          </p:cNvPr>
          <p:cNvSpPr txBox="1"/>
          <p:nvPr/>
        </p:nvSpPr>
        <p:spPr>
          <a:xfrm>
            <a:off x="4767796" y="8819407"/>
            <a:ext cx="8604956" cy="646331"/>
          </a:xfrm>
          <a:prstGeom prst="rect">
            <a:avLst/>
          </a:prstGeom>
          <a:noFill/>
        </p:spPr>
        <p:txBody>
          <a:bodyPr wrap="square">
            <a:spAutoFit/>
          </a:bodyPr>
          <a:lstStyle/>
          <a:p>
            <a:r>
              <a:rPr lang="en-US" altLang="ja-JP" dirty="0"/>
              <a:t>FLIGHT-AG</a:t>
            </a:r>
            <a:r>
              <a:rPr lang="ja-JP" altLang="en-US" dirty="0"/>
              <a:t>（</a:t>
            </a:r>
            <a:r>
              <a:rPr lang="en-US" altLang="ja-JP" dirty="0"/>
              <a:t>2019</a:t>
            </a:r>
            <a:r>
              <a:rPr lang="ja-JP" altLang="en-US" dirty="0"/>
              <a:t>年</a:t>
            </a:r>
            <a:r>
              <a:rPr lang="en-US" altLang="ja-JP" dirty="0"/>
              <a:t>4</a:t>
            </a:r>
            <a:r>
              <a:rPr lang="ja-JP" altLang="en-US" dirty="0"/>
              <a:t>月</a:t>
            </a:r>
            <a:r>
              <a:rPr lang="en-US" altLang="ja-JP" dirty="0"/>
              <a:t>19</a:t>
            </a:r>
            <a:r>
              <a:rPr lang="ja-JP" altLang="en-US" dirty="0"/>
              <a:t>日）</a:t>
            </a:r>
            <a:r>
              <a:rPr lang="en-US" altLang="ja-JP" dirty="0"/>
              <a:t>『</a:t>
            </a:r>
            <a:r>
              <a:rPr lang="ja-JP" altLang="en-US" dirty="0"/>
              <a:t>プリグロックスとは？パラコート系除草剤について</a:t>
            </a:r>
            <a:r>
              <a:rPr lang="en-US" altLang="ja-JP" dirty="0"/>
              <a:t>』</a:t>
            </a:r>
            <a:r>
              <a:rPr lang="ja-JP" altLang="en-US" dirty="0"/>
              <a:t>。</a:t>
            </a:r>
            <a:r>
              <a:rPr lang="en-US" altLang="ja-JP" dirty="0">
                <a:hlinkClick r:id="rId2"/>
              </a:rPr>
              <a:t>https://flights-ag.com/herbicide/102/</a:t>
            </a:r>
            <a:r>
              <a:rPr lang="ja-JP" altLang="en-US" dirty="0">
                <a:hlinkClick r:id="rId2"/>
              </a:rPr>
              <a:t>（</a:t>
            </a:r>
            <a:r>
              <a:rPr lang="en-US" altLang="ja-JP" dirty="0">
                <a:hlinkClick r:id="rId2"/>
              </a:rPr>
              <a:t>2026</a:t>
            </a:r>
            <a:r>
              <a:rPr lang="ja-JP" altLang="en-US" dirty="0">
                <a:hlinkClick r:id="rId2"/>
              </a:rPr>
              <a:t>年</a:t>
            </a:r>
            <a:r>
              <a:rPr lang="en-US" altLang="ja-JP" dirty="0">
                <a:hlinkClick r:id="rId2"/>
              </a:rPr>
              <a:t>5</a:t>
            </a:r>
            <a:r>
              <a:rPr lang="ja-JP" altLang="en-US" dirty="0">
                <a:hlinkClick r:id="rId2"/>
              </a:rPr>
              <a:t>月</a:t>
            </a:r>
            <a:r>
              <a:rPr lang="en-US" altLang="ja-JP" dirty="0">
                <a:hlinkClick r:id="rId2"/>
              </a:rPr>
              <a:t>25</a:t>
            </a:r>
            <a:r>
              <a:rPr lang="ja-JP" altLang="en-US" dirty="0">
                <a:hlinkClick r:id="rId2"/>
              </a:rPr>
              <a:t>日閲覧）</a:t>
            </a:r>
            <a:endParaRPr lang="ja-JP" altLang="en-US" dirty="0"/>
          </a:p>
        </p:txBody>
      </p:sp>
      <p:pic>
        <p:nvPicPr>
          <p:cNvPr id="7" name="図 6">
            <a:extLst>
              <a:ext uri="{FF2B5EF4-FFF2-40B4-BE49-F238E27FC236}">
                <a16:creationId xmlns:a16="http://schemas.microsoft.com/office/drawing/2014/main" id="{2F5A2DA7-D126-DB9C-47AB-CBBF15AAEBC4}"/>
              </a:ext>
            </a:extLst>
          </p:cNvPr>
          <p:cNvPicPr>
            <a:picLocks noChangeAspect="1"/>
          </p:cNvPicPr>
          <p:nvPr/>
        </p:nvPicPr>
        <p:blipFill>
          <a:blip r:embed="rId3"/>
          <a:stretch>
            <a:fillRect/>
          </a:stretch>
        </p:blipFill>
        <p:spPr>
          <a:xfrm>
            <a:off x="0" y="920552"/>
            <a:ext cx="13221240" cy="7128792"/>
          </a:xfrm>
          <a:prstGeom prst="rect">
            <a:avLst/>
          </a:prstGeom>
        </p:spPr>
      </p:pic>
    </p:spTree>
    <p:extLst>
      <p:ext uri="{BB962C8B-B14F-4D97-AF65-F5344CB8AC3E}">
        <p14:creationId xmlns:p14="http://schemas.microsoft.com/office/powerpoint/2010/main" val="3000015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この実習のミッション</a:t>
            </a:r>
            <a:endParaRPr kumimoji="1" lang="ja-JP" altLang="en-US" dirty="0"/>
          </a:p>
        </p:txBody>
      </p:sp>
      <p:sp>
        <p:nvSpPr>
          <p:cNvPr id="3" name="コンテンツ プレースホルダー 2"/>
          <p:cNvSpPr>
            <a:spLocks noGrp="1"/>
          </p:cNvSpPr>
          <p:nvPr>
            <p:ph idx="1"/>
          </p:nvPr>
        </p:nvSpPr>
        <p:spPr>
          <a:xfrm>
            <a:off x="155284" y="1388604"/>
            <a:ext cx="13001444" cy="6537502"/>
          </a:xfrm>
        </p:spPr>
        <p:txBody>
          <a:bodyPr/>
          <a:lstStyle/>
          <a:p>
            <a:pPr>
              <a:lnSpc>
                <a:spcPct val="150000"/>
              </a:lnSpc>
            </a:pPr>
            <a:r>
              <a:rPr lang="ja-JP" altLang="en-US" sz="6355" dirty="0"/>
              <a:t>　分析は、臨床家による、</a:t>
            </a:r>
            <a:r>
              <a:rPr lang="ja-JP" altLang="en-US" sz="6355" u="sng" dirty="0">
                <a:solidFill>
                  <a:srgbClr val="C00000"/>
                </a:solidFill>
              </a:rPr>
              <a:t>現場の残留物</a:t>
            </a:r>
            <a:r>
              <a:rPr lang="ja-JP" altLang="en-US" sz="6355" dirty="0"/>
              <a:t>、</a:t>
            </a:r>
            <a:r>
              <a:rPr lang="ja-JP" altLang="en-US" sz="6355" u="sng" dirty="0">
                <a:solidFill>
                  <a:srgbClr val="C00000"/>
                </a:solidFill>
              </a:rPr>
              <a:t>患者の病歴</a:t>
            </a:r>
            <a:r>
              <a:rPr lang="ja-JP" altLang="en-US" sz="6355" dirty="0"/>
              <a:t>、</a:t>
            </a:r>
            <a:r>
              <a:rPr lang="ja-JP" altLang="en-US" sz="6355" u="sng" dirty="0">
                <a:solidFill>
                  <a:srgbClr val="C00000"/>
                </a:solidFill>
              </a:rPr>
              <a:t>患者の生活歴</a:t>
            </a:r>
            <a:r>
              <a:rPr lang="ja-JP" altLang="en-US" sz="6355" dirty="0"/>
              <a:t>、</a:t>
            </a:r>
            <a:r>
              <a:rPr lang="ja-JP" altLang="en-US" sz="6355" u="sng" dirty="0">
                <a:solidFill>
                  <a:srgbClr val="C00000"/>
                </a:solidFill>
              </a:rPr>
              <a:t>身体所見</a:t>
            </a:r>
            <a:r>
              <a:rPr lang="ja-JP" altLang="en-US" sz="6355" dirty="0"/>
              <a:t>、などの情報がないとどうにもならない。</a:t>
            </a:r>
            <a:r>
              <a:rPr lang="ja-JP" altLang="en-US" sz="6355" dirty="0">
                <a:solidFill>
                  <a:srgbClr val="C00000"/>
                </a:solidFill>
              </a:rPr>
              <a:t>とはいえ、簡易検査でわかることもある。</a:t>
            </a:r>
          </a:p>
        </p:txBody>
      </p:sp>
    </p:spTree>
    <p:extLst>
      <p:ext uri="{BB962C8B-B14F-4D97-AF65-F5344CB8AC3E}">
        <p14:creationId xmlns:p14="http://schemas.microsoft.com/office/powerpoint/2010/main" val="3088817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890A5CEF-8FA4-4EAF-A5C8-B5210F5E6D61}"/>
              </a:ext>
            </a:extLst>
          </p:cNvPr>
          <p:cNvSpPr/>
          <p:nvPr/>
        </p:nvSpPr>
        <p:spPr>
          <a:xfrm>
            <a:off x="155284" y="5853100"/>
            <a:ext cx="12713412" cy="2952328"/>
          </a:xfrm>
          <a:prstGeom prst="roundRect">
            <a:avLst/>
          </a:prstGeom>
          <a:solidFill>
            <a:schemeClr val="accent6">
              <a:lumMod val="20000"/>
              <a:lumOff val="80000"/>
            </a:schemeClr>
          </a:solidFill>
          <a:ln>
            <a:no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
        <p:nvSpPr>
          <p:cNvPr id="2" name="タイトル 1">
            <a:extLst>
              <a:ext uri="{FF2B5EF4-FFF2-40B4-BE49-F238E27FC236}">
                <a16:creationId xmlns:a16="http://schemas.microsoft.com/office/drawing/2014/main" id="{5D3C51A6-E63E-4D36-A140-F793448D7728}"/>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E3CDBE37-9271-434B-A5C6-E7A54E20F81F}"/>
              </a:ext>
            </a:extLst>
          </p:cNvPr>
          <p:cNvSpPr>
            <a:spLocks noGrp="1"/>
          </p:cNvSpPr>
          <p:nvPr>
            <p:ph idx="1"/>
          </p:nvPr>
        </p:nvSpPr>
        <p:spPr>
          <a:xfrm>
            <a:off x="363306" y="1175804"/>
            <a:ext cx="12481387" cy="5865428"/>
          </a:xfrm>
        </p:spPr>
        <p:txBody>
          <a:bodyPr/>
          <a:lstStyle/>
          <a:p>
            <a:r>
              <a:rPr kumimoji="1" lang="ja-JP" altLang="en-US" dirty="0"/>
              <a:t>実習症例０，１，２</a:t>
            </a:r>
            <a:r>
              <a:rPr kumimoji="1" lang="en-US" altLang="ja-JP" dirty="0"/>
              <a:t>, </a:t>
            </a:r>
            <a:r>
              <a:rPr kumimoji="1" lang="ja-JP" altLang="en-US" dirty="0"/>
              <a:t>３および４について</a:t>
            </a:r>
            <a:endParaRPr kumimoji="1" lang="en-US" altLang="ja-JP" dirty="0"/>
          </a:p>
          <a:p>
            <a:r>
              <a:rPr lang="ja-JP" altLang="en-US" dirty="0">
                <a:solidFill>
                  <a:srgbClr val="C00000"/>
                </a:solidFill>
              </a:rPr>
              <a:t>簡易検査</a:t>
            </a:r>
            <a:r>
              <a:rPr lang="ja-JP" altLang="en-US" dirty="0"/>
              <a:t>　</a:t>
            </a:r>
            <a:endParaRPr lang="en-US" altLang="ja-JP" dirty="0"/>
          </a:p>
          <a:p>
            <a:r>
              <a:rPr lang="ja-JP" altLang="en-US" dirty="0"/>
              <a:t>   検知管法　 </a:t>
            </a:r>
            <a:r>
              <a:rPr lang="en-US" altLang="ja-JP" dirty="0"/>
              <a:t>or</a:t>
            </a:r>
            <a:r>
              <a:rPr kumimoji="1" lang="ja-JP" altLang="en-US" dirty="0"/>
              <a:t>　イムノクロマトグラフィー法</a:t>
            </a:r>
            <a:endParaRPr kumimoji="1" lang="en-US" altLang="ja-JP" dirty="0"/>
          </a:p>
          <a:p>
            <a:r>
              <a:rPr lang="ja-JP" altLang="en-US" dirty="0"/>
              <a:t>　を</a:t>
            </a:r>
            <a:r>
              <a:rPr lang="en-US" altLang="ja-JP" dirty="0"/>
              <a:t>TPO</a:t>
            </a:r>
            <a:r>
              <a:rPr lang="ja-JP" altLang="en-US" dirty="0"/>
              <a:t>に応じて実施する</a:t>
            </a:r>
            <a:endParaRPr lang="en-US" altLang="ja-JP" dirty="0"/>
          </a:p>
          <a:p>
            <a:r>
              <a:rPr kumimoji="1" lang="ja-JP" altLang="en-US" dirty="0"/>
              <a:t>→</a:t>
            </a:r>
            <a:r>
              <a:rPr lang="ja-JP" altLang="en-US" dirty="0"/>
              <a:t>旧来</a:t>
            </a:r>
            <a:r>
              <a:rPr kumimoji="1" lang="ja-JP" altLang="en-US" dirty="0"/>
              <a:t>であればさらに定量（半定量）検査をそれぞれ担当して実施してもらっていましたが、新型コロナウィルス感染症の流行を鑑み→解説プレゼン視聴</a:t>
            </a:r>
          </a:p>
        </p:txBody>
      </p:sp>
    </p:spTree>
    <p:extLst>
      <p:ext uri="{BB962C8B-B14F-4D97-AF65-F5344CB8AC3E}">
        <p14:creationId xmlns:p14="http://schemas.microsoft.com/office/powerpoint/2010/main" val="2216988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3">
            <a:extLst>
              <a:ext uri="{FF2B5EF4-FFF2-40B4-BE49-F238E27FC236}">
                <a16:creationId xmlns:a16="http://schemas.microsoft.com/office/drawing/2014/main" id="{A464F89B-0D51-4725-8F93-38D617BDF1B7}"/>
              </a:ext>
            </a:extLst>
          </p:cNvPr>
          <p:cNvSpPr>
            <a:spLocks noGrp="1"/>
          </p:cNvSpPr>
          <p:nvPr>
            <p:ph type="title"/>
          </p:nvPr>
        </p:nvSpPr>
        <p:spPr>
          <a:xfrm>
            <a:off x="154631" y="156796"/>
            <a:ext cx="6750750" cy="438237"/>
          </a:xfrm>
        </p:spPr>
        <p:txBody>
          <a:bodyPr/>
          <a:lstStyle/>
          <a:p>
            <a:r>
              <a:rPr lang="ja-JP" altLang="en-US" dirty="0">
                <a:latin typeface="HGS創英角ｺﾞｼｯｸUB" pitchFamily="50" charset="-128"/>
                <a:ea typeface="HGS創英角ｺﾞｼｯｸUB" pitchFamily="50" charset="-128"/>
              </a:rPr>
              <a:t>実習症例０（実習のすすめかた）</a:t>
            </a:r>
          </a:p>
        </p:txBody>
      </p:sp>
      <p:sp>
        <p:nvSpPr>
          <p:cNvPr id="5" name="テキスト ボックス 4">
            <a:extLst>
              <a:ext uri="{FF2B5EF4-FFF2-40B4-BE49-F238E27FC236}">
                <a16:creationId xmlns:a16="http://schemas.microsoft.com/office/drawing/2014/main" id="{9A197385-F55B-49C3-8663-773B04157416}"/>
              </a:ext>
            </a:extLst>
          </p:cNvPr>
          <p:cNvSpPr txBox="1"/>
          <p:nvPr/>
        </p:nvSpPr>
        <p:spPr>
          <a:xfrm>
            <a:off x="123280" y="884548"/>
            <a:ext cx="6666169" cy="3539430"/>
          </a:xfrm>
          <a:prstGeom prst="rect">
            <a:avLst/>
          </a:prstGeom>
          <a:noFill/>
        </p:spPr>
        <p:txBody>
          <a:bodyPr wrap="square">
            <a:spAutoFit/>
          </a:bodyPr>
          <a:lstStyle/>
          <a:p>
            <a:pPr algn="just"/>
            <a:r>
              <a:rPr lang="ja-JP" altLang="en-US" sz="1600" dirty="0"/>
              <a:t>実習症例</a:t>
            </a:r>
            <a:r>
              <a:rPr lang="en-US" altLang="ja-JP" sz="1600" dirty="0"/>
              <a:t>0</a:t>
            </a:r>
          </a:p>
          <a:p>
            <a:pPr algn="just"/>
            <a:r>
              <a:rPr lang="ja-JP" altLang="en-US" sz="1600" dirty="0"/>
              <a:t>　死亡者：１９歳の男性</a:t>
            </a:r>
            <a:endParaRPr lang="en-US" altLang="ja-JP" sz="1600" dirty="0"/>
          </a:p>
          <a:p>
            <a:pPr algn="just"/>
            <a:r>
              <a:rPr lang="ja-JP" altLang="en-US" sz="1600" dirty="0"/>
              <a:t>　自宅風呂場で倒れているのを家人が発見し救急車を要請した。救急隊到着時心肺停止状態とのことで救急搬送依頼があった。病着時救急隊から、「救急隊現着時、風呂場は中から施錠されており、すぐに入れなかった。救急隊員が小窓から観察した際には患者の呼吸が確認されたが、鍵を壊して風呂場に入り倒れている患者を収容した際には心肺停止であった。また、風呂場では異臭がした。」と報告された。病院収容後心肺蘇生術を開始し、</a:t>
            </a:r>
            <a:r>
              <a:rPr lang="en-US" altLang="ja-JP" sz="1600" dirty="0"/>
              <a:t>5 </a:t>
            </a:r>
            <a:r>
              <a:rPr lang="ja-JP" altLang="en-US" sz="1600" dirty="0"/>
              <a:t>分後に自己心拍が再開した。搬送時に患者からは明らかな異臭はなかったが、治療開始後医師 </a:t>
            </a:r>
            <a:r>
              <a:rPr lang="en-US" altLang="ja-JP" sz="1600" dirty="0"/>
              <a:t>1</a:t>
            </a:r>
            <a:r>
              <a:rPr lang="ja-JP" altLang="en-US" sz="1600" dirty="0"/>
              <a:t>名が患者を覗き込んだ際に「目がチカチカする」という症状を訴えた（後日，搬送に携わった救急隊員にも目がチカチカするなどの症状が出ていたことを確認した）。治療中に消防局より追加の情報提供があり，「風呂場で </a:t>
            </a:r>
            <a:r>
              <a:rPr lang="en-US" altLang="ja-JP" sz="1600" dirty="0"/>
              <a:t>5 </a:t>
            </a:r>
            <a:r>
              <a:rPr lang="ja-JP" altLang="en-US" sz="1600" dirty="0"/>
              <a:t>種類ほどのトイレ洗浄剤などが容器の中で混ぜられた痕跡がある。よって，それらが異臭の原因と考えられる。」とのことであった。</a:t>
            </a:r>
            <a:endParaRPr lang="en-US" altLang="ja-JP" sz="1600" dirty="0"/>
          </a:p>
        </p:txBody>
      </p:sp>
      <p:sp>
        <p:nvSpPr>
          <p:cNvPr id="7" name="テキスト ボックス 6">
            <a:extLst>
              <a:ext uri="{FF2B5EF4-FFF2-40B4-BE49-F238E27FC236}">
                <a16:creationId xmlns:a16="http://schemas.microsoft.com/office/drawing/2014/main" id="{1EC612FD-F998-4B92-B129-3976BD790DE5}"/>
              </a:ext>
            </a:extLst>
          </p:cNvPr>
          <p:cNvSpPr txBox="1"/>
          <p:nvPr/>
        </p:nvSpPr>
        <p:spPr>
          <a:xfrm>
            <a:off x="72432" y="8963589"/>
            <a:ext cx="3457574" cy="523220"/>
          </a:xfrm>
          <a:prstGeom prst="rect">
            <a:avLst/>
          </a:prstGeom>
          <a:noFill/>
        </p:spPr>
        <p:txBody>
          <a:bodyPr wrap="square">
            <a:spAutoFit/>
          </a:bodyPr>
          <a:lstStyle/>
          <a:p>
            <a:r>
              <a:rPr lang="ja-JP" altLang="en-US" sz="1400" dirty="0">
                <a:solidFill>
                  <a:srgbClr val="222222"/>
                </a:solidFill>
                <a:latin typeface="Arial" panose="020B0604020202020204" pitchFamily="34" charset="0"/>
              </a:rPr>
              <a:t>森井大一ほか、日本救急医学会雑誌 </a:t>
            </a:r>
            <a:r>
              <a:rPr lang="en-US" altLang="ja-JP" sz="1400" dirty="0">
                <a:solidFill>
                  <a:srgbClr val="222222"/>
                </a:solidFill>
                <a:latin typeface="Arial" panose="020B0604020202020204" pitchFamily="34" charset="0"/>
              </a:rPr>
              <a:t>19.2 (2008): 136-136.</a:t>
            </a:r>
            <a:r>
              <a:rPr lang="ja-JP" altLang="en-US" sz="1400" dirty="0">
                <a:solidFill>
                  <a:srgbClr val="222222"/>
                </a:solidFill>
                <a:latin typeface="Arial" panose="020B0604020202020204" pitchFamily="34" charset="0"/>
              </a:rPr>
              <a:t>を実習用に改変</a:t>
            </a:r>
            <a:endParaRPr lang="ja-JP" altLang="en-US" sz="1400" dirty="0"/>
          </a:p>
        </p:txBody>
      </p:sp>
      <p:sp>
        <p:nvSpPr>
          <p:cNvPr id="8" name="テキスト ボックス 7">
            <a:extLst>
              <a:ext uri="{FF2B5EF4-FFF2-40B4-BE49-F238E27FC236}">
                <a16:creationId xmlns:a16="http://schemas.microsoft.com/office/drawing/2014/main" id="{CD9F657E-044D-48A5-9CAC-40AC1C8DA292}"/>
              </a:ext>
            </a:extLst>
          </p:cNvPr>
          <p:cNvSpPr txBox="1"/>
          <p:nvPr/>
        </p:nvSpPr>
        <p:spPr>
          <a:xfrm>
            <a:off x="123279" y="4629676"/>
            <a:ext cx="6388893"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Q1</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：どのような中毒が疑われますか？（具体的薬物）</a:t>
            </a:r>
          </a:p>
        </p:txBody>
      </p:sp>
      <p:cxnSp>
        <p:nvCxnSpPr>
          <p:cNvPr id="9" name="直線コネクタ 8">
            <a:extLst>
              <a:ext uri="{FF2B5EF4-FFF2-40B4-BE49-F238E27FC236}">
                <a16:creationId xmlns:a16="http://schemas.microsoft.com/office/drawing/2014/main" id="{DCEF5DD2-97DA-4603-A710-40BDA8F64A1F}"/>
              </a:ext>
            </a:extLst>
          </p:cNvPr>
          <p:cNvCxnSpPr/>
          <p:nvPr/>
        </p:nvCxnSpPr>
        <p:spPr>
          <a:xfrm>
            <a:off x="352774" y="5755365"/>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3AF7B112-12F7-4C22-988A-26BB8B206775}"/>
              </a:ext>
            </a:extLst>
          </p:cNvPr>
          <p:cNvSpPr txBox="1"/>
          <p:nvPr/>
        </p:nvSpPr>
        <p:spPr>
          <a:xfrm>
            <a:off x="143123" y="5424130"/>
            <a:ext cx="5076564"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１：　</a:t>
            </a:r>
            <a:endParaRPr kumimoji="1" lang="ja-JP" altLang="en-US" dirty="0">
              <a:solidFill>
                <a:srgbClr val="C00000"/>
              </a:solidFill>
              <a:latin typeface="HGPｺﾞｼｯｸE" panose="020B0900000000000000" pitchFamily="50" charset="-128"/>
              <a:ea typeface="HGPｺﾞｼｯｸE" panose="020B0900000000000000" pitchFamily="50" charset="-128"/>
            </a:endParaRPr>
          </a:p>
        </p:txBody>
      </p:sp>
      <p:sp>
        <p:nvSpPr>
          <p:cNvPr id="11" name="テキスト ボックス 10">
            <a:extLst>
              <a:ext uri="{FF2B5EF4-FFF2-40B4-BE49-F238E27FC236}">
                <a16:creationId xmlns:a16="http://schemas.microsoft.com/office/drawing/2014/main" id="{4E26A73D-D9A8-429C-A141-3DB43E8018E9}"/>
              </a:ext>
            </a:extLst>
          </p:cNvPr>
          <p:cNvSpPr txBox="1"/>
          <p:nvPr/>
        </p:nvSpPr>
        <p:spPr>
          <a:xfrm>
            <a:off x="123278" y="5929629"/>
            <a:ext cx="6750750" cy="923330"/>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２：二次災害の恐れがあるため、現場にておおよその薬毒物の見当をつけたいと思います。机にでている簡易検査キットの中で、今回の症例の鑑別のために有効そうなものはどれですか？</a:t>
            </a:r>
          </a:p>
        </p:txBody>
      </p:sp>
      <p:cxnSp>
        <p:nvCxnSpPr>
          <p:cNvPr id="12" name="直線コネクタ 11">
            <a:extLst>
              <a:ext uri="{FF2B5EF4-FFF2-40B4-BE49-F238E27FC236}">
                <a16:creationId xmlns:a16="http://schemas.microsoft.com/office/drawing/2014/main" id="{CB122D4C-72AB-42F8-BC5C-421AADE78DD5}"/>
              </a:ext>
            </a:extLst>
          </p:cNvPr>
          <p:cNvCxnSpPr/>
          <p:nvPr/>
        </p:nvCxnSpPr>
        <p:spPr>
          <a:xfrm>
            <a:off x="242521" y="7403504"/>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1E93F1FE-87AD-4BC6-A9A8-E2A1F9E3EC15}"/>
              </a:ext>
            </a:extLst>
          </p:cNvPr>
          <p:cNvSpPr txBox="1"/>
          <p:nvPr/>
        </p:nvSpPr>
        <p:spPr>
          <a:xfrm>
            <a:off x="132270" y="6997407"/>
            <a:ext cx="5076564"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２：</a:t>
            </a:r>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　</a:t>
            </a:r>
            <a:endParaRPr kumimoji="1" lang="ja-JP" altLang="en-US" dirty="0">
              <a:solidFill>
                <a:srgbClr val="C00000"/>
              </a:solidFill>
              <a:latin typeface="HGPｺﾞｼｯｸE" panose="020B0900000000000000" pitchFamily="50" charset="-128"/>
              <a:ea typeface="HGPｺﾞｼｯｸE" panose="020B0900000000000000" pitchFamily="50" charset="-128"/>
            </a:endParaRPr>
          </a:p>
        </p:txBody>
      </p:sp>
      <p:sp>
        <p:nvSpPr>
          <p:cNvPr id="14" name="テキスト ボックス 13">
            <a:extLst>
              <a:ext uri="{FF2B5EF4-FFF2-40B4-BE49-F238E27FC236}">
                <a16:creationId xmlns:a16="http://schemas.microsoft.com/office/drawing/2014/main" id="{CDA0A33C-C4CB-4311-A1D1-351FAC243FBF}"/>
              </a:ext>
            </a:extLst>
          </p:cNvPr>
          <p:cNvSpPr txBox="1"/>
          <p:nvPr/>
        </p:nvSpPr>
        <p:spPr>
          <a:xfrm>
            <a:off x="132271" y="7537840"/>
            <a:ext cx="6490627" cy="923330"/>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３：実際に、</a:t>
            </a:r>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２で選択した簡易検査キットを使用して、使用薬物の推定をおこなってください。疑わしい薬物があれば、いくつか別のキットを使っても結構です。結果を簡潔にしめしてください。</a:t>
            </a:r>
          </a:p>
        </p:txBody>
      </p:sp>
      <p:cxnSp>
        <p:nvCxnSpPr>
          <p:cNvPr id="15" name="直線コネクタ 14">
            <a:extLst>
              <a:ext uri="{FF2B5EF4-FFF2-40B4-BE49-F238E27FC236}">
                <a16:creationId xmlns:a16="http://schemas.microsoft.com/office/drawing/2014/main" id="{6F06A5BB-F2A9-4F12-BC2B-87FAB718DDFF}"/>
              </a:ext>
            </a:extLst>
          </p:cNvPr>
          <p:cNvCxnSpPr/>
          <p:nvPr/>
        </p:nvCxnSpPr>
        <p:spPr>
          <a:xfrm>
            <a:off x="332929" y="8974611"/>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597A6BD1-AD99-4351-B14B-2A4D801FD634}"/>
              </a:ext>
            </a:extLst>
          </p:cNvPr>
          <p:cNvSpPr txBox="1"/>
          <p:nvPr/>
        </p:nvSpPr>
        <p:spPr>
          <a:xfrm>
            <a:off x="123278" y="8643376"/>
            <a:ext cx="5076564"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３：　</a:t>
            </a:r>
            <a:endParaRPr kumimoji="1" lang="ja-JP" altLang="en-US" dirty="0">
              <a:solidFill>
                <a:srgbClr val="C00000"/>
              </a:solidFill>
              <a:latin typeface="HGPｺﾞｼｯｸE" panose="020B0900000000000000" pitchFamily="50" charset="-128"/>
              <a:ea typeface="HGPｺﾞｼｯｸE" panose="020B0900000000000000" pitchFamily="50" charset="-128"/>
            </a:endParaRPr>
          </a:p>
        </p:txBody>
      </p:sp>
      <p:sp>
        <p:nvSpPr>
          <p:cNvPr id="17" name="正方形/長方形 16">
            <a:extLst>
              <a:ext uri="{FF2B5EF4-FFF2-40B4-BE49-F238E27FC236}">
                <a16:creationId xmlns:a16="http://schemas.microsoft.com/office/drawing/2014/main" id="{24F4A591-ADCF-46B7-A87F-8363CF82D68A}"/>
              </a:ext>
            </a:extLst>
          </p:cNvPr>
          <p:cNvSpPr/>
          <p:nvPr/>
        </p:nvSpPr>
        <p:spPr>
          <a:xfrm>
            <a:off x="0" y="0"/>
            <a:ext cx="7108056" cy="9906000"/>
          </a:xfrm>
          <a:prstGeom prst="rect">
            <a:avLst/>
          </a:prstGeom>
          <a:noFill/>
          <a:ln w="57150">
            <a:solidFill>
              <a:schemeClr val="bg1">
                <a:lumMod val="65000"/>
              </a:schemeClr>
            </a:solidFill>
          </a:ln>
        </p:spPr>
        <p:txBody>
          <a:bodyPr wrap="squar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
        <p:nvSpPr>
          <p:cNvPr id="18" name="矢印: 下 17">
            <a:extLst>
              <a:ext uri="{FF2B5EF4-FFF2-40B4-BE49-F238E27FC236}">
                <a16:creationId xmlns:a16="http://schemas.microsoft.com/office/drawing/2014/main" id="{1801CAA9-E985-48CB-89B0-E7AE61F8BFB1}"/>
              </a:ext>
            </a:extLst>
          </p:cNvPr>
          <p:cNvSpPr/>
          <p:nvPr/>
        </p:nvSpPr>
        <p:spPr>
          <a:xfrm rot="5400000">
            <a:off x="7024308" y="4633457"/>
            <a:ext cx="864096" cy="1581346"/>
          </a:xfrm>
          <a:prstGeom prst="downArrow">
            <a:avLst/>
          </a:prstGeom>
          <a:solidFill>
            <a:srgbClr val="C00000"/>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
        <p:nvSpPr>
          <p:cNvPr id="19" name="矢印: 下 18">
            <a:extLst>
              <a:ext uri="{FF2B5EF4-FFF2-40B4-BE49-F238E27FC236}">
                <a16:creationId xmlns:a16="http://schemas.microsoft.com/office/drawing/2014/main" id="{6DA30A03-AAF0-47CF-93F1-83ADD4A9D4A5}"/>
              </a:ext>
            </a:extLst>
          </p:cNvPr>
          <p:cNvSpPr/>
          <p:nvPr/>
        </p:nvSpPr>
        <p:spPr>
          <a:xfrm rot="5400000">
            <a:off x="6981523" y="6391400"/>
            <a:ext cx="864096" cy="1581346"/>
          </a:xfrm>
          <a:prstGeom prst="downArrow">
            <a:avLst/>
          </a:prstGeom>
          <a:solidFill>
            <a:srgbClr val="C00000"/>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6559314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3">
            <a:extLst>
              <a:ext uri="{FF2B5EF4-FFF2-40B4-BE49-F238E27FC236}">
                <a16:creationId xmlns:a16="http://schemas.microsoft.com/office/drawing/2014/main" id="{A464F89B-0D51-4725-8F93-38D617BDF1B7}"/>
              </a:ext>
            </a:extLst>
          </p:cNvPr>
          <p:cNvSpPr>
            <a:spLocks noGrp="1"/>
          </p:cNvSpPr>
          <p:nvPr>
            <p:ph type="title"/>
          </p:nvPr>
        </p:nvSpPr>
        <p:spPr>
          <a:xfrm>
            <a:off x="154631" y="156796"/>
            <a:ext cx="6750750" cy="438237"/>
          </a:xfrm>
        </p:spPr>
        <p:txBody>
          <a:bodyPr/>
          <a:lstStyle/>
          <a:p>
            <a:r>
              <a:rPr lang="ja-JP" altLang="en-US" dirty="0">
                <a:latin typeface="HGS創英角ｺﾞｼｯｸUB" pitchFamily="50" charset="-128"/>
                <a:ea typeface="HGS創英角ｺﾞｼｯｸUB" pitchFamily="50" charset="-128"/>
              </a:rPr>
              <a:t>実習症例０（実習のすすめかた）</a:t>
            </a:r>
          </a:p>
        </p:txBody>
      </p:sp>
      <p:sp>
        <p:nvSpPr>
          <p:cNvPr id="5" name="テキスト ボックス 4">
            <a:extLst>
              <a:ext uri="{FF2B5EF4-FFF2-40B4-BE49-F238E27FC236}">
                <a16:creationId xmlns:a16="http://schemas.microsoft.com/office/drawing/2014/main" id="{9A197385-F55B-49C3-8663-773B04157416}"/>
              </a:ext>
            </a:extLst>
          </p:cNvPr>
          <p:cNvSpPr txBox="1"/>
          <p:nvPr/>
        </p:nvSpPr>
        <p:spPr>
          <a:xfrm>
            <a:off x="123280" y="884548"/>
            <a:ext cx="6666169" cy="3539430"/>
          </a:xfrm>
          <a:prstGeom prst="rect">
            <a:avLst/>
          </a:prstGeom>
          <a:noFill/>
        </p:spPr>
        <p:txBody>
          <a:bodyPr wrap="square">
            <a:spAutoFit/>
          </a:bodyPr>
          <a:lstStyle/>
          <a:p>
            <a:pPr algn="just"/>
            <a:r>
              <a:rPr lang="ja-JP" altLang="en-US" sz="1600" dirty="0"/>
              <a:t>実習症例</a:t>
            </a:r>
            <a:r>
              <a:rPr lang="en-US" altLang="ja-JP" sz="1600" dirty="0"/>
              <a:t>0</a:t>
            </a:r>
          </a:p>
          <a:p>
            <a:pPr algn="just"/>
            <a:r>
              <a:rPr lang="ja-JP" altLang="en-US" sz="1600" dirty="0"/>
              <a:t>　死亡者：１９歳の男性</a:t>
            </a:r>
            <a:endParaRPr lang="en-US" altLang="ja-JP" sz="1600" dirty="0"/>
          </a:p>
          <a:p>
            <a:pPr algn="just"/>
            <a:r>
              <a:rPr lang="ja-JP" altLang="en-US" sz="1600" dirty="0"/>
              <a:t>　自宅風呂場で倒れているのを家人が発見し救急車を要請した。救急隊到着時心肺停止状態とのことで救急搬送依頼があった。病着時救急隊から、「救急隊現着時、風呂場は中から施錠されており、すぐに入れなかった。救急隊員が小窓から観察した際には患者の呼吸が確認されたが、鍵を壊して風呂場に入り倒れている患者を収容した際には心肺停止であった。また、風呂場では異臭がした。」と報告された。病院収容後心肺蘇生術を開始し、</a:t>
            </a:r>
            <a:r>
              <a:rPr lang="en-US" altLang="ja-JP" sz="1600" dirty="0"/>
              <a:t>5 </a:t>
            </a:r>
            <a:r>
              <a:rPr lang="ja-JP" altLang="en-US" sz="1600" dirty="0"/>
              <a:t>分後に自己心拍が再開した。搬送時に患者からは明らかな異臭はなかったが、治療開始後医師 </a:t>
            </a:r>
            <a:r>
              <a:rPr lang="en-US" altLang="ja-JP" sz="1600" dirty="0"/>
              <a:t>1</a:t>
            </a:r>
            <a:r>
              <a:rPr lang="ja-JP" altLang="en-US" sz="1600" dirty="0"/>
              <a:t>名が患者を覗き込んだ際に「目がチカチカする」という症状を訴えた（後日，搬送に携わった救急隊員にも目がチカチカするなどの症状が出ていたことを確認した）。治療中に消防局より追加の情報提供があり，「風呂場で </a:t>
            </a:r>
            <a:r>
              <a:rPr lang="en-US" altLang="ja-JP" sz="1600" dirty="0"/>
              <a:t>5 </a:t>
            </a:r>
            <a:r>
              <a:rPr lang="ja-JP" altLang="en-US" sz="1600" dirty="0"/>
              <a:t>種類ほどのトイレ洗浄剤などが容器の中で混ぜられた痕跡がある。よって，それらが異臭の原因と考えられる。」とのことであった。</a:t>
            </a:r>
            <a:endParaRPr lang="en-US" altLang="ja-JP" sz="1600" dirty="0"/>
          </a:p>
        </p:txBody>
      </p:sp>
      <p:sp>
        <p:nvSpPr>
          <p:cNvPr id="7" name="テキスト ボックス 6">
            <a:extLst>
              <a:ext uri="{FF2B5EF4-FFF2-40B4-BE49-F238E27FC236}">
                <a16:creationId xmlns:a16="http://schemas.microsoft.com/office/drawing/2014/main" id="{1EC612FD-F998-4B92-B129-3976BD790DE5}"/>
              </a:ext>
            </a:extLst>
          </p:cNvPr>
          <p:cNvSpPr txBox="1"/>
          <p:nvPr/>
        </p:nvSpPr>
        <p:spPr>
          <a:xfrm>
            <a:off x="72432" y="8963589"/>
            <a:ext cx="3457574" cy="523220"/>
          </a:xfrm>
          <a:prstGeom prst="rect">
            <a:avLst/>
          </a:prstGeom>
          <a:noFill/>
        </p:spPr>
        <p:txBody>
          <a:bodyPr wrap="square">
            <a:spAutoFit/>
          </a:bodyPr>
          <a:lstStyle/>
          <a:p>
            <a:r>
              <a:rPr lang="ja-JP" altLang="en-US" sz="1400" dirty="0">
                <a:solidFill>
                  <a:srgbClr val="222222"/>
                </a:solidFill>
                <a:latin typeface="Arial" panose="020B0604020202020204" pitchFamily="34" charset="0"/>
              </a:rPr>
              <a:t>森井大一ほか、日本救急医学会雑誌 </a:t>
            </a:r>
            <a:r>
              <a:rPr lang="en-US" altLang="ja-JP" sz="1400" dirty="0">
                <a:solidFill>
                  <a:srgbClr val="222222"/>
                </a:solidFill>
                <a:latin typeface="Arial" panose="020B0604020202020204" pitchFamily="34" charset="0"/>
              </a:rPr>
              <a:t>19.2 (2008): 136-136.</a:t>
            </a:r>
            <a:r>
              <a:rPr lang="ja-JP" altLang="en-US" sz="1400" dirty="0">
                <a:solidFill>
                  <a:srgbClr val="222222"/>
                </a:solidFill>
                <a:latin typeface="Arial" panose="020B0604020202020204" pitchFamily="34" charset="0"/>
              </a:rPr>
              <a:t>を実習用に改変</a:t>
            </a:r>
            <a:endParaRPr lang="ja-JP" altLang="en-US" sz="1400" dirty="0"/>
          </a:p>
        </p:txBody>
      </p:sp>
      <p:sp>
        <p:nvSpPr>
          <p:cNvPr id="8" name="テキスト ボックス 7">
            <a:extLst>
              <a:ext uri="{FF2B5EF4-FFF2-40B4-BE49-F238E27FC236}">
                <a16:creationId xmlns:a16="http://schemas.microsoft.com/office/drawing/2014/main" id="{CD9F657E-044D-48A5-9CAC-40AC1C8DA292}"/>
              </a:ext>
            </a:extLst>
          </p:cNvPr>
          <p:cNvSpPr txBox="1"/>
          <p:nvPr/>
        </p:nvSpPr>
        <p:spPr>
          <a:xfrm>
            <a:off x="123279" y="4629676"/>
            <a:ext cx="6388893"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Q1</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：どのような中毒が疑われますか？（具体的薬物）</a:t>
            </a:r>
          </a:p>
        </p:txBody>
      </p:sp>
      <p:cxnSp>
        <p:nvCxnSpPr>
          <p:cNvPr id="9" name="直線コネクタ 8">
            <a:extLst>
              <a:ext uri="{FF2B5EF4-FFF2-40B4-BE49-F238E27FC236}">
                <a16:creationId xmlns:a16="http://schemas.microsoft.com/office/drawing/2014/main" id="{DCEF5DD2-97DA-4603-A710-40BDA8F64A1F}"/>
              </a:ext>
            </a:extLst>
          </p:cNvPr>
          <p:cNvCxnSpPr/>
          <p:nvPr/>
        </p:nvCxnSpPr>
        <p:spPr>
          <a:xfrm>
            <a:off x="352774" y="5755365"/>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3AF7B112-12F7-4C22-988A-26BB8B206775}"/>
              </a:ext>
            </a:extLst>
          </p:cNvPr>
          <p:cNvSpPr txBox="1"/>
          <p:nvPr/>
        </p:nvSpPr>
        <p:spPr>
          <a:xfrm>
            <a:off x="143123" y="5424130"/>
            <a:ext cx="5076564"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１：　</a:t>
            </a:r>
            <a:r>
              <a:rPr kumimoji="1" lang="ja-JP" altLang="en-US" dirty="0">
                <a:solidFill>
                  <a:srgbClr val="C00000"/>
                </a:solidFill>
                <a:latin typeface="HGPｺﾞｼｯｸE" panose="020B0900000000000000" pitchFamily="50" charset="-128"/>
                <a:ea typeface="HGPｺﾞｼｯｸE" panose="020B0900000000000000" pitchFamily="50" charset="-128"/>
              </a:rPr>
              <a:t>硫化水素？　塩素？</a:t>
            </a:r>
          </a:p>
        </p:txBody>
      </p:sp>
      <p:sp>
        <p:nvSpPr>
          <p:cNvPr id="11" name="テキスト ボックス 10">
            <a:extLst>
              <a:ext uri="{FF2B5EF4-FFF2-40B4-BE49-F238E27FC236}">
                <a16:creationId xmlns:a16="http://schemas.microsoft.com/office/drawing/2014/main" id="{4E26A73D-D9A8-429C-A141-3DB43E8018E9}"/>
              </a:ext>
            </a:extLst>
          </p:cNvPr>
          <p:cNvSpPr txBox="1"/>
          <p:nvPr/>
        </p:nvSpPr>
        <p:spPr>
          <a:xfrm>
            <a:off x="123278" y="5929629"/>
            <a:ext cx="6750750" cy="923330"/>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２：二次災害の恐れがあるため、現場にておおよその薬毒物の見当をつけたいと思います。机にでている簡易検査キットの中で、今回の症例の鑑別のために有効そうなものはどれですか？</a:t>
            </a:r>
          </a:p>
        </p:txBody>
      </p:sp>
      <p:cxnSp>
        <p:nvCxnSpPr>
          <p:cNvPr id="12" name="直線コネクタ 11">
            <a:extLst>
              <a:ext uri="{FF2B5EF4-FFF2-40B4-BE49-F238E27FC236}">
                <a16:creationId xmlns:a16="http://schemas.microsoft.com/office/drawing/2014/main" id="{CB122D4C-72AB-42F8-BC5C-421AADE78DD5}"/>
              </a:ext>
            </a:extLst>
          </p:cNvPr>
          <p:cNvCxnSpPr/>
          <p:nvPr/>
        </p:nvCxnSpPr>
        <p:spPr>
          <a:xfrm>
            <a:off x="242521" y="7403504"/>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1E93F1FE-87AD-4BC6-A9A8-E2A1F9E3EC15}"/>
              </a:ext>
            </a:extLst>
          </p:cNvPr>
          <p:cNvSpPr txBox="1"/>
          <p:nvPr/>
        </p:nvSpPr>
        <p:spPr>
          <a:xfrm>
            <a:off x="132270" y="6997407"/>
            <a:ext cx="5076564"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２：</a:t>
            </a:r>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　</a:t>
            </a:r>
            <a:r>
              <a:rPr lang="ja-JP" altLang="en-US" dirty="0">
                <a:solidFill>
                  <a:srgbClr val="C00000"/>
                </a:solidFill>
                <a:latin typeface="HGPｺﾞｼｯｸE" panose="020B0900000000000000" pitchFamily="50" charset="-128"/>
                <a:ea typeface="HGPｺﾞｼｯｸE" panose="020B0900000000000000" pitchFamily="50" charset="-128"/>
              </a:rPr>
              <a:t>血中硫化水素</a:t>
            </a:r>
            <a:endParaRPr kumimoji="1" lang="ja-JP" altLang="en-US" dirty="0">
              <a:solidFill>
                <a:srgbClr val="C00000"/>
              </a:solidFill>
              <a:latin typeface="HGPｺﾞｼｯｸE" panose="020B0900000000000000" pitchFamily="50" charset="-128"/>
              <a:ea typeface="HGPｺﾞｼｯｸE" panose="020B0900000000000000" pitchFamily="50" charset="-128"/>
            </a:endParaRPr>
          </a:p>
        </p:txBody>
      </p:sp>
      <p:sp>
        <p:nvSpPr>
          <p:cNvPr id="14" name="テキスト ボックス 13">
            <a:extLst>
              <a:ext uri="{FF2B5EF4-FFF2-40B4-BE49-F238E27FC236}">
                <a16:creationId xmlns:a16="http://schemas.microsoft.com/office/drawing/2014/main" id="{CDA0A33C-C4CB-4311-A1D1-351FAC243FBF}"/>
              </a:ext>
            </a:extLst>
          </p:cNvPr>
          <p:cNvSpPr txBox="1"/>
          <p:nvPr/>
        </p:nvSpPr>
        <p:spPr>
          <a:xfrm>
            <a:off x="132271" y="7537840"/>
            <a:ext cx="6490627" cy="923330"/>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３：実際に、</a:t>
            </a:r>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２で選択した簡易検査キットを使用して、使用薬物の推定をおこなってください。疑わしい薬物があれば、いくつか別のキットを使っても結構です。結果を簡潔にしめしてください。</a:t>
            </a:r>
          </a:p>
        </p:txBody>
      </p:sp>
      <p:cxnSp>
        <p:nvCxnSpPr>
          <p:cNvPr id="15" name="直線コネクタ 14">
            <a:extLst>
              <a:ext uri="{FF2B5EF4-FFF2-40B4-BE49-F238E27FC236}">
                <a16:creationId xmlns:a16="http://schemas.microsoft.com/office/drawing/2014/main" id="{6F06A5BB-F2A9-4F12-BC2B-87FAB718DDFF}"/>
              </a:ext>
            </a:extLst>
          </p:cNvPr>
          <p:cNvCxnSpPr/>
          <p:nvPr/>
        </p:nvCxnSpPr>
        <p:spPr>
          <a:xfrm>
            <a:off x="332929" y="8974611"/>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597A6BD1-AD99-4351-B14B-2A4D801FD634}"/>
              </a:ext>
            </a:extLst>
          </p:cNvPr>
          <p:cNvSpPr txBox="1"/>
          <p:nvPr/>
        </p:nvSpPr>
        <p:spPr>
          <a:xfrm>
            <a:off x="123278" y="8643376"/>
            <a:ext cx="5076564"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３：　</a:t>
            </a:r>
            <a:endParaRPr kumimoji="1" lang="ja-JP" altLang="en-US" dirty="0">
              <a:solidFill>
                <a:srgbClr val="C00000"/>
              </a:solidFill>
              <a:latin typeface="HGPｺﾞｼｯｸE" panose="020B0900000000000000" pitchFamily="50" charset="-128"/>
              <a:ea typeface="HGPｺﾞｼｯｸE" panose="020B0900000000000000" pitchFamily="50" charset="-128"/>
            </a:endParaRPr>
          </a:p>
        </p:txBody>
      </p:sp>
      <p:sp>
        <p:nvSpPr>
          <p:cNvPr id="17" name="正方形/長方形 16">
            <a:extLst>
              <a:ext uri="{FF2B5EF4-FFF2-40B4-BE49-F238E27FC236}">
                <a16:creationId xmlns:a16="http://schemas.microsoft.com/office/drawing/2014/main" id="{24F4A591-ADCF-46B7-A87F-8363CF82D68A}"/>
              </a:ext>
            </a:extLst>
          </p:cNvPr>
          <p:cNvSpPr/>
          <p:nvPr/>
        </p:nvSpPr>
        <p:spPr>
          <a:xfrm>
            <a:off x="0" y="0"/>
            <a:ext cx="7108056" cy="9906000"/>
          </a:xfrm>
          <a:prstGeom prst="rect">
            <a:avLst/>
          </a:prstGeom>
          <a:noFill/>
          <a:ln w="57150">
            <a:solidFill>
              <a:schemeClr val="bg1">
                <a:lumMod val="65000"/>
              </a:schemeClr>
            </a:solidFill>
          </a:ln>
        </p:spPr>
        <p:txBody>
          <a:bodyPr wrap="squar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
        <p:nvSpPr>
          <p:cNvPr id="19" name="矢印: 下 18">
            <a:extLst>
              <a:ext uri="{FF2B5EF4-FFF2-40B4-BE49-F238E27FC236}">
                <a16:creationId xmlns:a16="http://schemas.microsoft.com/office/drawing/2014/main" id="{9CD33247-3BCC-4B80-8E0F-85A8520E3191}"/>
              </a:ext>
            </a:extLst>
          </p:cNvPr>
          <p:cNvSpPr/>
          <p:nvPr/>
        </p:nvSpPr>
        <p:spPr>
          <a:xfrm rot="5400000">
            <a:off x="6981523" y="6391400"/>
            <a:ext cx="864096" cy="1581346"/>
          </a:xfrm>
          <a:prstGeom prst="downArrow">
            <a:avLst/>
          </a:prstGeom>
          <a:solidFill>
            <a:srgbClr val="C00000"/>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
        <p:nvSpPr>
          <p:cNvPr id="2" name="矢印: 下 1">
            <a:extLst>
              <a:ext uri="{FF2B5EF4-FFF2-40B4-BE49-F238E27FC236}">
                <a16:creationId xmlns:a16="http://schemas.microsoft.com/office/drawing/2014/main" id="{282480BC-9DCD-F633-B6FA-04147E8C6587}"/>
              </a:ext>
            </a:extLst>
          </p:cNvPr>
          <p:cNvSpPr/>
          <p:nvPr/>
        </p:nvSpPr>
        <p:spPr>
          <a:xfrm rot="5400000">
            <a:off x="7024308" y="4633457"/>
            <a:ext cx="864096" cy="1581346"/>
          </a:xfrm>
          <a:prstGeom prst="downArrow">
            <a:avLst/>
          </a:prstGeom>
          <a:solidFill>
            <a:srgbClr val="C00000"/>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29009291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3">
            <a:extLst>
              <a:ext uri="{FF2B5EF4-FFF2-40B4-BE49-F238E27FC236}">
                <a16:creationId xmlns:a16="http://schemas.microsoft.com/office/drawing/2014/main" id="{A464F89B-0D51-4725-8F93-38D617BDF1B7}"/>
              </a:ext>
            </a:extLst>
          </p:cNvPr>
          <p:cNvSpPr>
            <a:spLocks noGrp="1"/>
          </p:cNvSpPr>
          <p:nvPr>
            <p:ph type="title"/>
          </p:nvPr>
        </p:nvSpPr>
        <p:spPr>
          <a:xfrm>
            <a:off x="154631" y="156796"/>
            <a:ext cx="6750750" cy="438237"/>
          </a:xfrm>
        </p:spPr>
        <p:txBody>
          <a:bodyPr/>
          <a:lstStyle/>
          <a:p>
            <a:r>
              <a:rPr lang="ja-JP" altLang="en-US" dirty="0">
                <a:latin typeface="HGS創英角ｺﾞｼｯｸUB" pitchFamily="50" charset="-128"/>
                <a:ea typeface="HGS創英角ｺﾞｼｯｸUB" pitchFamily="50" charset="-128"/>
              </a:rPr>
              <a:t>実習症例０（実習のすすめかた）</a:t>
            </a:r>
          </a:p>
        </p:txBody>
      </p:sp>
      <p:sp>
        <p:nvSpPr>
          <p:cNvPr id="5" name="テキスト ボックス 4">
            <a:extLst>
              <a:ext uri="{FF2B5EF4-FFF2-40B4-BE49-F238E27FC236}">
                <a16:creationId xmlns:a16="http://schemas.microsoft.com/office/drawing/2014/main" id="{9A197385-F55B-49C3-8663-773B04157416}"/>
              </a:ext>
            </a:extLst>
          </p:cNvPr>
          <p:cNvSpPr txBox="1"/>
          <p:nvPr/>
        </p:nvSpPr>
        <p:spPr>
          <a:xfrm>
            <a:off x="123280" y="884548"/>
            <a:ext cx="6666169" cy="3539430"/>
          </a:xfrm>
          <a:prstGeom prst="rect">
            <a:avLst/>
          </a:prstGeom>
          <a:noFill/>
        </p:spPr>
        <p:txBody>
          <a:bodyPr wrap="square">
            <a:spAutoFit/>
          </a:bodyPr>
          <a:lstStyle/>
          <a:p>
            <a:pPr algn="just"/>
            <a:r>
              <a:rPr lang="ja-JP" altLang="en-US" sz="1600" dirty="0"/>
              <a:t>実習症例</a:t>
            </a:r>
            <a:r>
              <a:rPr lang="en-US" altLang="ja-JP" sz="1600" dirty="0"/>
              <a:t>0</a:t>
            </a:r>
          </a:p>
          <a:p>
            <a:pPr algn="just"/>
            <a:r>
              <a:rPr lang="ja-JP" altLang="en-US" sz="1600" dirty="0"/>
              <a:t>　死亡者：１９歳の男性</a:t>
            </a:r>
            <a:endParaRPr lang="en-US" altLang="ja-JP" sz="1600" dirty="0"/>
          </a:p>
          <a:p>
            <a:pPr algn="just"/>
            <a:r>
              <a:rPr lang="ja-JP" altLang="en-US" sz="1600" dirty="0"/>
              <a:t>　自宅風呂場で倒れているのを家人が発見し救急車を要請した。救急隊到着時心肺停止状態とのことで救急搬送依頼があった。病着時救急隊から、「救急隊現着時、風呂場は中から施錠されており、すぐに入れなかった。救急隊員が小窓から観察した際には患者の呼吸が確認されたが、鍵を壊して風呂場に入り倒れている患者を収容した際には心肺停止であった。また、風呂場では異臭がした。」と報告された。病院収容後心肺蘇生術を開始し、</a:t>
            </a:r>
            <a:r>
              <a:rPr lang="en-US" altLang="ja-JP" sz="1600" dirty="0"/>
              <a:t>5 </a:t>
            </a:r>
            <a:r>
              <a:rPr lang="ja-JP" altLang="en-US" sz="1600" dirty="0"/>
              <a:t>分後に自己心拍が再開した。搬送時に患者からは明らかな異臭はなかったが、治療開始後医師 </a:t>
            </a:r>
            <a:r>
              <a:rPr lang="en-US" altLang="ja-JP" sz="1600" dirty="0"/>
              <a:t>1</a:t>
            </a:r>
            <a:r>
              <a:rPr lang="ja-JP" altLang="en-US" sz="1600" dirty="0"/>
              <a:t>名が患者を覗き込んだ際に「目がチカチカする」という症状を訴えた（後日，搬送に携わった救急隊員にも目がチカチカするなどの症状が出ていたことを確認した）。治療中に消防局より追加の情報提供があり，「風呂場で </a:t>
            </a:r>
            <a:r>
              <a:rPr lang="en-US" altLang="ja-JP" sz="1600" dirty="0"/>
              <a:t>5 </a:t>
            </a:r>
            <a:r>
              <a:rPr lang="ja-JP" altLang="en-US" sz="1600" dirty="0"/>
              <a:t>種類ほどのトイレ洗浄剤などが容器の中で混ぜられた痕跡がある。よって，それらが異臭の原因と考えられる。」とのことであった。</a:t>
            </a:r>
            <a:endParaRPr lang="en-US" altLang="ja-JP" sz="1600" dirty="0"/>
          </a:p>
        </p:txBody>
      </p:sp>
      <p:sp>
        <p:nvSpPr>
          <p:cNvPr id="7" name="テキスト ボックス 6">
            <a:extLst>
              <a:ext uri="{FF2B5EF4-FFF2-40B4-BE49-F238E27FC236}">
                <a16:creationId xmlns:a16="http://schemas.microsoft.com/office/drawing/2014/main" id="{1EC612FD-F998-4B92-B129-3976BD790DE5}"/>
              </a:ext>
            </a:extLst>
          </p:cNvPr>
          <p:cNvSpPr txBox="1"/>
          <p:nvPr/>
        </p:nvSpPr>
        <p:spPr>
          <a:xfrm>
            <a:off x="72432" y="8963589"/>
            <a:ext cx="3457574" cy="523220"/>
          </a:xfrm>
          <a:prstGeom prst="rect">
            <a:avLst/>
          </a:prstGeom>
          <a:noFill/>
        </p:spPr>
        <p:txBody>
          <a:bodyPr wrap="square">
            <a:spAutoFit/>
          </a:bodyPr>
          <a:lstStyle/>
          <a:p>
            <a:r>
              <a:rPr lang="ja-JP" altLang="en-US" sz="1400" dirty="0">
                <a:solidFill>
                  <a:srgbClr val="222222"/>
                </a:solidFill>
                <a:latin typeface="Arial" panose="020B0604020202020204" pitchFamily="34" charset="0"/>
              </a:rPr>
              <a:t>森井大一ほか、日本救急医学会雑誌 </a:t>
            </a:r>
            <a:r>
              <a:rPr lang="en-US" altLang="ja-JP" sz="1400" dirty="0">
                <a:solidFill>
                  <a:srgbClr val="222222"/>
                </a:solidFill>
                <a:latin typeface="Arial" panose="020B0604020202020204" pitchFamily="34" charset="0"/>
              </a:rPr>
              <a:t>19.2 (2008): 136-136.</a:t>
            </a:r>
            <a:r>
              <a:rPr lang="ja-JP" altLang="en-US" sz="1400" dirty="0">
                <a:solidFill>
                  <a:srgbClr val="222222"/>
                </a:solidFill>
                <a:latin typeface="Arial" panose="020B0604020202020204" pitchFamily="34" charset="0"/>
              </a:rPr>
              <a:t>を実習用に改変</a:t>
            </a:r>
            <a:endParaRPr lang="ja-JP" altLang="en-US" sz="1400" dirty="0"/>
          </a:p>
        </p:txBody>
      </p:sp>
      <p:sp>
        <p:nvSpPr>
          <p:cNvPr id="8" name="テキスト ボックス 7">
            <a:extLst>
              <a:ext uri="{FF2B5EF4-FFF2-40B4-BE49-F238E27FC236}">
                <a16:creationId xmlns:a16="http://schemas.microsoft.com/office/drawing/2014/main" id="{CD9F657E-044D-48A5-9CAC-40AC1C8DA292}"/>
              </a:ext>
            </a:extLst>
          </p:cNvPr>
          <p:cNvSpPr txBox="1"/>
          <p:nvPr/>
        </p:nvSpPr>
        <p:spPr>
          <a:xfrm>
            <a:off x="123279" y="4629676"/>
            <a:ext cx="6388893"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Q1</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：どのような中毒が疑われますか？（具体的薬物）</a:t>
            </a:r>
          </a:p>
        </p:txBody>
      </p:sp>
      <p:cxnSp>
        <p:nvCxnSpPr>
          <p:cNvPr id="9" name="直線コネクタ 8">
            <a:extLst>
              <a:ext uri="{FF2B5EF4-FFF2-40B4-BE49-F238E27FC236}">
                <a16:creationId xmlns:a16="http://schemas.microsoft.com/office/drawing/2014/main" id="{DCEF5DD2-97DA-4603-A710-40BDA8F64A1F}"/>
              </a:ext>
            </a:extLst>
          </p:cNvPr>
          <p:cNvCxnSpPr/>
          <p:nvPr/>
        </p:nvCxnSpPr>
        <p:spPr>
          <a:xfrm>
            <a:off x="352774" y="5755365"/>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3AF7B112-12F7-4C22-988A-26BB8B206775}"/>
              </a:ext>
            </a:extLst>
          </p:cNvPr>
          <p:cNvSpPr txBox="1"/>
          <p:nvPr/>
        </p:nvSpPr>
        <p:spPr>
          <a:xfrm>
            <a:off x="143123" y="5424130"/>
            <a:ext cx="5076564"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１：　</a:t>
            </a:r>
            <a:r>
              <a:rPr kumimoji="1" lang="ja-JP" altLang="en-US" dirty="0">
                <a:solidFill>
                  <a:srgbClr val="C00000"/>
                </a:solidFill>
                <a:latin typeface="HGPｺﾞｼｯｸE" panose="020B0900000000000000" pitchFamily="50" charset="-128"/>
                <a:ea typeface="HGPｺﾞｼｯｸE" panose="020B0900000000000000" pitchFamily="50" charset="-128"/>
              </a:rPr>
              <a:t>硫化水素？　塩素？</a:t>
            </a:r>
          </a:p>
        </p:txBody>
      </p:sp>
      <p:sp>
        <p:nvSpPr>
          <p:cNvPr id="11" name="テキスト ボックス 10">
            <a:extLst>
              <a:ext uri="{FF2B5EF4-FFF2-40B4-BE49-F238E27FC236}">
                <a16:creationId xmlns:a16="http://schemas.microsoft.com/office/drawing/2014/main" id="{4E26A73D-D9A8-429C-A141-3DB43E8018E9}"/>
              </a:ext>
            </a:extLst>
          </p:cNvPr>
          <p:cNvSpPr txBox="1"/>
          <p:nvPr/>
        </p:nvSpPr>
        <p:spPr>
          <a:xfrm>
            <a:off x="123278" y="5929629"/>
            <a:ext cx="6750750" cy="923330"/>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２：二次災害の恐れがあるため、現場にておおよその薬毒物の見当をつけたいと思います。机にでている簡易検査キットの中で、今回の症例の鑑別のために有効そうなものはどれですか？</a:t>
            </a:r>
          </a:p>
        </p:txBody>
      </p:sp>
      <p:cxnSp>
        <p:nvCxnSpPr>
          <p:cNvPr id="12" name="直線コネクタ 11">
            <a:extLst>
              <a:ext uri="{FF2B5EF4-FFF2-40B4-BE49-F238E27FC236}">
                <a16:creationId xmlns:a16="http://schemas.microsoft.com/office/drawing/2014/main" id="{CB122D4C-72AB-42F8-BC5C-421AADE78DD5}"/>
              </a:ext>
            </a:extLst>
          </p:cNvPr>
          <p:cNvCxnSpPr/>
          <p:nvPr/>
        </p:nvCxnSpPr>
        <p:spPr>
          <a:xfrm>
            <a:off x="242521" y="7403504"/>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1E93F1FE-87AD-4BC6-A9A8-E2A1F9E3EC15}"/>
              </a:ext>
            </a:extLst>
          </p:cNvPr>
          <p:cNvSpPr txBox="1"/>
          <p:nvPr/>
        </p:nvSpPr>
        <p:spPr>
          <a:xfrm>
            <a:off x="132270" y="6997407"/>
            <a:ext cx="5076564"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２：</a:t>
            </a:r>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　</a:t>
            </a:r>
            <a:r>
              <a:rPr lang="ja-JP" altLang="en-US" dirty="0">
                <a:solidFill>
                  <a:srgbClr val="C00000"/>
                </a:solidFill>
                <a:latin typeface="HGPｺﾞｼｯｸE" panose="020B0900000000000000" pitchFamily="50" charset="-128"/>
                <a:ea typeface="HGPｺﾞｼｯｸE" panose="020B0900000000000000" pitchFamily="50" charset="-128"/>
              </a:rPr>
              <a:t>血中硫化水素</a:t>
            </a:r>
            <a:endParaRPr kumimoji="1" lang="ja-JP" altLang="en-US" dirty="0">
              <a:solidFill>
                <a:srgbClr val="C00000"/>
              </a:solidFill>
              <a:latin typeface="HGPｺﾞｼｯｸE" panose="020B0900000000000000" pitchFamily="50" charset="-128"/>
              <a:ea typeface="HGPｺﾞｼｯｸE" panose="020B0900000000000000" pitchFamily="50" charset="-128"/>
            </a:endParaRPr>
          </a:p>
        </p:txBody>
      </p:sp>
      <p:sp>
        <p:nvSpPr>
          <p:cNvPr id="14" name="テキスト ボックス 13">
            <a:extLst>
              <a:ext uri="{FF2B5EF4-FFF2-40B4-BE49-F238E27FC236}">
                <a16:creationId xmlns:a16="http://schemas.microsoft.com/office/drawing/2014/main" id="{CDA0A33C-C4CB-4311-A1D1-351FAC243FBF}"/>
              </a:ext>
            </a:extLst>
          </p:cNvPr>
          <p:cNvSpPr txBox="1"/>
          <p:nvPr/>
        </p:nvSpPr>
        <p:spPr>
          <a:xfrm>
            <a:off x="132271" y="7537840"/>
            <a:ext cx="6490627" cy="923330"/>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３：実際に、</a:t>
            </a:r>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２で選択した簡易検査キットを使用して、使用薬物の推定をおこなってください。疑わしい薬物があれば、いくつか別のキットを使っても結構です。結果を簡潔にしめしてください。</a:t>
            </a:r>
          </a:p>
        </p:txBody>
      </p:sp>
      <p:cxnSp>
        <p:nvCxnSpPr>
          <p:cNvPr id="15" name="直線コネクタ 14">
            <a:extLst>
              <a:ext uri="{FF2B5EF4-FFF2-40B4-BE49-F238E27FC236}">
                <a16:creationId xmlns:a16="http://schemas.microsoft.com/office/drawing/2014/main" id="{6F06A5BB-F2A9-4F12-BC2B-87FAB718DDFF}"/>
              </a:ext>
            </a:extLst>
          </p:cNvPr>
          <p:cNvCxnSpPr/>
          <p:nvPr/>
        </p:nvCxnSpPr>
        <p:spPr>
          <a:xfrm>
            <a:off x="332929" y="8974611"/>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597A6BD1-AD99-4351-B14B-2A4D801FD634}"/>
              </a:ext>
            </a:extLst>
          </p:cNvPr>
          <p:cNvSpPr txBox="1"/>
          <p:nvPr/>
        </p:nvSpPr>
        <p:spPr>
          <a:xfrm>
            <a:off x="123278" y="8643376"/>
            <a:ext cx="5076564"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３：　</a:t>
            </a:r>
            <a:endParaRPr kumimoji="1" lang="ja-JP" altLang="en-US" dirty="0">
              <a:solidFill>
                <a:srgbClr val="C00000"/>
              </a:solidFill>
              <a:latin typeface="HGPｺﾞｼｯｸE" panose="020B0900000000000000" pitchFamily="50" charset="-128"/>
              <a:ea typeface="HGPｺﾞｼｯｸE" panose="020B0900000000000000" pitchFamily="50" charset="-128"/>
            </a:endParaRPr>
          </a:p>
        </p:txBody>
      </p:sp>
      <p:sp>
        <p:nvSpPr>
          <p:cNvPr id="17" name="正方形/長方形 16">
            <a:extLst>
              <a:ext uri="{FF2B5EF4-FFF2-40B4-BE49-F238E27FC236}">
                <a16:creationId xmlns:a16="http://schemas.microsoft.com/office/drawing/2014/main" id="{24F4A591-ADCF-46B7-A87F-8363CF82D68A}"/>
              </a:ext>
            </a:extLst>
          </p:cNvPr>
          <p:cNvSpPr/>
          <p:nvPr/>
        </p:nvSpPr>
        <p:spPr>
          <a:xfrm>
            <a:off x="0" y="0"/>
            <a:ext cx="7108056" cy="9906000"/>
          </a:xfrm>
          <a:prstGeom prst="rect">
            <a:avLst/>
          </a:prstGeom>
          <a:noFill/>
          <a:ln w="57150">
            <a:solidFill>
              <a:schemeClr val="bg1">
                <a:lumMod val="65000"/>
              </a:schemeClr>
            </a:solidFill>
          </a:ln>
        </p:spPr>
        <p:txBody>
          <a:bodyPr wrap="squar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3665312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3">
            <a:extLst>
              <a:ext uri="{FF2B5EF4-FFF2-40B4-BE49-F238E27FC236}">
                <a16:creationId xmlns:a16="http://schemas.microsoft.com/office/drawing/2014/main" id="{A464F89B-0D51-4725-8F93-38D617BDF1B7}"/>
              </a:ext>
            </a:extLst>
          </p:cNvPr>
          <p:cNvSpPr>
            <a:spLocks noGrp="1"/>
          </p:cNvSpPr>
          <p:nvPr>
            <p:ph type="title"/>
          </p:nvPr>
        </p:nvSpPr>
        <p:spPr>
          <a:xfrm>
            <a:off x="154631" y="156796"/>
            <a:ext cx="6750750" cy="438237"/>
          </a:xfrm>
        </p:spPr>
        <p:txBody>
          <a:bodyPr/>
          <a:lstStyle/>
          <a:p>
            <a:r>
              <a:rPr lang="ja-JP" altLang="en-US" dirty="0">
                <a:latin typeface="HGS創英角ｺﾞｼｯｸUB" pitchFamily="50" charset="-128"/>
                <a:ea typeface="HGS創英角ｺﾞｼｯｸUB" pitchFamily="50" charset="-128"/>
              </a:rPr>
              <a:t>実習症例０（実習のすすめかた）</a:t>
            </a:r>
          </a:p>
        </p:txBody>
      </p:sp>
      <p:sp>
        <p:nvSpPr>
          <p:cNvPr id="5" name="テキスト ボックス 4">
            <a:extLst>
              <a:ext uri="{FF2B5EF4-FFF2-40B4-BE49-F238E27FC236}">
                <a16:creationId xmlns:a16="http://schemas.microsoft.com/office/drawing/2014/main" id="{9A197385-F55B-49C3-8663-773B04157416}"/>
              </a:ext>
            </a:extLst>
          </p:cNvPr>
          <p:cNvSpPr txBox="1"/>
          <p:nvPr/>
        </p:nvSpPr>
        <p:spPr>
          <a:xfrm>
            <a:off x="123280" y="884548"/>
            <a:ext cx="6666169" cy="3539430"/>
          </a:xfrm>
          <a:prstGeom prst="rect">
            <a:avLst/>
          </a:prstGeom>
          <a:noFill/>
        </p:spPr>
        <p:txBody>
          <a:bodyPr wrap="square">
            <a:spAutoFit/>
          </a:bodyPr>
          <a:lstStyle/>
          <a:p>
            <a:pPr algn="just"/>
            <a:r>
              <a:rPr lang="ja-JP" altLang="en-US" sz="1600" dirty="0"/>
              <a:t>実習症例</a:t>
            </a:r>
            <a:r>
              <a:rPr lang="en-US" altLang="ja-JP" sz="1600" dirty="0"/>
              <a:t>0</a:t>
            </a:r>
          </a:p>
          <a:p>
            <a:pPr algn="just"/>
            <a:r>
              <a:rPr lang="ja-JP" altLang="en-US" sz="1600" dirty="0"/>
              <a:t>　死亡者：１９歳の男性</a:t>
            </a:r>
            <a:endParaRPr lang="en-US" altLang="ja-JP" sz="1600" dirty="0"/>
          </a:p>
          <a:p>
            <a:pPr algn="just"/>
            <a:r>
              <a:rPr lang="ja-JP" altLang="en-US" sz="1600" dirty="0"/>
              <a:t>　自宅風呂場で倒れているのを家人が発見し救急車を要請した。救急隊到着時心肺停止状態とのことで救急搬送依頼があった。病着時救急隊から、「救急隊現着時、風呂場は中から施錠されており、すぐに入れなかった。救急隊員が小窓から観察した際には患者の呼吸が確認されたが、鍵を壊して風呂場に入り倒れている患者を収容した際には心肺停止であった。また、風呂場では異臭がした。」と報告された。病院収容後心肺蘇生術を開始し、</a:t>
            </a:r>
            <a:r>
              <a:rPr lang="en-US" altLang="ja-JP" sz="1600" dirty="0"/>
              <a:t>5 </a:t>
            </a:r>
            <a:r>
              <a:rPr lang="ja-JP" altLang="en-US" sz="1600" dirty="0"/>
              <a:t>分後に自己心拍が再開した。搬送時に患者からは明らかな異臭はなかったが、治療開始後医師 </a:t>
            </a:r>
            <a:r>
              <a:rPr lang="en-US" altLang="ja-JP" sz="1600" dirty="0"/>
              <a:t>1</a:t>
            </a:r>
            <a:r>
              <a:rPr lang="ja-JP" altLang="en-US" sz="1600" dirty="0"/>
              <a:t>名が患者を覗き込んだ際に「目がチカチカする」という症状を訴えた（後日，搬送に携わった救急隊員にも目がチカチカするなどの症状が出ていたことを確認した）。治療中に消防局より追加の情報提供があり，「風呂場で </a:t>
            </a:r>
            <a:r>
              <a:rPr lang="en-US" altLang="ja-JP" sz="1600" dirty="0"/>
              <a:t>5 </a:t>
            </a:r>
            <a:r>
              <a:rPr lang="ja-JP" altLang="en-US" sz="1600" dirty="0"/>
              <a:t>種類ほどのトイレ洗浄剤などが容器の中で混ぜられた痕跡がある。よって，それらが異臭の原因と考えられる。」とのことであった。</a:t>
            </a:r>
            <a:endParaRPr lang="en-US" altLang="ja-JP" sz="1600" dirty="0"/>
          </a:p>
        </p:txBody>
      </p:sp>
      <p:sp>
        <p:nvSpPr>
          <p:cNvPr id="7" name="テキスト ボックス 6">
            <a:extLst>
              <a:ext uri="{FF2B5EF4-FFF2-40B4-BE49-F238E27FC236}">
                <a16:creationId xmlns:a16="http://schemas.microsoft.com/office/drawing/2014/main" id="{1EC612FD-F998-4B92-B129-3976BD790DE5}"/>
              </a:ext>
            </a:extLst>
          </p:cNvPr>
          <p:cNvSpPr txBox="1"/>
          <p:nvPr/>
        </p:nvSpPr>
        <p:spPr>
          <a:xfrm>
            <a:off x="72432" y="8963589"/>
            <a:ext cx="3457574" cy="523220"/>
          </a:xfrm>
          <a:prstGeom prst="rect">
            <a:avLst/>
          </a:prstGeom>
          <a:noFill/>
        </p:spPr>
        <p:txBody>
          <a:bodyPr wrap="square">
            <a:spAutoFit/>
          </a:bodyPr>
          <a:lstStyle/>
          <a:p>
            <a:r>
              <a:rPr lang="ja-JP" altLang="en-US" sz="1400" dirty="0">
                <a:solidFill>
                  <a:srgbClr val="222222"/>
                </a:solidFill>
                <a:latin typeface="Arial" panose="020B0604020202020204" pitchFamily="34" charset="0"/>
              </a:rPr>
              <a:t>森井大一ほか、日本救急医学会雑誌 </a:t>
            </a:r>
            <a:r>
              <a:rPr lang="en-US" altLang="ja-JP" sz="1400" dirty="0">
                <a:solidFill>
                  <a:srgbClr val="222222"/>
                </a:solidFill>
                <a:latin typeface="Arial" panose="020B0604020202020204" pitchFamily="34" charset="0"/>
              </a:rPr>
              <a:t>19.2 (2008): 136-136.</a:t>
            </a:r>
            <a:r>
              <a:rPr lang="ja-JP" altLang="en-US" sz="1400" dirty="0">
                <a:solidFill>
                  <a:srgbClr val="222222"/>
                </a:solidFill>
                <a:latin typeface="Arial" panose="020B0604020202020204" pitchFamily="34" charset="0"/>
              </a:rPr>
              <a:t>を実習用に改変</a:t>
            </a:r>
            <a:endParaRPr lang="ja-JP" altLang="en-US" sz="1400" dirty="0"/>
          </a:p>
        </p:txBody>
      </p:sp>
      <p:sp>
        <p:nvSpPr>
          <p:cNvPr id="8" name="テキスト ボックス 7">
            <a:extLst>
              <a:ext uri="{FF2B5EF4-FFF2-40B4-BE49-F238E27FC236}">
                <a16:creationId xmlns:a16="http://schemas.microsoft.com/office/drawing/2014/main" id="{CD9F657E-044D-48A5-9CAC-40AC1C8DA292}"/>
              </a:ext>
            </a:extLst>
          </p:cNvPr>
          <p:cNvSpPr txBox="1"/>
          <p:nvPr/>
        </p:nvSpPr>
        <p:spPr>
          <a:xfrm>
            <a:off x="123279" y="4629676"/>
            <a:ext cx="6388893"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Q1</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：どのような中毒が疑われますか？（具体的薬物）</a:t>
            </a:r>
          </a:p>
        </p:txBody>
      </p:sp>
      <p:cxnSp>
        <p:nvCxnSpPr>
          <p:cNvPr id="9" name="直線コネクタ 8">
            <a:extLst>
              <a:ext uri="{FF2B5EF4-FFF2-40B4-BE49-F238E27FC236}">
                <a16:creationId xmlns:a16="http://schemas.microsoft.com/office/drawing/2014/main" id="{DCEF5DD2-97DA-4603-A710-40BDA8F64A1F}"/>
              </a:ext>
            </a:extLst>
          </p:cNvPr>
          <p:cNvCxnSpPr/>
          <p:nvPr/>
        </p:nvCxnSpPr>
        <p:spPr>
          <a:xfrm>
            <a:off x="352774" y="5755365"/>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3AF7B112-12F7-4C22-988A-26BB8B206775}"/>
              </a:ext>
            </a:extLst>
          </p:cNvPr>
          <p:cNvSpPr txBox="1"/>
          <p:nvPr/>
        </p:nvSpPr>
        <p:spPr>
          <a:xfrm>
            <a:off x="143123" y="5424130"/>
            <a:ext cx="5076564"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１：　</a:t>
            </a:r>
            <a:r>
              <a:rPr kumimoji="1" lang="ja-JP" altLang="en-US" dirty="0">
                <a:solidFill>
                  <a:srgbClr val="C00000"/>
                </a:solidFill>
                <a:latin typeface="HGPｺﾞｼｯｸE" panose="020B0900000000000000" pitchFamily="50" charset="-128"/>
                <a:ea typeface="HGPｺﾞｼｯｸE" panose="020B0900000000000000" pitchFamily="50" charset="-128"/>
              </a:rPr>
              <a:t>硫化水素？　塩素？</a:t>
            </a:r>
          </a:p>
        </p:txBody>
      </p:sp>
      <p:sp>
        <p:nvSpPr>
          <p:cNvPr id="11" name="テキスト ボックス 10">
            <a:extLst>
              <a:ext uri="{FF2B5EF4-FFF2-40B4-BE49-F238E27FC236}">
                <a16:creationId xmlns:a16="http://schemas.microsoft.com/office/drawing/2014/main" id="{4E26A73D-D9A8-429C-A141-3DB43E8018E9}"/>
              </a:ext>
            </a:extLst>
          </p:cNvPr>
          <p:cNvSpPr txBox="1"/>
          <p:nvPr/>
        </p:nvSpPr>
        <p:spPr>
          <a:xfrm>
            <a:off x="123278" y="5929629"/>
            <a:ext cx="6750750" cy="923330"/>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２：二次災害の恐れがあるため、現場にておおよその薬毒物の見当をつけたいと思います。机にでている簡易検査キットの中で、今回の症例の鑑別のために有効そうなものはどれですか？</a:t>
            </a:r>
          </a:p>
        </p:txBody>
      </p:sp>
      <p:cxnSp>
        <p:nvCxnSpPr>
          <p:cNvPr id="12" name="直線コネクタ 11">
            <a:extLst>
              <a:ext uri="{FF2B5EF4-FFF2-40B4-BE49-F238E27FC236}">
                <a16:creationId xmlns:a16="http://schemas.microsoft.com/office/drawing/2014/main" id="{CB122D4C-72AB-42F8-BC5C-421AADE78DD5}"/>
              </a:ext>
            </a:extLst>
          </p:cNvPr>
          <p:cNvCxnSpPr/>
          <p:nvPr/>
        </p:nvCxnSpPr>
        <p:spPr>
          <a:xfrm>
            <a:off x="242521" y="7403504"/>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1E93F1FE-87AD-4BC6-A9A8-E2A1F9E3EC15}"/>
              </a:ext>
            </a:extLst>
          </p:cNvPr>
          <p:cNvSpPr txBox="1"/>
          <p:nvPr/>
        </p:nvSpPr>
        <p:spPr>
          <a:xfrm>
            <a:off x="132270" y="6997407"/>
            <a:ext cx="5076564"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２：</a:t>
            </a:r>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　</a:t>
            </a:r>
            <a:r>
              <a:rPr lang="ja-JP" altLang="en-US" dirty="0">
                <a:solidFill>
                  <a:srgbClr val="C00000"/>
                </a:solidFill>
                <a:latin typeface="HGPｺﾞｼｯｸE" panose="020B0900000000000000" pitchFamily="50" charset="-128"/>
                <a:ea typeface="HGPｺﾞｼｯｸE" panose="020B0900000000000000" pitchFamily="50" charset="-128"/>
              </a:rPr>
              <a:t>血中硫化水素</a:t>
            </a:r>
            <a:endParaRPr kumimoji="1" lang="ja-JP" altLang="en-US" dirty="0">
              <a:solidFill>
                <a:srgbClr val="C00000"/>
              </a:solidFill>
              <a:latin typeface="HGPｺﾞｼｯｸE" panose="020B0900000000000000" pitchFamily="50" charset="-128"/>
              <a:ea typeface="HGPｺﾞｼｯｸE" panose="020B0900000000000000" pitchFamily="50" charset="-128"/>
            </a:endParaRPr>
          </a:p>
        </p:txBody>
      </p:sp>
      <p:sp>
        <p:nvSpPr>
          <p:cNvPr id="14" name="テキスト ボックス 13">
            <a:extLst>
              <a:ext uri="{FF2B5EF4-FFF2-40B4-BE49-F238E27FC236}">
                <a16:creationId xmlns:a16="http://schemas.microsoft.com/office/drawing/2014/main" id="{CDA0A33C-C4CB-4311-A1D1-351FAC243FBF}"/>
              </a:ext>
            </a:extLst>
          </p:cNvPr>
          <p:cNvSpPr txBox="1"/>
          <p:nvPr/>
        </p:nvSpPr>
        <p:spPr>
          <a:xfrm>
            <a:off x="132271" y="7537840"/>
            <a:ext cx="6490627" cy="923330"/>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３：実際に、</a:t>
            </a:r>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２で選択した簡易検査キットを使用して、使用薬物の推定をおこなってください。疑わしい薬物があれば、いくつか別のキットを使っても結構です。結果を簡潔にしめしてください。</a:t>
            </a:r>
          </a:p>
        </p:txBody>
      </p:sp>
      <p:cxnSp>
        <p:nvCxnSpPr>
          <p:cNvPr id="15" name="直線コネクタ 14">
            <a:extLst>
              <a:ext uri="{FF2B5EF4-FFF2-40B4-BE49-F238E27FC236}">
                <a16:creationId xmlns:a16="http://schemas.microsoft.com/office/drawing/2014/main" id="{6F06A5BB-F2A9-4F12-BC2B-87FAB718DDFF}"/>
              </a:ext>
            </a:extLst>
          </p:cNvPr>
          <p:cNvCxnSpPr/>
          <p:nvPr/>
        </p:nvCxnSpPr>
        <p:spPr>
          <a:xfrm>
            <a:off x="332929" y="8974611"/>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597A6BD1-AD99-4351-B14B-2A4D801FD634}"/>
              </a:ext>
            </a:extLst>
          </p:cNvPr>
          <p:cNvSpPr txBox="1"/>
          <p:nvPr/>
        </p:nvSpPr>
        <p:spPr>
          <a:xfrm>
            <a:off x="123278" y="8643376"/>
            <a:ext cx="5076564"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３：　</a:t>
            </a:r>
            <a:endParaRPr kumimoji="1" lang="ja-JP" altLang="en-US" dirty="0">
              <a:solidFill>
                <a:srgbClr val="C00000"/>
              </a:solidFill>
              <a:latin typeface="HGPｺﾞｼｯｸE" panose="020B0900000000000000" pitchFamily="50" charset="-128"/>
              <a:ea typeface="HGPｺﾞｼｯｸE" panose="020B0900000000000000" pitchFamily="50" charset="-128"/>
            </a:endParaRPr>
          </a:p>
        </p:txBody>
      </p:sp>
      <p:sp>
        <p:nvSpPr>
          <p:cNvPr id="17" name="正方形/長方形 16">
            <a:extLst>
              <a:ext uri="{FF2B5EF4-FFF2-40B4-BE49-F238E27FC236}">
                <a16:creationId xmlns:a16="http://schemas.microsoft.com/office/drawing/2014/main" id="{24F4A591-ADCF-46B7-A87F-8363CF82D68A}"/>
              </a:ext>
            </a:extLst>
          </p:cNvPr>
          <p:cNvSpPr/>
          <p:nvPr/>
        </p:nvSpPr>
        <p:spPr>
          <a:xfrm>
            <a:off x="0" y="0"/>
            <a:ext cx="7108056" cy="9906000"/>
          </a:xfrm>
          <a:prstGeom prst="rect">
            <a:avLst/>
          </a:prstGeom>
          <a:noFill/>
          <a:ln w="57150">
            <a:solidFill>
              <a:schemeClr val="bg1">
                <a:lumMod val="65000"/>
              </a:schemeClr>
            </a:solidFill>
          </a:ln>
        </p:spPr>
        <p:txBody>
          <a:bodyPr wrap="squar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
        <p:nvSpPr>
          <p:cNvPr id="19" name="矢印: 下 18">
            <a:extLst>
              <a:ext uri="{FF2B5EF4-FFF2-40B4-BE49-F238E27FC236}">
                <a16:creationId xmlns:a16="http://schemas.microsoft.com/office/drawing/2014/main" id="{9CD33247-3BCC-4B80-8E0F-85A8520E3191}"/>
              </a:ext>
            </a:extLst>
          </p:cNvPr>
          <p:cNvSpPr/>
          <p:nvPr/>
        </p:nvSpPr>
        <p:spPr>
          <a:xfrm rot="5400000">
            <a:off x="6869197" y="8007590"/>
            <a:ext cx="864096" cy="1581346"/>
          </a:xfrm>
          <a:prstGeom prst="downArrow">
            <a:avLst/>
          </a:prstGeom>
          <a:solidFill>
            <a:srgbClr val="C00000"/>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27978577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62D2A8-E6CD-4D06-8797-8FBB5DE9911E}"/>
              </a:ext>
            </a:extLst>
          </p:cNvPr>
          <p:cNvSpPr>
            <a:spLocks noGrp="1"/>
          </p:cNvSpPr>
          <p:nvPr>
            <p:ph type="title"/>
          </p:nvPr>
        </p:nvSpPr>
        <p:spPr/>
        <p:txBody>
          <a:bodyPr/>
          <a:lstStyle/>
          <a:p>
            <a:r>
              <a:rPr kumimoji="1" lang="ja-JP" altLang="en-US" dirty="0"/>
              <a:t>簡易検査法マニュアル</a:t>
            </a:r>
          </a:p>
        </p:txBody>
      </p:sp>
      <p:sp>
        <p:nvSpPr>
          <p:cNvPr id="3" name="コンテンツ プレースホルダー 2">
            <a:extLst>
              <a:ext uri="{FF2B5EF4-FFF2-40B4-BE49-F238E27FC236}">
                <a16:creationId xmlns:a16="http://schemas.microsoft.com/office/drawing/2014/main" id="{A18A64D1-4873-4D0E-8763-7C55E776D25B}"/>
              </a:ext>
            </a:extLst>
          </p:cNvPr>
          <p:cNvSpPr>
            <a:spLocks noGrp="1"/>
          </p:cNvSpPr>
          <p:nvPr>
            <p:ph idx="1"/>
          </p:nvPr>
        </p:nvSpPr>
        <p:spPr>
          <a:xfrm>
            <a:off x="155284" y="705590"/>
            <a:ext cx="6480720" cy="178959"/>
          </a:xfrm>
        </p:spPr>
        <p:txBody>
          <a:bodyPr/>
          <a:lstStyle/>
          <a:p>
            <a:pPr>
              <a:lnSpc>
                <a:spcPct val="150000"/>
              </a:lnSpc>
            </a:pPr>
            <a:r>
              <a:rPr lang="ja-JP" altLang="en-US" sz="1600" dirty="0">
                <a:solidFill>
                  <a:schemeClr val="tx1"/>
                </a:solidFill>
                <a:latin typeface="Arial" charset="0"/>
                <a:ea typeface="ＭＳ Ｐゴシック" pitchFamily="50" charset="-128"/>
              </a:rPr>
              <a:t>＜鑑識用　検知管（真空法）＞</a:t>
            </a:r>
            <a:endParaRPr lang="en-US" altLang="ja-JP" sz="1100" dirty="0">
              <a:solidFill>
                <a:schemeClr val="tx1"/>
              </a:solidFill>
              <a:latin typeface="Arial" charset="0"/>
              <a:ea typeface="ＭＳ Ｐゴシック" pitchFamily="50" charset="-128"/>
            </a:endParaRPr>
          </a:p>
        </p:txBody>
      </p:sp>
      <p:pic>
        <p:nvPicPr>
          <p:cNvPr id="6" name="図 5">
            <a:extLst>
              <a:ext uri="{FF2B5EF4-FFF2-40B4-BE49-F238E27FC236}">
                <a16:creationId xmlns:a16="http://schemas.microsoft.com/office/drawing/2014/main" id="{F2531F16-7254-45DA-B751-24F7A7F40448}"/>
              </a:ext>
            </a:extLst>
          </p:cNvPr>
          <p:cNvPicPr>
            <a:picLocks noChangeAspect="1"/>
          </p:cNvPicPr>
          <p:nvPr/>
        </p:nvPicPr>
        <p:blipFill>
          <a:blip r:embed="rId2"/>
          <a:stretch>
            <a:fillRect/>
          </a:stretch>
        </p:blipFill>
        <p:spPr>
          <a:xfrm>
            <a:off x="2830822" y="1930786"/>
            <a:ext cx="3807098" cy="642465"/>
          </a:xfrm>
          <a:prstGeom prst="rect">
            <a:avLst/>
          </a:prstGeom>
        </p:spPr>
      </p:pic>
      <p:sp>
        <p:nvSpPr>
          <p:cNvPr id="17" name="テキスト ボックス 16">
            <a:extLst>
              <a:ext uri="{FF2B5EF4-FFF2-40B4-BE49-F238E27FC236}">
                <a16:creationId xmlns:a16="http://schemas.microsoft.com/office/drawing/2014/main" id="{E9929B99-B070-4FA3-8F9D-438D40D17394}"/>
              </a:ext>
            </a:extLst>
          </p:cNvPr>
          <p:cNvSpPr txBox="1"/>
          <p:nvPr/>
        </p:nvSpPr>
        <p:spPr>
          <a:xfrm>
            <a:off x="191288" y="1101896"/>
            <a:ext cx="6012668" cy="461665"/>
          </a:xfrm>
          <a:prstGeom prst="rect">
            <a:avLst/>
          </a:prstGeom>
          <a:noFill/>
        </p:spPr>
        <p:txBody>
          <a:bodyPr wrap="square" rtlCol="0">
            <a:spAutoFit/>
          </a:bodyPr>
          <a:lstStyle/>
          <a:p>
            <a:pPr marL="177800" indent="-177800"/>
            <a:r>
              <a:rPr lang="ja-JP" altLang="en-US" sz="1200" dirty="0">
                <a:solidFill>
                  <a:schemeClr val="tx1">
                    <a:lumMod val="75000"/>
                    <a:lumOff val="25000"/>
                  </a:schemeClr>
                </a:solidFill>
                <a:latin typeface="HGPｺﾞｼｯｸE" panose="020B0900000000000000" pitchFamily="50" charset="-128"/>
                <a:ea typeface="HGPｺﾞｼｯｸE" panose="020B0900000000000000" pitchFamily="50" charset="-128"/>
              </a:rPr>
              <a:t>①検知管（目盛のついている管）と前処理管（対応する目盛のない管）をチップカッタでカットし、＜接続図＞のように接続します。（ガラス破片で手を切らないよう注意）</a:t>
            </a:r>
          </a:p>
        </p:txBody>
      </p:sp>
      <p:pic>
        <p:nvPicPr>
          <p:cNvPr id="21" name="図 20">
            <a:extLst>
              <a:ext uri="{FF2B5EF4-FFF2-40B4-BE49-F238E27FC236}">
                <a16:creationId xmlns:a16="http://schemas.microsoft.com/office/drawing/2014/main" id="{59E1F1F5-4F9F-41FB-B79A-A67062FB8D08}"/>
              </a:ext>
            </a:extLst>
          </p:cNvPr>
          <p:cNvPicPr>
            <a:picLocks noChangeAspect="1"/>
          </p:cNvPicPr>
          <p:nvPr/>
        </p:nvPicPr>
        <p:blipFill>
          <a:blip r:embed="rId3"/>
          <a:stretch>
            <a:fillRect/>
          </a:stretch>
        </p:blipFill>
        <p:spPr>
          <a:xfrm>
            <a:off x="479321" y="1608969"/>
            <a:ext cx="1847637" cy="1022172"/>
          </a:xfrm>
          <a:prstGeom prst="rect">
            <a:avLst/>
          </a:prstGeom>
        </p:spPr>
      </p:pic>
      <p:sp>
        <p:nvSpPr>
          <p:cNvPr id="23" name="テキスト ボックス 22">
            <a:extLst>
              <a:ext uri="{FF2B5EF4-FFF2-40B4-BE49-F238E27FC236}">
                <a16:creationId xmlns:a16="http://schemas.microsoft.com/office/drawing/2014/main" id="{9A9FC7C8-7118-4E9F-A40E-ADA7CB644A14}"/>
              </a:ext>
            </a:extLst>
          </p:cNvPr>
          <p:cNvSpPr txBox="1"/>
          <p:nvPr/>
        </p:nvSpPr>
        <p:spPr>
          <a:xfrm>
            <a:off x="2830822" y="1613687"/>
            <a:ext cx="3448050" cy="276999"/>
          </a:xfrm>
          <a:prstGeom prst="rect">
            <a:avLst/>
          </a:prstGeom>
          <a:noFill/>
        </p:spPr>
        <p:txBody>
          <a:bodyPr wrap="square">
            <a:spAutoFit/>
          </a:bodyPr>
          <a:lstStyle/>
          <a:p>
            <a:r>
              <a:rPr lang="ja-JP" altLang="en-US" sz="1200" dirty="0">
                <a:solidFill>
                  <a:schemeClr val="tx1">
                    <a:lumMod val="75000"/>
                    <a:lumOff val="25000"/>
                  </a:schemeClr>
                </a:solidFill>
                <a:latin typeface="HGPｺﾞｼｯｸE" panose="020B0900000000000000" pitchFamily="50" charset="-128"/>
                <a:ea typeface="HGPｺﾞｼｯｸE" panose="020B0900000000000000" pitchFamily="50" charset="-128"/>
              </a:rPr>
              <a:t>＜接続図＞（それぞれの</a:t>
            </a:r>
            <a:r>
              <a:rPr lang="ja-JP" altLang="en-US" sz="1200" dirty="0">
                <a:solidFill>
                  <a:srgbClr val="C00000"/>
                </a:solidFill>
                <a:latin typeface="HGPｺﾞｼｯｸE" panose="020B0900000000000000" pitchFamily="50" charset="-128"/>
                <a:ea typeface="HGPｺﾞｼｯｸE" panose="020B0900000000000000" pitchFamily="50" charset="-128"/>
              </a:rPr>
              <a:t>矢印の方向</a:t>
            </a:r>
            <a:r>
              <a:rPr lang="ja-JP" altLang="en-US" sz="1200" dirty="0">
                <a:solidFill>
                  <a:schemeClr val="tx1">
                    <a:lumMod val="75000"/>
                    <a:lumOff val="25000"/>
                  </a:schemeClr>
                </a:solidFill>
                <a:latin typeface="HGPｺﾞｼｯｸE" panose="020B0900000000000000" pitchFamily="50" charset="-128"/>
                <a:ea typeface="HGPｺﾞｼｯｸE" panose="020B0900000000000000" pitchFamily="50" charset="-128"/>
              </a:rPr>
              <a:t>に注意！）</a:t>
            </a:r>
            <a:endParaRPr lang="ja-JP" altLang="en-US" sz="1200" dirty="0"/>
          </a:p>
        </p:txBody>
      </p:sp>
      <p:sp>
        <p:nvSpPr>
          <p:cNvPr id="24" name="テキスト ボックス 23">
            <a:extLst>
              <a:ext uri="{FF2B5EF4-FFF2-40B4-BE49-F238E27FC236}">
                <a16:creationId xmlns:a16="http://schemas.microsoft.com/office/drawing/2014/main" id="{79C6D154-125D-4349-89AC-0451C77E1980}"/>
              </a:ext>
            </a:extLst>
          </p:cNvPr>
          <p:cNvSpPr txBox="1"/>
          <p:nvPr/>
        </p:nvSpPr>
        <p:spPr>
          <a:xfrm>
            <a:off x="155284" y="2834299"/>
            <a:ext cx="2484276" cy="461665"/>
          </a:xfrm>
          <a:prstGeom prst="rect">
            <a:avLst/>
          </a:prstGeom>
          <a:noFill/>
        </p:spPr>
        <p:txBody>
          <a:bodyPr wrap="square" rtlCol="0">
            <a:spAutoFit/>
          </a:bodyPr>
          <a:lstStyle/>
          <a:p>
            <a:pPr marL="177800" indent="-177800"/>
            <a:r>
              <a:rPr lang="ja-JP" altLang="en-US" sz="1200" dirty="0">
                <a:solidFill>
                  <a:schemeClr val="tx1">
                    <a:lumMod val="75000"/>
                    <a:lumOff val="25000"/>
                  </a:schemeClr>
                </a:solidFill>
                <a:latin typeface="HGPｺﾞｼｯｸE" panose="020B0900000000000000" pitchFamily="50" charset="-128"/>
                <a:ea typeface="HGPｺﾞｼｯｸE" panose="020B0900000000000000" pitchFamily="50" charset="-128"/>
              </a:rPr>
              <a:t>②矢印を採取器の方向にむけてとりつけます。</a:t>
            </a:r>
          </a:p>
        </p:txBody>
      </p:sp>
      <p:pic>
        <p:nvPicPr>
          <p:cNvPr id="26" name="図 25">
            <a:extLst>
              <a:ext uri="{FF2B5EF4-FFF2-40B4-BE49-F238E27FC236}">
                <a16:creationId xmlns:a16="http://schemas.microsoft.com/office/drawing/2014/main" id="{E69AE711-319F-4319-9AEE-D2A41B7D9634}"/>
              </a:ext>
            </a:extLst>
          </p:cNvPr>
          <p:cNvPicPr>
            <a:picLocks noChangeAspect="1"/>
          </p:cNvPicPr>
          <p:nvPr/>
        </p:nvPicPr>
        <p:blipFill>
          <a:blip r:embed="rId4"/>
          <a:stretch>
            <a:fillRect/>
          </a:stretch>
        </p:blipFill>
        <p:spPr>
          <a:xfrm>
            <a:off x="478081" y="3336021"/>
            <a:ext cx="1540407" cy="801012"/>
          </a:xfrm>
          <a:prstGeom prst="rect">
            <a:avLst/>
          </a:prstGeom>
        </p:spPr>
      </p:pic>
      <p:sp>
        <p:nvSpPr>
          <p:cNvPr id="27" name="テキスト ボックス 26">
            <a:extLst>
              <a:ext uri="{FF2B5EF4-FFF2-40B4-BE49-F238E27FC236}">
                <a16:creationId xmlns:a16="http://schemas.microsoft.com/office/drawing/2014/main" id="{8B46E411-DF38-45E4-9206-D83E7949622A}"/>
              </a:ext>
            </a:extLst>
          </p:cNvPr>
          <p:cNvSpPr txBox="1"/>
          <p:nvPr/>
        </p:nvSpPr>
        <p:spPr>
          <a:xfrm>
            <a:off x="2639560" y="2801502"/>
            <a:ext cx="3854276" cy="461665"/>
          </a:xfrm>
          <a:prstGeom prst="rect">
            <a:avLst/>
          </a:prstGeom>
          <a:noFill/>
        </p:spPr>
        <p:txBody>
          <a:bodyPr wrap="square" rtlCol="0">
            <a:spAutoFit/>
          </a:bodyPr>
          <a:lstStyle/>
          <a:p>
            <a:pPr marL="177800" indent="-177800"/>
            <a:r>
              <a:rPr lang="ja-JP" altLang="en-US" sz="1200" dirty="0">
                <a:solidFill>
                  <a:schemeClr val="tx1">
                    <a:lumMod val="75000"/>
                    <a:lumOff val="25000"/>
                  </a:schemeClr>
                </a:solidFill>
                <a:latin typeface="HGPｺﾞｼｯｸE" panose="020B0900000000000000" pitchFamily="50" charset="-128"/>
                <a:ea typeface="HGPｺﾞｼｯｸE" panose="020B0900000000000000" pitchFamily="50" charset="-128"/>
              </a:rPr>
              <a:t>③注射器を使用し、前処理管の空間部分に血液試料を、それぞれの検知管に応じた必要検体量、注入します。</a:t>
            </a:r>
          </a:p>
        </p:txBody>
      </p:sp>
      <p:pic>
        <p:nvPicPr>
          <p:cNvPr id="29" name="図 28">
            <a:extLst>
              <a:ext uri="{FF2B5EF4-FFF2-40B4-BE49-F238E27FC236}">
                <a16:creationId xmlns:a16="http://schemas.microsoft.com/office/drawing/2014/main" id="{5C1D4010-C7DA-42B2-8087-0CFD304D45A5}"/>
              </a:ext>
            </a:extLst>
          </p:cNvPr>
          <p:cNvPicPr>
            <a:picLocks noChangeAspect="1"/>
          </p:cNvPicPr>
          <p:nvPr/>
        </p:nvPicPr>
        <p:blipFill>
          <a:blip r:embed="rId5"/>
          <a:stretch>
            <a:fillRect/>
          </a:stretch>
        </p:blipFill>
        <p:spPr>
          <a:xfrm>
            <a:off x="2457202" y="3461155"/>
            <a:ext cx="1540406" cy="836829"/>
          </a:xfrm>
          <a:prstGeom prst="rect">
            <a:avLst/>
          </a:prstGeom>
        </p:spPr>
      </p:pic>
      <p:pic>
        <p:nvPicPr>
          <p:cNvPr id="30" name="図 29">
            <a:extLst>
              <a:ext uri="{FF2B5EF4-FFF2-40B4-BE49-F238E27FC236}">
                <a16:creationId xmlns:a16="http://schemas.microsoft.com/office/drawing/2014/main" id="{AC7418AA-03C5-4695-8716-00682A6104B5}"/>
              </a:ext>
            </a:extLst>
          </p:cNvPr>
          <p:cNvPicPr>
            <a:picLocks noChangeAspect="1"/>
          </p:cNvPicPr>
          <p:nvPr/>
        </p:nvPicPr>
        <p:blipFill>
          <a:blip r:embed="rId6"/>
          <a:stretch>
            <a:fillRect/>
          </a:stretch>
        </p:blipFill>
        <p:spPr>
          <a:xfrm>
            <a:off x="4175102" y="3411613"/>
            <a:ext cx="2643491" cy="917376"/>
          </a:xfrm>
          <a:prstGeom prst="rect">
            <a:avLst/>
          </a:prstGeom>
        </p:spPr>
      </p:pic>
      <p:sp>
        <p:nvSpPr>
          <p:cNvPr id="31" name="テキスト ボックス 30">
            <a:extLst>
              <a:ext uri="{FF2B5EF4-FFF2-40B4-BE49-F238E27FC236}">
                <a16:creationId xmlns:a16="http://schemas.microsoft.com/office/drawing/2014/main" id="{19BA8C7C-BC5E-4FA4-A75A-8DE7C1316FFE}"/>
              </a:ext>
            </a:extLst>
          </p:cNvPr>
          <p:cNvSpPr txBox="1"/>
          <p:nvPr/>
        </p:nvSpPr>
        <p:spPr>
          <a:xfrm>
            <a:off x="130092" y="4615191"/>
            <a:ext cx="3055562" cy="461665"/>
          </a:xfrm>
          <a:prstGeom prst="rect">
            <a:avLst/>
          </a:prstGeom>
          <a:noFill/>
        </p:spPr>
        <p:txBody>
          <a:bodyPr wrap="square" rtlCol="0">
            <a:spAutoFit/>
          </a:bodyPr>
          <a:lstStyle/>
          <a:p>
            <a:pPr marL="177800" indent="-177800"/>
            <a:r>
              <a:rPr lang="ja-JP" altLang="en-US" sz="1200" dirty="0">
                <a:solidFill>
                  <a:schemeClr val="tx1">
                    <a:lumMod val="75000"/>
                    <a:lumOff val="25000"/>
                  </a:schemeClr>
                </a:solidFill>
                <a:latin typeface="HGPｺﾞｼｯｸE" panose="020B0900000000000000" pitchFamily="50" charset="-128"/>
                <a:ea typeface="HGPｺﾞｼｯｸE" panose="020B0900000000000000" pitchFamily="50" charset="-128"/>
              </a:rPr>
              <a:t>④採取器の後部にある赤い印と、シャフトの赤い印を合わせます。</a:t>
            </a:r>
          </a:p>
        </p:txBody>
      </p:sp>
      <p:pic>
        <p:nvPicPr>
          <p:cNvPr id="33" name="図 32">
            <a:extLst>
              <a:ext uri="{FF2B5EF4-FFF2-40B4-BE49-F238E27FC236}">
                <a16:creationId xmlns:a16="http://schemas.microsoft.com/office/drawing/2014/main" id="{77997DAE-488D-43AF-9CDD-FACD83A34FE3}"/>
              </a:ext>
            </a:extLst>
          </p:cNvPr>
          <p:cNvPicPr>
            <a:picLocks noChangeAspect="1"/>
          </p:cNvPicPr>
          <p:nvPr/>
        </p:nvPicPr>
        <p:blipFill>
          <a:blip r:embed="rId7"/>
          <a:stretch>
            <a:fillRect/>
          </a:stretch>
        </p:blipFill>
        <p:spPr>
          <a:xfrm>
            <a:off x="456437" y="5131167"/>
            <a:ext cx="1870521" cy="1274899"/>
          </a:xfrm>
          <a:prstGeom prst="rect">
            <a:avLst/>
          </a:prstGeom>
        </p:spPr>
      </p:pic>
      <p:pic>
        <p:nvPicPr>
          <p:cNvPr id="35" name="図 34">
            <a:extLst>
              <a:ext uri="{FF2B5EF4-FFF2-40B4-BE49-F238E27FC236}">
                <a16:creationId xmlns:a16="http://schemas.microsoft.com/office/drawing/2014/main" id="{628207B6-8267-41D4-AD4D-1F30B52C3CFD}"/>
              </a:ext>
            </a:extLst>
          </p:cNvPr>
          <p:cNvPicPr>
            <a:picLocks noChangeAspect="1"/>
          </p:cNvPicPr>
          <p:nvPr/>
        </p:nvPicPr>
        <p:blipFill>
          <a:blip r:embed="rId8"/>
          <a:stretch>
            <a:fillRect/>
          </a:stretch>
        </p:blipFill>
        <p:spPr>
          <a:xfrm>
            <a:off x="3503743" y="5171362"/>
            <a:ext cx="1993104" cy="1274899"/>
          </a:xfrm>
          <a:prstGeom prst="rect">
            <a:avLst/>
          </a:prstGeom>
        </p:spPr>
      </p:pic>
      <p:sp>
        <p:nvSpPr>
          <p:cNvPr id="36" name="テキスト ボックス 35">
            <a:extLst>
              <a:ext uri="{FF2B5EF4-FFF2-40B4-BE49-F238E27FC236}">
                <a16:creationId xmlns:a16="http://schemas.microsoft.com/office/drawing/2014/main" id="{5EFB764C-7A3C-494C-B3B5-A58B54B88315}"/>
              </a:ext>
            </a:extLst>
          </p:cNvPr>
          <p:cNvSpPr txBox="1"/>
          <p:nvPr/>
        </p:nvSpPr>
        <p:spPr>
          <a:xfrm>
            <a:off x="3223310" y="4641688"/>
            <a:ext cx="3055562" cy="461665"/>
          </a:xfrm>
          <a:prstGeom prst="rect">
            <a:avLst/>
          </a:prstGeom>
          <a:noFill/>
        </p:spPr>
        <p:txBody>
          <a:bodyPr wrap="square" rtlCol="0">
            <a:spAutoFit/>
          </a:bodyPr>
          <a:lstStyle/>
          <a:p>
            <a:pPr marL="177800" indent="-177800"/>
            <a:r>
              <a:rPr lang="ja-JP" altLang="en-US" sz="1200" dirty="0">
                <a:solidFill>
                  <a:schemeClr val="tx1">
                    <a:lumMod val="75000"/>
                    <a:lumOff val="25000"/>
                  </a:schemeClr>
                </a:solidFill>
                <a:latin typeface="HGPｺﾞｼｯｸE" panose="020B0900000000000000" pitchFamily="50" charset="-128"/>
                <a:ea typeface="HGPｺﾞｼｯｸE" panose="020B0900000000000000" pitchFamily="50" charset="-128"/>
              </a:rPr>
              <a:t>⑤ハンドルを引いてロックし、清浄な空気を１００ｍ</a:t>
            </a:r>
            <a:r>
              <a:rPr lang="en-US" altLang="ja-JP" sz="1200" dirty="0">
                <a:solidFill>
                  <a:schemeClr val="tx1">
                    <a:lumMod val="75000"/>
                    <a:lumOff val="25000"/>
                  </a:schemeClr>
                </a:solidFill>
                <a:latin typeface="HGPｺﾞｼｯｸE" panose="020B0900000000000000" pitchFamily="50" charset="-128"/>
                <a:ea typeface="HGPｺﾞｼｯｸE" panose="020B0900000000000000" pitchFamily="50" charset="-128"/>
              </a:rPr>
              <a:t>L</a:t>
            </a:r>
            <a:r>
              <a:rPr lang="ja-JP" altLang="en-US" sz="1200" dirty="0">
                <a:solidFill>
                  <a:schemeClr val="tx1">
                    <a:lumMod val="75000"/>
                    <a:lumOff val="25000"/>
                  </a:schemeClr>
                </a:solidFill>
                <a:latin typeface="HGPｺﾞｼｯｸE" panose="020B0900000000000000" pitchFamily="50" charset="-128"/>
                <a:ea typeface="HGPｺﾞｼｯｸE" panose="020B0900000000000000" pitchFamily="50" charset="-128"/>
              </a:rPr>
              <a:t>吸引します</a:t>
            </a:r>
          </a:p>
        </p:txBody>
      </p:sp>
      <p:sp>
        <p:nvSpPr>
          <p:cNvPr id="39" name="テキスト ボックス 38">
            <a:extLst>
              <a:ext uri="{FF2B5EF4-FFF2-40B4-BE49-F238E27FC236}">
                <a16:creationId xmlns:a16="http://schemas.microsoft.com/office/drawing/2014/main" id="{2462BD61-13CC-47A9-A999-2FB8FD21CE50}"/>
              </a:ext>
            </a:extLst>
          </p:cNvPr>
          <p:cNvSpPr txBox="1"/>
          <p:nvPr/>
        </p:nvSpPr>
        <p:spPr>
          <a:xfrm>
            <a:off x="191288" y="6498163"/>
            <a:ext cx="6302548" cy="461665"/>
          </a:xfrm>
          <a:prstGeom prst="rect">
            <a:avLst/>
          </a:prstGeom>
          <a:noFill/>
        </p:spPr>
        <p:txBody>
          <a:bodyPr wrap="square" rtlCol="0">
            <a:spAutoFit/>
          </a:bodyPr>
          <a:lstStyle/>
          <a:p>
            <a:pPr marL="177800" indent="-177800"/>
            <a:r>
              <a:rPr lang="ja-JP" altLang="en-US" sz="1200" dirty="0">
                <a:solidFill>
                  <a:schemeClr val="tx1">
                    <a:lumMod val="75000"/>
                    <a:lumOff val="25000"/>
                  </a:schemeClr>
                </a:solidFill>
                <a:latin typeface="HGPｺﾞｼｯｸE" panose="020B0900000000000000" pitchFamily="50" charset="-128"/>
                <a:ea typeface="HGPｺﾞｼｯｸE" panose="020B0900000000000000" pitchFamily="50" charset="-128"/>
              </a:rPr>
              <a:t>⑥各検知管に応じた時間待ちます（血中アルコールは、待ったのち２回同じ操作を繰り返し計</a:t>
            </a:r>
            <a:r>
              <a:rPr lang="en-US" altLang="ja-JP" sz="1200" dirty="0">
                <a:solidFill>
                  <a:schemeClr val="tx1">
                    <a:lumMod val="75000"/>
                    <a:lumOff val="25000"/>
                  </a:schemeClr>
                </a:solidFill>
                <a:latin typeface="HGPｺﾞｼｯｸE" panose="020B0900000000000000" pitchFamily="50" charset="-128"/>
                <a:ea typeface="HGPｺﾞｼｯｸE" panose="020B0900000000000000" pitchFamily="50" charset="-128"/>
              </a:rPr>
              <a:t>300</a:t>
            </a:r>
            <a:r>
              <a:rPr lang="ja-JP" altLang="en-US" sz="1200" dirty="0">
                <a:solidFill>
                  <a:schemeClr val="tx1">
                    <a:lumMod val="75000"/>
                    <a:lumOff val="25000"/>
                  </a:schemeClr>
                </a:solidFill>
                <a:latin typeface="HGPｺﾞｼｯｸE" panose="020B0900000000000000" pitchFamily="50" charset="-128"/>
                <a:ea typeface="HGPｺﾞｼｯｸE" panose="020B0900000000000000" pitchFamily="50" charset="-128"/>
              </a:rPr>
              <a:t>ｍ</a:t>
            </a:r>
            <a:r>
              <a:rPr lang="en-US" altLang="ja-JP" sz="1200" dirty="0">
                <a:solidFill>
                  <a:schemeClr val="tx1">
                    <a:lumMod val="75000"/>
                    <a:lumOff val="25000"/>
                  </a:schemeClr>
                </a:solidFill>
                <a:latin typeface="HGPｺﾞｼｯｸE" panose="020B0900000000000000" pitchFamily="50" charset="-128"/>
                <a:ea typeface="HGPｺﾞｼｯｸE" panose="020B0900000000000000" pitchFamily="50" charset="-128"/>
              </a:rPr>
              <a:t>L</a:t>
            </a:r>
            <a:r>
              <a:rPr lang="ja-JP" altLang="en-US" sz="1200" dirty="0">
                <a:solidFill>
                  <a:schemeClr val="tx1">
                    <a:lumMod val="75000"/>
                    <a:lumOff val="25000"/>
                  </a:schemeClr>
                </a:solidFill>
                <a:latin typeface="HGPｺﾞｼｯｸE" panose="020B0900000000000000" pitchFamily="50" charset="-128"/>
                <a:ea typeface="HGPｺﾞｼｯｸE" panose="020B0900000000000000" pitchFamily="50" charset="-128"/>
              </a:rPr>
              <a:t>の空気を吸引します）。</a:t>
            </a:r>
          </a:p>
        </p:txBody>
      </p:sp>
      <p:pic>
        <p:nvPicPr>
          <p:cNvPr id="41" name="図 40">
            <a:extLst>
              <a:ext uri="{FF2B5EF4-FFF2-40B4-BE49-F238E27FC236}">
                <a16:creationId xmlns:a16="http://schemas.microsoft.com/office/drawing/2014/main" id="{B72F8635-578C-43AD-8994-1E6C888DDE43}"/>
              </a:ext>
            </a:extLst>
          </p:cNvPr>
          <p:cNvPicPr>
            <a:picLocks noChangeAspect="1"/>
          </p:cNvPicPr>
          <p:nvPr/>
        </p:nvPicPr>
        <p:blipFill>
          <a:blip r:embed="rId9"/>
          <a:stretch>
            <a:fillRect/>
          </a:stretch>
        </p:blipFill>
        <p:spPr>
          <a:xfrm>
            <a:off x="2457203" y="6861712"/>
            <a:ext cx="3894863" cy="964201"/>
          </a:xfrm>
          <a:prstGeom prst="rect">
            <a:avLst/>
          </a:prstGeom>
        </p:spPr>
      </p:pic>
      <p:sp>
        <p:nvSpPr>
          <p:cNvPr id="42" name="テキスト ボックス 41">
            <a:extLst>
              <a:ext uri="{FF2B5EF4-FFF2-40B4-BE49-F238E27FC236}">
                <a16:creationId xmlns:a16="http://schemas.microsoft.com/office/drawing/2014/main" id="{3B2BC8C0-C666-446D-9B64-D10749C31FCF}"/>
              </a:ext>
            </a:extLst>
          </p:cNvPr>
          <p:cNvSpPr txBox="1"/>
          <p:nvPr/>
        </p:nvSpPr>
        <p:spPr>
          <a:xfrm>
            <a:off x="252388" y="7961848"/>
            <a:ext cx="6302548" cy="276999"/>
          </a:xfrm>
          <a:prstGeom prst="rect">
            <a:avLst/>
          </a:prstGeom>
          <a:noFill/>
        </p:spPr>
        <p:txBody>
          <a:bodyPr wrap="square" rtlCol="0">
            <a:spAutoFit/>
          </a:bodyPr>
          <a:lstStyle/>
          <a:p>
            <a:pPr marL="177800" indent="-177800"/>
            <a:r>
              <a:rPr lang="ja-JP" altLang="en-US" sz="1200" dirty="0">
                <a:solidFill>
                  <a:schemeClr val="tx1">
                    <a:lumMod val="75000"/>
                    <a:lumOff val="25000"/>
                  </a:schemeClr>
                </a:solidFill>
                <a:latin typeface="HGPｺﾞｼｯｸE" panose="020B0900000000000000" pitchFamily="50" charset="-128"/>
                <a:ea typeface="HGPｺﾞｼｯｸE" panose="020B0900000000000000" pitchFamily="50" charset="-128"/>
              </a:rPr>
              <a:t>⑦検知管を取り外し（検体をまき散らさないよう注意）、変色層の先端で濃度を読み取ります。</a:t>
            </a:r>
          </a:p>
        </p:txBody>
      </p:sp>
      <p:pic>
        <p:nvPicPr>
          <p:cNvPr id="44" name="図 43">
            <a:extLst>
              <a:ext uri="{FF2B5EF4-FFF2-40B4-BE49-F238E27FC236}">
                <a16:creationId xmlns:a16="http://schemas.microsoft.com/office/drawing/2014/main" id="{D57B5259-3051-4C63-9FBE-E4614B25F874}"/>
              </a:ext>
            </a:extLst>
          </p:cNvPr>
          <p:cNvPicPr>
            <a:picLocks noChangeAspect="1"/>
          </p:cNvPicPr>
          <p:nvPr/>
        </p:nvPicPr>
        <p:blipFill>
          <a:blip r:embed="rId10"/>
          <a:stretch>
            <a:fillRect/>
          </a:stretch>
        </p:blipFill>
        <p:spPr>
          <a:xfrm>
            <a:off x="302096" y="8455798"/>
            <a:ext cx="2711554" cy="434448"/>
          </a:xfrm>
          <a:prstGeom prst="rect">
            <a:avLst/>
          </a:prstGeom>
        </p:spPr>
      </p:pic>
      <p:pic>
        <p:nvPicPr>
          <p:cNvPr id="45" name="図 44">
            <a:extLst>
              <a:ext uri="{FF2B5EF4-FFF2-40B4-BE49-F238E27FC236}">
                <a16:creationId xmlns:a16="http://schemas.microsoft.com/office/drawing/2014/main" id="{C04D49CE-B95B-42E0-93DD-983FDED2A118}"/>
              </a:ext>
            </a:extLst>
          </p:cNvPr>
          <p:cNvPicPr>
            <a:picLocks noChangeAspect="1"/>
          </p:cNvPicPr>
          <p:nvPr/>
        </p:nvPicPr>
        <p:blipFill>
          <a:blip r:embed="rId11"/>
          <a:stretch>
            <a:fillRect/>
          </a:stretch>
        </p:blipFill>
        <p:spPr>
          <a:xfrm>
            <a:off x="3227685" y="8348116"/>
            <a:ext cx="3124381" cy="1084260"/>
          </a:xfrm>
          <a:prstGeom prst="rect">
            <a:avLst/>
          </a:prstGeom>
        </p:spPr>
      </p:pic>
      <p:sp>
        <p:nvSpPr>
          <p:cNvPr id="46" name="テキスト ボックス 45">
            <a:extLst>
              <a:ext uri="{FF2B5EF4-FFF2-40B4-BE49-F238E27FC236}">
                <a16:creationId xmlns:a16="http://schemas.microsoft.com/office/drawing/2014/main" id="{EEEB424D-C90F-4451-B86E-C9FEB477EF55}"/>
              </a:ext>
            </a:extLst>
          </p:cNvPr>
          <p:cNvSpPr txBox="1"/>
          <p:nvPr/>
        </p:nvSpPr>
        <p:spPr>
          <a:xfrm>
            <a:off x="1716960" y="8907143"/>
            <a:ext cx="1296144" cy="400110"/>
          </a:xfrm>
          <a:prstGeom prst="rect">
            <a:avLst/>
          </a:prstGeom>
          <a:noFill/>
        </p:spPr>
        <p:txBody>
          <a:bodyPr wrap="square" rtlCol="0">
            <a:spAutoFit/>
          </a:bodyPr>
          <a:lstStyle/>
          <a:p>
            <a:r>
              <a:rPr lang="ja-JP" altLang="en-US" sz="1000" dirty="0">
                <a:solidFill>
                  <a:schemeClr val="tx1">
                    <a:lumMod val="75000"/>
                    <a:lumOff val="25000"/>
                  </a:schemeClr>
                </a:solidFill>
                <a:latin typeface="HGPｺﾞｼｯｸE" panose="020B0900000000000000" pitchFamily="50" charset="-128"/>
                <a:ea typeface="HGPｺﾞｼｯｸE" panose="020B0900000000000000" pitchFamily="50" charset="-128"/>
              </a:rPr>
              <a:t>例）血中アルコール</a:t>
            </a:r>
            <a:endParaRPr lang="en-US" altLang="ja-JP" sz="10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r>
              <a:rPr lang="ja-JP" altLang="en-US" sz="1000" dirty="0">
                <a:solidFill>
                  <a:schemeClr val="tx1">
                    <a:lumMod val="75000"/>
                    <a:lumOff val="25000"/>
                  </a:schemeClr>
                </a:solidFill>
                <a:latin typeface="HGPｺﾞｼｯｸE" panose="020B0900000000000000" pitchFamily="50" charset="-128"/>
                <a:ea typeface="HGPｺﾞｼｯｸE" panose="020B0900000000000000" pitchFamily="50" charset="-128"/>
              </a:rPr>
              <a:t>約</a:t>
            </a:r>
            <a:r>
              <a:rPr lang="en-US" altLang="ja-JP" sz="1000" dirty="0">
                <a:solidFill>
                  <a:schemeClr val="tx1">
                    <a:lumMod val="75000"/>
                    <a:lumOff val="25000"/>
                  </a:schemeClr>
                </a:solidFill>
                <a:latin typeface="HGPｺﾞｼｯｸE" panose="020B0900000000000000" pitchFamily="50" charset="-128"/>
                <a:ea typeface="HGPｺﾞｼｯｸE" panose="020B0900000000000000" pitchFamily="50" charset="-128"/>
              </a:rPr>
              <a:t>1.7mg/mL</a:t>
            </a:r>
            <a:endParaRPr lang="ja-JP" altLang="en-US" sz="10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
        <p:nvSpPr>
          <p:cNvPr id="5" name="正方形/長方形 4">
            <a:extLst>
              <a:ext uri="{FF2B5EF4-FFF2-40B4-BE49-F238E27FC236}">
                <a16:creationId xmlns:a16="http://schemas.microsoft.com/office/drawing/2014/main" id="{502A63BB-174F-4619-BA53-427B08EC7892}"/>
              </a:ext>
            </a:extLst>
          </p:cNvPr>
          <p:cNvSpPr/>
          <p:nvPr/>
        </p:nvSpPr>
        <p:spPr>
          <a:xfrm>
            <a:off x="15268" y="64458"/>
            <a:ext cx="7020780" cy="9777084"/>
          </a:xfrm>
          <a:prstGeom prst="rect">
            <a:avLst/>
          </a:prstGeom>
          <a:noFill/>
          <a:ln w="57150">
            <a:solidFill>
              <a:schemeClr val="bg1">
                <a:lumMod val="65000"/>
              </a:schemeClr>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15299600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62D2A8-E6CD-4D06-8797-8FBB5DE9911E}"/>
              </a:ext>
            </a:extLst>
          </p:cNvPr>
          <p:cNvSpPr>
            <a:spLocks noGrp="1"/>
          </p:cNvSpPr>
          <p:nvPr>
            <p:ph type="title"/>
          </p:nvPr>
        </p:nvSpPr>
        <p:spPr/>
        <p:txBody>
          <a:bodyPr/>
          <a:lstStyle/>
          <a:p>
            <a:r>
              <a:rPr kumimoji="1" lang="ja-JP" altLang="en-US" dirty="0"/>
              <a:t>簡易検査法マニュアル</a:t>
            </a:r>
          </a:p>
        </p:txBody>
      </p:sp>
      <p:sp>
        <p:nvSpPr>
          <p:cNvPr id="5" name="テキスト ボックス 4">
            <a:extLst>
              <a:ext uri="{FF2B5EF4-FFF2-40B4-BE49-F238E27FC236}">
                <a16:creationId xmlns:a16="http://schemas.microsoft.com/office/drawing/2014/main" id="{BE648DBA-5230-41D5-A752-4939BDDAF208}"/>
              </a:ext>
            </a:extLst>
          </p:cNvPr>
          <p:cNvSpPr txBox="1"/>
          <p:nvPr/>
        </p:nvSpPr>
        <p:spPr>
          <a:xfrm>
            <a:off x="3175000" y="720239"/>
            <a:ext cx="7456090" cy="454035"/>
          </a:xfrm>
          <a:prstGeom prst="rect">
            <a:avLst/>
          </a:prstGeom>
          <a:noFill/>
        </p:spPr>
        <p:txBody>
          <a:bodyPr wrap="square">
            <a:spAutoFit/>
          </a:bodyPr>
          <a:lstStyle/>
          <a:p>
            <a:pPr>
              <a:lnSpc>
                <a:spcPct val="150000"/>
              </a:lnSpc>
            </a:pPr>
            <a:r>
              <a:rPr lang="ja-JP" altLang="en-US" dirty="0"/>
              <a:t>＜鑑識用　尿イムノクロマト法＞</a:t>
            </a:r>
            <a:endParaRPr lang="en-US" altLang="ja-JP" sz="1200" dirty="0"/>
          </a:p>
        </p:txBody>
      </p:sp>
      <p:sp>
        <p:nvSpPr>
          <p:cNvPr id="21" name="テキスト ボックス 20">
            <a:extLst>
              <a:ext uri="{FF2B5EF4-FFF2-40B4-BE49-F238E27FC236}">
                <a16:creationId xmlns:a16="http://schemas.microsoft.com/office/drawing/2014/main" id="{6D4380F5-A445-4535-8206-FF7F2E46D111}"/>
              </a:ext>
            </a:extLst>
          </p:cNvPr>
          <p:cNvSpPr txBox="1"/>
          <p:nvPr/>
        </p:nvSpPr>
        <p:spPr>
          <a:xfrm>
            <a:off x="3209638" y="1670858"/>
            <a:ext cx="4431960" cy="830997"/>
          </a:xfrm>
          <a:prstGeom prst="rect">
            <a:avLst/>
          </a:prstGeom>
          <a:noFill/>
        </p:spPr>
        <p:txBody>
          <a:bodyPr wrap="square">
            <a:spAutoFit/>
          </a:bodyPr>
          <a:lstStyle/>
          <a:p>
            <a:pPr marL="180975" indent="-180975"/>
            <a:r>
              <a:rPr lang="ja-JP" altLang="en-US" sz="1200" dirty="0">
                <a:latin typeface="Arial" panose="020B0604020202020204" pitchFamily="34" charset="0"/>
              </a:rPr>
              <a:t>（１）専用スポイトを用い試料尿を採取する。スポイトのやや上部の浮き上がったライン</a:t>
            </a:r>
            <a:r>
              <a:rPr lang="ja-JP" altLang="en-US" sz="1200">
                <a:latin typeface="Arial" panose="020B0604020202020204" pitchFamily="34" charset="0"/>
              </a:rPr>
              <a:t>（約</a:t>
            </a:r>
            <a:r>
              <a:rPr lang="en-US" altLang="ja-JP" sz="1200">
                <a:latin typeface="Arial" panose="020B0604020202020204" pitchFamily="34" charset="0"/>
              </a:rPr>
              <a:t>160-200µL</a:t>
            </a:r>
            <a:r>
              <a:rPr lang="ja-JP" altLang="en-US" sz="1200" dirty="0">
                <a:latin typeface="Arial" panose="020B0604020202020204" pitchFamily="34" charset="0"/>
              </a:rPr>
              <a:t>）まで試料を吸引する。</a:t>
            </a:r>
            <a:endParaRPr lang="en-US" altLang="ja-JP" sz="1200" dirty="0">
              <a:latin typeface="Arial" panose="020B0604020202020204" pitchFamily="34" charset="0"/>
            </a:endParaRPr>
          </a:p>
          <a:p>
            <a:pPr marL="180975" indent="-180975"/>
            <a:endParaRPr lang="en-US" altLang="ja-JP" sz="1200" dirty="0">
              <a:latin typeface="Arial" panose="020B0604020202020204" pitchFamily="34" charset="0"/>
            </a:endParaRPr>
          </a:p>
          <a:p>
            <a:pPr marL="180975" indent="-180975"/>
            <a:r>
              <a:rPr lang="ja-JP" altLang="en-US" sz="1200" dirty="0">
                <a:latin typeface="Arial" panose="020B0604020202020204" pitchFamily="34" charset="0"/>
              </a:rPr>
              <a:t>（２）採取した尿の全量を滴下部に一様に滴下する。</a:t>
            </a:r>
            <a:endParaRPr lang="en-US" altLang="ja-JP" sz="1200" dirty="0">
              <a:latin typeface="Arial" panose="020B0604020202020204" pitchFamily="34" charset="0"/>
            </a:endParaRPr>
          </a:p>
        </p:txBody>
      </p:sp>
      <p:sp>
        <p:nvSpPr>
          <p:cNvPr id="23" name="テキスト ボックス 22">
            <a:extLst>
              <a:ext uri="{FF2B5EF4-FFF2-40B4-BE49-F238E27FC236}">
                <a16:creationId xmlns:a16="http://schemas.microsoft.com/office/drawing/2014/main" id="{D8026BBE-7548-40DC-A0B8-45846044233B}"/>
              </a:ext>
            </a:extLst>
          </p:cNvPr>
          <p:cNvSpPr txBox="1"/>
          <p:nvPr/>
        </p:nvSpPr>
        <p:spPr>
          <a:xfrm>
            <a:off x="3255628" y="1124408"/>
            <a:ext cx="4431960" cy="461665"/>
          </a:xfrm>
          <a:prstGeom prst="rect">
            <a:avLst/>
          </a:prstGeom>
          <a:noFill/>
        </p:spPr>
        <p:txBody>
          <a:bodyPr wrap="square">
            <a:spAutoFit/>
          </a:bodyPr>
          <a:lstStyle/>
          <a:p>
            <a:pPr marL="180975" indent="-180975"/>
            <a:r>
              <a:rPr lang="ja-JP" altLang="en-US" sz="1200" dirty="0">
                <a:latin typeface="Arial" panose="020B0604020202020204" pitchFamily="34" charset="0"/>
              </a:rPr>
              <a:t>準備：</a:t>
            </a:r>
            <a:r>
              <a:rPr lang="en-US" altLang="ja-JP" sz="1200" dirty="0">
                <a:latin typeface="Arial" panose="020B0604020202020204" pitchFamily="34" charset="0"/>
              </a:rPr>
              <a:t> </a:t>
            </a:r>
            <a:r>
              <a:rPr lang="ja-JP" altLang="en-US" sz="1200" dirty="0">
                <a:latin typeface="Arial" panose="020B0604020202020204" pitchFamily="34" charset="0"/>
              </a:rPr>
              <a:t>キットをパッケージから取り出し、同梱の専用スポイトを確認する</a:t>
            </a:r>
            <a:endParaRPr lang="ja-JP" altLang="en-US" sz="1200" dirty="0"/>
          </a:p>
        </p:txBody>
      </p:sp>
      <p:sp>
        <p:nvSpPr>
          <p:cNvPr id="25" name="テキスト ボックス 24">
            <a:extLst>
              <a:ext uri="{FF2B5EF4-FFF2-40B4-BE49-F238E27FC236}">
                <a16:creationId xmlns:a16="http://schemas.microsoft.com/office/drawing/2014/main" id="{98847E8E-C388-44DD-A8C3-2509A990F1AC}"/>
              </a:ext>
            </a:extLst>
          </p:cNvPr>
          <p:cNvSpPr txBox="1"/>
          <p:nvPr/>
        </p:nvSpPr>
        <p:spPr>
          <a:xfrm>
            <a:off x="3209638" y="2669722"/>
            <a:ext cx="4369938" cy="461665"/>
          </a:xfrm>
          <a:prstGeom prst="rect">
            <a:avLst/>
          </a:prstGeom>
          <a:noFill/>
        </p:spPr>
        <p:txBody>
          <a:bodyPr wrap="square">
            <a:spAutoFit/>
          </a:bodyPr>
          <a:lstStyle/>
          <a:p>
            <a:pPr marL="266700" indent="-266700"/>
            <a:r>
              <a:rPr lang="ja-JP" altLang="en-US" sz="1200" dirty="0">
                <a:latin typeface="Arial" panose="020B0604020202020204" pitchFamily="34" charset="0"/>
              </a:rPr>
              <a:t>（３）滴下後、スライダーを押し上げ蓋をし、１分から３分の後にコントロール</a:t>
            </a:r>
            <a:r>
              <a:rPr lang="en-US" altLang="ja-JP" sz="1200" dirty="0">
                <a:latin typeface="Arial" panose="020B0604020202020204" pitchFamily="34" charset="0"/>
              </a:rPr>
              <a:t>(C)</a:t>
            </a:r>
            <a:r>
              <a:rPr lang="ja-JP" altLang="en-US" sz="1200" dirty="0">
                <a:latin typeface="Arial" panose="020B0604020202020204" pitchFamily="34" charset="0"/>
              </a:rPr>
              <a:t>の横にバンドが出現していることを確認する。</a:t>
            </a:r>
            <a:endParaRPr lang="ja-JP" altLang="en-US" sz="1200" dirty="0"/>
          </a:p>
        </p:txBody>
      </p:sp>
      <p:sp>
        <p:nvSpPr>
          <p:cNvPr id="34" name="テキスト ボックス 33">
            <a:extLst>
              <a:ext uri="{FF2B5EF4-FFF2-40B4-BE49-F238E27FC236}">
                <a16:creationId xmlns:a16="http://schemas.microsoft.com/office/drawing/2014/main" id="{3FBC5B37-64AA-41F5-98E1-F0629FF0C68A}"/>
              </a:ext>
            </a:extLst>
          </p:cNvPr>
          <p:cNvSpPr txBox="1"/>
          <p:nvPr/>
        </p:nvSpPr>
        <p:spPr>
          <a:xfrm>
            <a:off x="3217278" y="3364580"/>
            <a:ext cx="4362298" cy="646331"/>
          </a:xfrm>
          <a:prstGeom prst="rect">
            <a:avLst/>
          </a:prstGeom>
          <a:noFill/>
        </p:spPr>
        <p:txBody>
          <a:bodyPr wrap="square">
            <a:spAutoFit/>
          </a:bodyPr>
          <a:lstStyle/>
          <a:p>
            <a:pPr marL="266700" indent="-266700"/>
            <a:r>
              <a:rPr lang="ja-JP" altLang="en-US" sz="1200" dirty="0">
                <a:latin typeface="Arial" panose="020B0604020202020204" pitchFamily="34" charset="0"/>
              </a:rPr>
              <a:t>（４）</a:t>
            </a:r>
            <a:r>
              <a:rPr lang="ja-JP" altLang="en-US" sz="1200" u="sng" dirty="0">
                <a:latin typeface="Arial" panose="020B0604020202020204" pitchFamily="34" charset="0"/>
              </a:rPr>
              <a:t>陽性の場合は</a:t>
            </a:r>
            <a:r>
              <a:rPr lang="ja-JP" altLang="en-US" sz="1200" dirty="0">
                <a:latin typeface="Arial" panose="020B0604020202020204" pitchFamily="34" charset="0"/>
              </a:rPr>
              <a:t>、各化合物の位置に</a:t>
            </a:r>
            <a:r>
              <a:rPr lang="ja-JP" altLang="en-US" sz="1200" u="sng" dirty="0">
                <a:latin typeface="Arial" panose="020B0604020202020204" pitchFamily="34" charset="0"/>
              </a:rPr>
              <a:t>バンドが出現しない</a:t>
            </a:r>
            <a:r>
              <a:rPr lang="ja-JP" altLang="en-US" sz="1200" dirty="0">
                <a:latin typeface="Arial" panose="020B0604020202020204" pitchFamily="34" charset="0"/>
              </a:rPr>
              <a:t>。その結果は、カットオフ濃度以上の化合物が含まれていることを意味する。</a:t>
            </a:r>
            <a:endParaRPr lang="ja-JP" altLang="en-US" sz="1200" dirty="0"/>
          </a:p>
        </p:txBody>
      </p:sp>
      <p:sp>
        <p:nvSpPr>
          <p:cNvPr id="59" name="テキスト ボックス 58">
            <a:extLst>
              <a:ext uri="{FF2B5EF4-FFF2-40B4-BE49-F238E27FC236}">
                <a16:creationId xmlns:a16="http://schemas.microsoft.com/office/drawing/2014/main" id="{A73E8190-F152-49B9-B906-C567BF824F1E}"/>
              </a:ext>
            </a:extLst>
          </p:cNvPr>
          <p:cNvSpPr txBox="1"/>
          <p:nvPr/>
        </p:nvSpPr>
        <p:spPr>
          <a:xfrm>
            <a:off x="3654451" y="7048094"/>
            <a:ext cx="6497189" cy="261610"/>
          </a:xfrm>
          <a:prstGeom prst="rect">
            <a:avLst/>
          </a:prstGeom>
          <a:noFill/>
        </p:spPr>
        <p:txBody>
          <a:bodyPr wrap="square" rtlCol="0">
            <a:spAutoFit/>
          </a:bodyPr>
          <a:lstStyle/>
          <a:p>
            <a:r>
              <a:rPr lang="ja-JP" altLang="en-US" sz="1050" dirty="0">
                <a:solidFill>
                  <a:schemeClr val="tx1">
                    <a:lumMod val="75000"/>
                    <a:lumOff val="25000"/>
                  </a:schemeClr>
                </a:solidFill>
                <a:latin typeface="HGPｺﾞｼｯｸE" panose="020B0900000000000000" pitchFamily="50" charset="-128"/>
                <a:ea typeface="HGPｺﾞｼｯｸE" panose="020B0900000000000000" pitchFamily="50" charset="-128"/>
              </a:rPr>
              <a:t>キットにより薬物の組み合わせが異なる（多種測定できる→高価）</a:t>
            </a:r>
          </a:p>
        </p:txBody>
      </p:sp>
      <p:pic>
        <p:nvPicPr>
          <p:cNvPr id="6" name="図 5">
            <a:extLst>
              <a:ext uri="{FF2B5EF4-FFF2-40B4-BE49-F238E27FC236}">
                <a16:creationId xmlns:a16="http://schemas.microsoft.com/office/drawing/2014/main" id="{4F479E2C-DB46-B08F-D89B-0BC6A233DBD4}"/>
              </a:ext>
            </a:extLst>
          </p:cNvPr>
          <p:cNvPicPr>
            <a:picLocks noChangeAspect="1"/>
          </p:cNvPicPr>
          <p:nvPr/>
        </p:nvPicPr>
        <p:blipFill>
          <a:blip r:embed="rId2"/>
          <a:stretch>
            <a:fillRect/>
          </a:stretch>
        </p:blipFill>
        <p:spPr>
          <a:xfrm>
            <a:off x="3466134" y="4143466"/>
            <a:ext cx="4431960" cy="2798170"/>
          </a:xfrm>
          <a:prstGeom prst="rect">
            <a:avLst/>
          </a:prstGeom>
        </p:spPr>
      </p:pic>
      <p:pic>
        <p:nvPicPr>
          <p:cNvPr id="7" name="図 6">
            <a:extLst>
              <a:ext uri="{FF2B5EF4-FFF2-40B4-BE49-F238E27FC236}">
                <a16:creationId xmlns:a16="http://schemas.microsoft.com/office/drawing/2014/main" id="{B6B12CB0-5E39-A242-0F91-776E876217B8}"/>
              </a:ext>
            </a:extLst>
          </p:cNvPr>
          <p:cNvPicPr>
            <a:picLocks noChangeAspect="1"/>
          </p:cNvPicPr>
          <p:nvPr/>
        </p:nvPicPr>
        <p:blipFill>
          <a:blip r:embed="rId3"/>
          <a:stretch>
            <a:fillRect/>
          </a:stretch>
        </p:blipFill>
        <p:spPr>
          <a:xfrm>
            <a:off x="3942381" y="7351341"/>
            <a:ext cx="5323238" cy="2249421"/>
          </a:xfrm>
          <a:prstGeom prst="rect">
            <a:avLst/>
          </a:prstGeom>
        </p:spPr>
      </p:pic>
      <p:pic>
        <p:nvPicPr>
          <p:cNvPr id="8" name="図 7">
            <a:extLst>
              <a:ext uri="{FF2B5EF4-FFF2-40B4-BE49-F238E27FC236}">
                <a16:creationId xmlns:a16="http://schemas.microsoft.com/office/drawing/2014/main" id="{E08D9918-2072-E39F-D56E-89663EB91463}"/>
              </a:ext>
            </a:extLst>
          </p:cNvPr>
          <p:cNvPicPr>
            <a:picLocks noChangeAspect="1"/>
          </p:cNvPicPr>
          <p:nvPr/>
        </p:nvPicPr>
        <p:blipFill>
          <a:blip r:embed="rId4"/>
          <a:stretch>
            <a:fillRect/>
          </a:stretch>
        </p:blipFill>
        <p:spPr>
          <a:xfrm>
            <a:off x="9952033" y="1014050"/>
            <a:ext cx="2226392" cy="1480161"/>
          </a:xfrm>
          <a:prstGeom prst="rect">
            <a:avLst/>
          </a:prstGeom>
        </p:spPr>
      </p:pic>
      <p:pic>
        <p:nvPicPr>
          <p:cNvPr id="9" name="図 8">
            <a:extLst>
              <a:ext uri="{FF2B5EF4-FFF2-40B4-BE49-F238E27FC236}">
                <a16:creationId xmlns:a16="http://schemas.microsoft.com/office/drawing/2014/main" id="{4AB7A8D4-EC3C-CECD-CAB5-02513ED6CD4C}"/>
              </a:ext>
            </a:extLst>
          </p:cNvPr>
          <p:cNvPicPr>
            <a:picLocks noChangeAspect="1"/>
          </p:cNvPicPr>
          <p:nvPr/>
        </p:nvPicPr>
        <p:blipFill>
          <a:blip r:embed="rId5"/>
          <a:stretch>
            <a:fillRect/>
          </a:stretch>
        </p:blipFill>
        <p:spPr>
          <a:xfrm>
            <a:off x="9963116" y="2509206"/>
            <a:ext cx="2096927" cy="1591587"/>
          </a:xfrm>
          <a:prstGeom prst="rect">
            <a:avLst/>
          </a:prstGeom>
        </p:spPr>
      </p:pic>
      <p:pic>
        <p:nvPicPr>
          <p:cNvPr id="10" name="図 9">
            <a:extLst>
              <a:ext uri="{FF2B5EF4-FFF2-40B4-BE49-F238E27FC236}">
                <a16:creationId xmlns:a16="http://schemas.microsoft.com/office/drawing/2014/main" id="{D66BDC6C-902C-2657-B822-82C8F6E2C82B}"/>
              </a:ext>
            </a:extLst>
          </p:cNvPr>
          <p:cNvPicPr>
            <a:picLocks noChangeAspect="1"/>
          </p:cNvPicPr>
          <p:nvPr/>
        </p:nvPicPr>
        <p:blipFill>
          <a:blip r:embed="rId6"/>
          <a:stretch>
            <a:fillRect/>
          </a:stretch>
        </p:blipFill>
        <p:spPr>
          <a:xfrm>
            <a:off x="9995550" y="4092337"/>
            <a:ext cx="2155404" cy="2512053"/>
          </a:xfrm>
          <a:prstGeom prst="rect">
            <a:avLst/>
          </a:prstGeom>
        </p:spPr>
      </p:pic>
    </p:spTree>
    <p:extLst>
      <p:ext uri="{BB962C8B-B14F-4D97-AF65-F5344CB8AC3E}">
        <p14:creationId xmlns:p14="http://schemas.microsoft.com/office/powerpoint/2010/main" val="38240379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3">
            <a:extLst>
              <a:ext uri="{FF2B5EF4-FFF2-40B4-BE49-F238E27FC236}">
                <a16:creationId xmlns:a16="http://schemas.microsoft.com/office/drawing/2014/main" id="{A464F89B-0D51-4725-8F93-38D617BDF1B7}"/>
              </a:ext>
            </a:extLst>
          </p:cNvPr>
          <p:cNvSpPr>
            <a:spLocks noGrp="1"/>
          </p:cNvSpPr>
          <p:nvPr>
            <p:ph type="title"/>
          </p:nvPr>
        </p:nvSpPr>
        <p:spPr>
          <a:xfrm>
            <a:off x="154631" y="156796"/>
            <a:ext cx="6750750" cy="438237"/>
          </a:xfrm>
        </p:spPr>
        <p:txBody>
          <a:bodyPr/>
          <a:lstStyle/>
          <a:p>
            <a:r>
              <a:rPr lang="ja-JP" altLang="en-US" dirty="0">
                <a:latin typeface="HGS創英角ｺﾞｼｯｸUB" pitchFamily="50" charset="-128"/>
                <a:ea typeface="HGS創英角ｺﾞｼｯｸUB" pitchFamily="50" charset="-128"/>
              </a:rPr>
              <a:t>実習症例０（実習のすすめかた）</a:t>
            </a:r>
          </a:p>
        </p:txBody>
      </p:sp>
      <p:sp>
        <p:nvSpPr>
          <p:cNvPr id="5" name="テキスト ボックス 4">
            <a:extLst>
              <a:ext uri="{FF2B5EF4-FFF2-40B4-BE49-F238E27FC236}">
                <a16:creationId xmlns:a16="http://schemas.microsoft.com/office/drawing/2014/main" id="{9A197385-F55B-49C3-8663-773B04157416}"/>
              </a:ext>
            </a:extLst>
          </p:cNvPr>
          <p:cNvSpPr txBox="1"/>
          <p:nvPr/>
        </p:nvSpPr>
        <p:spPr>
          <a:xfrm>
            <a:off x="123280" y="884548"/>
            <a:ext cx="6666169" cy="3539430"/>
          </a:xfrm>
          <a:prstGeom prst="rect">
            <a:avLst/>
          </a:prstGeom>
          <a:noFill/>
        </p:spPr>
        <p:txBody>
          <a:bodyPr wrap="square">
            <a:spAutoFit/>
          </a:bodyPr>
          <a:lstStyle/>
          <a:p>
            <a:pPr algn="just"/>
            <a:r>
              <a:rPr lang="ja-JP" altLang="en-US" sz="1600" dirty="0"/>
              <a:t>実習症例</a:t>
            </a:r>
            <a:r>
              <a:rPr lang="en-US" altLang="ja-JP" sz="1600" dirty="0"/>
              <a:t>0</a:t>
            </a:r>
          </a:p>
          <a:p>
            <a:pPr algn="just"/>
            <a:r>
              <a:rPr lang="ja-JP" altLang="en-US" sz="1600" dirty="0"/>
              <a:t>　死亡者：１９歳の男性</a:t>
            </a:r>
            <a:endParaRPr lang="en-US" altLang="ja-JP" sz="1600" dirty="0"/>
          </a:p>
          <a:p>
            <a:pPr algn="just"/>
            <a:r>
              <a:rPr lang="ja-JP" altLang="en-US" sz="1600" dirty="0"/>
              <a:t>　自宅風呂場で倒れているのを家人が発見し救急車を要請した。救急隊到着時心肺停止状態とのことで救急搬送依頼があった。病着時救急隊から、「救急隊現着時、風呂場は中から施錠されており、すぐに入れなかった。救急隊員が小窓から観察した際には患者の呼吸が確認されたが、鍵を壊して風呂場に入り倒れている患者を収容した際には心肺停止であった。また、風呂場では異臭がした。」と報告された。病院収容後心肺蘇生術を開始し、</a:t>
            </a:r>
            <a:r>
              <a:rPr lang="en-US" altLang="ja-JP" sz="1600" dirty="0"/>
              <a:t>5 </a:t>
            </a:r>
            <a:r>
              <a:rPr lang="ja-JP" altLang="en-US" sz="1600" dirty="0"/>
              <a:t>分後に自己心拍が再開した。搬送時に患者からは明らかな異臭はなかったが、治療開始後医師 </a:t>
            </a:r>
            <a:r>
              <a:rPr lang="en-US" altLang="ja-JP" sz="1600" dirty="0"/>
              <a:t>1</a:t>
            </a:r>
            <a:r>
              <a:rPr lang="ja-JP" altLang="en-US" sz="1600" dirty="0"/>
              <a:t>名が患者を覗き込んだ際に「目がチカチカする」という症状を訴えた（後日，搬送に携わった救急隊員にも目がチカチカするなどの症状が出ていたことを確認した）。治療中に消防局より追加の情報提供があり，「風呂場で </a:t>
            </a:r>
            <a:r>
              <a:rPr lang="en-US" altLang="ja-JP" sz="1600" dirty="0"/>
              <a:t>5 </a:t>
            </a:r>
            <a:r>
              <a:rPr lang="ja-JP" altLang="en-US" sz="1600" dirty="0"/>
              <a:t>種類ほどのトイレ洗浄剤などが容器の中で混ぜられた痕跡がある。よって，それらが異臭の原因と考えられる。」とのことであった。</a:t>
            </a:r>
            <a:endParaRPr lang="en-US" altLang="ja-JP" sz="1600" dirty="0"/>
          </a:p>
        </p:txBody>
      </p:sp>
      <p:sp>
        <p:nvSpPr>
          <p:cNvPr id="7" name="テキスト ボックス 6">
            <a:extLst>
              <a:ext uri="{FF2B5EF4-FFF2-40B4-BE49-F238E27FC236}">
                <a16:creationId xmlns:a16="http://schemas.microsoft.com/office/drawing/2014/main" id="{1EC612FD-F998-4B92-B129-3976BD790DE5}"/>
              </a:ext>
            </a:extLst>
          </p:cNvPr>
          <p:cNvSpPr txBox="1"/>
          <p:nvPr/>
        </p:nvSpPr>
        <p:spPr>
          <a:xfrm>
            <a:off x="72432" y="8963589"/>
            <a:ext cx="3457574" cy="523220"/>
          </a:xfrm>
          <a:prstGeom prst="rect">
            <a:avLst/>
          </a:prstGeom>
          <a:noFill/>
        </p:spPr>
        <p:txBody>
          <a:bodyPr wrap="square">
            <a:spAutoFit/>
          </a:bodyPr>
          <a:lstStyle/>
          <a:p>
            <a:r>
              <a:rPr lang="ja-JP" altLang="en-US" sz="1400" dirty="0">
                <a:solidFill>
                  <a:srgbClr val="222222"/>
                </a:solidFill>
                <a:latin typeface="Arial" panose="020B0604020202020204" pitchFamily="34" charset="0"/>
              </a:rPr>
              <a:t>森井大一ほか、日本救急医学会雑誌 </a:t>
            </a:r>
            <a:r>
              <a:rPr lang="en-US" altLang="ja-JP" sz="1400" dirty="0">
                <a:solidFill>
                  <a:srgbClr val="222222"/>
                </a:solidFill>
                <a:latin typeface="Arial" panose="020B0604020202020204" pitchFamily="34" charset="0"/>
              </a:rPr>
              <a:t>19.2 (2008): 136-136.</a:t>
            </a:r>
            <a:r>
              <a:rPr lang="ja-JP" altLang="en-US" sz="1400" dirty="0">
                <a:solidFill>
                  <a:srgbClr val="222222"/>
                </a:solidFill>
                <a:latin typeface="Arial" panose="020B0604020202020204" pitchFamily="34" charset="0"/>
              </a:rPr>
              <a:t>を実習用に改変</a:t>
            </a:r>
            <a:endParaRPr lang="ja-JP" altLang="en-US" sz="1400" dirty="0"/>
          </a:p>
        </p:txBody>
      </p:sp>
      <p:sp>
        <p:nvSpPr>
          <p:cNvPr id="8" name="テキスト ボックス 7">
            <a:extLst>
              <a:ext uri="{FF2B5EF4-FFF2-40B4-BE49-F238E27FC236}">
                <a16:creationId xmlns:a16="http://schemas.microsoft.com/office/drawing/2014/main" id="{CD9F657E-044D-48A5-9CAC-40AC1C8DA292}"/>
              </a:ext>
            </a:extLst>
          </p:cNvPr>
          <p:cNvSpPr txBox="1"/>
          <p:nvPr/>
        </p:nvSpPr>
        <p:spPr>
          <a:xfrm>
            <a:off x="123279" y="4629676"/>
            <a:ext cx="6388893"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Q1</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：どのような中毒が疑われますか？（具体的薬物）</a:t>
            </a:r>
          </a:p>
        </p:txBody>
      </p:sp>
      <p:cxnSp>
        <p:nvCxnSpPr>
          <p:cNvPr id="9" name="直線コネクタ 8">
            <a:extLst>
              <a:ext uri="{FF2B5EF4-FFF2-40B4-BE49-F238E27FC236}">
                <a16:creationId xmlns:a16="http://schemas.microsoft.com/office/drawing/2014/main" id="{DCEF5DD2-97DA-4603-A710-40BDA8F64A1F}"/>
              </a:ext>
            </a:extLst>
          </p:cNvPr>
          <p:cNvCxnSpPr/>
          <p:nvPr/>
        </p:nvCxnSpPr>
        <p:spPr>
          <a:xfrm>
            <a:off x="352774" y="5755365"/>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3AF7B112-12F7-4C22-988A-26BB8B206775}"/>
              </a:ext>
            </a:extLst>
          </p:cNvPr>
          <p:cNvSpPr txBox="1"/>
          <p:nvPr/>
        </p:nvSpPr>
        <p:spPr>
          <a:xfrm>
            <a:off x="143123" y="5424130"/>
            <a:ext cx="5076564"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１：　</a:t>
            </a:r>
            <a:r>
              <a:rPr kumimoji="1" lang="ja-JP" altLang="en-US" dirty="0">
                <a:solidFill>
                  <a:srgbClr val="C00000"/>
                </a:solidFill>
                <a:latin typeface="HGPｺﾞｼｯｸE" panose="020B0900000000000000" pitchFamily="50" charset="-128"/>
                <a:ea typeface="HGPｺﾞｼｯｸE" panose="020B0900000000000000" pitchFamily="50" charset="-128"/>
              </a:rPr>
              <a:t>硫化水素？　塩素？</a:t>
            </a:r>
          </a:p>
        </p:txBody>
      </p:sp>
      <p:sp>
        <p:nvSpPr>
          <p:cNvPr id="11" name="テキスト ボックス 10">
            <a:extLst>
              <a:ext uri="{FF2B5EF4-FFF2-40B4-BE49-F238E27FC236}">
                <a16:creationId xmlns:a16="http://schemas.microsoft.com/office/drawing/2014/main" id="{4E26A73D-D9A8-429C-A141-3DB43E8018E9}"/>
              </a:ext>
            </a:extLst>
          </p:cNvPr>
          <p:cNvSpPr txBox="1"/>
          <p:nvPr/>
        </p:nvSpPr>
        <p:spPr>
          <a:xfrm>
            <a:off x="123278" y="5929629"/>
            <a:ext cx="6750750" cy="923330"/>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２：二次災害の恐れがあるため、現場にておおよその薬毒物の見当をつけたいと思います。机にでている簡易検査キットの中で、今回の症例の鑑別のために有効そうなものはどれですか？</a:t>
            </a:r>
          </a:p>
        </p:txBody>
      </p:sp>
      <p:cxnSp>
        <p:nvCxnSpPr>
          <p:cNvPr id="12" name="直線コネクタ 11">
            <a:extLst>
              <a:ext uri="{FF2B5EF4-FFF2-40B4-BE49-F238E27FC236}">
                <a16:creationId xmlns:a16="http://schemas.microsoft.com/office/drawing/2014/main" id="{CB122D4C-72AB-42F8-BC5C-421AADE78DD5}"/>
              </a:ext>
            </a:extLst>
          </p:cNvPr>
          <p:cNvCxnSpPr/>
          <p:nvPr/>
        </p:nvCxnSpPr>
        <p:spPr>
          <a:xfrm>
            <a:off x="242521" y="7403504"/>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1E93F1FE-87AD-4BC6-A9A8-E2A1F9E3EC15}"/>
              </a:ext>
            </a:extLst>
          </p:cNvPr>
          <p:cNvSpPr txBox="1"/>
          <p:nvPr/>
        </p:nvSpPr>
        <p:spPr>
          <a:xfrm>
            <a:off x="132270" y="6997407"/>
            <a:ext cx="5076564"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２：</a:t>
            </a:r>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　</a:t>
            </a:r>
            <a:r>
              <a:rPr lang="ja-JP" altLang="en-US" dirty="0">
                <a:solidFill>
                  <a:srgbClr val="C00000"/>
                </a:solidFill>
                <a:latin typeface="HGPｺﾞｼｯｸE" panose="020B0900000000000000" pitchFamily="50" charset="-128"/>
                <a:ea typeface="HGPｺﾞｼｯｸE" panose="020B0900000000000000" pitchFamily="50" charset="-128"/>
              </a:rPr>
              <a:t>血中硫化水素</a:t>
            </a:r>
            <a:endParaRPr kumimoji="1" lang="ja-JP" altLang="en-US" dirty="0">
              <a:solidFill>
                <a:srgbClr val="C00000"/>
              </a:solidFill>
              <a:latin typeface="HGPｺﾞｼｯｸE" panose="020B0900000000000000" pitchFamily="50" charset="-128"/>
              <a:ea typeface="HGPｺﾞｼｯｸE" panose="020B0900000000000000" pitchFamily="50" charset="-128"/>
            </a:endParaRPr>
          </a:p>
        </p:txBody>
      </p:sp>
      <p:sp>
        <p:nvSpPr>
          <p:cNvPr id="14" name="テキスト ボックス 13">
            <a:extLst>
              <a:ext uri="{FF2B5EF4-FFF2-40B4-BE49-F238E27FC236}">
                <a16:creationId xmlns:a16="http://schemas.microsoft.com/office/drawing/2014/main" id="{CDA0A33C-C4CB-4311-A1D1-351FAC243FBF}"/>
              </a:ext>
            </a:extLst>
          </p:cNvPr>
          <p:cNvSpPr txBox="1"/>
          <p:nvPr/>
        </p:nvSpPr>
        <p:spPr>
          <a:xfrm>
            <a:off x="132271" y="7537840"/>
            <a:ext cx="6490627" cy="923330"/>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３：実際に、</a:t>
            </a:r>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２で選択した簡易検査キットを使用して、使用薬物の推定をおこなってください。疑わしい薬物があれば、いくつか別のキットを使っても結構です。結果を簡潔にしめしてください。</a:t>
            </a:r>
          </a:p>
        </p:txBody>
      </p:sp>
      <p:cxnSp>
        <p:nvCxnSpPr>
          <p:cNvPr id="15" name="直線コネクタ 14">
            <a:extLst>
              <a:ext uri="{FF2B5EF4-FFF2-40B4-BE49-F238E27FC236}">
                <a16:creationId xmlns:a16="http://schemas.microsoft.com/office/drawing/2014/main" id="{6F06A5BB-F2A9-4F12-BC2B-87FAB718DDFF}"/>
              </a:ext>
            </a:extLst>
          </p:cNvPr>
          <p:cNvCxnSpPr/>
          <p:nvPr/>
        </p:nvCxnSpPr>
        <p:spPr>
          <a:xfrm>
            <a:off x="332929" y="8974611"/>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597A6BD1-AD99-4351-B14B-2A4D801FD634}"/>
              </a:ext>
            </a:extLst>
          </p:cNvPr>
          <p:cNvSpPr txBox="1"/>
          <p:nvPr/>
        </p:nvSpPr>
        <p:spPr>
          <a:xfrm>
            <a:off x="123278" y="8643376"/>
            <a:ext cx="5076564" cy="369332"/>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３：　</a:t>
            </a:r>
            <a:r>
              <a:rPr kumimoji="1" lang="ja-JP" altLang="en-US" dirty="0">
                <a:solidFill>
                  <a:srgbClr val="C00000"/>
                </a:solidFill>
                <a:latin typeface="HGPｺﾞｼｯｸE" panose="020B0900000000000000" pitchFamily="50" charset="-128"/>
                <a:ea typeface="HGPｺﾞｼｯｸE" panose="020B0900000000000000" pitchFamily="50" charset="-128"/>
              </a:rPr>
              <a:t>血中硫化水素の検知管が</a:t>
            </a:r>
            <a:r>
              <a:rPr kumimoji="1" lang="en-US" altLang="ja-JP" dirty="0">
                <a:solidFill>
                  <a:srgbClr val="C00000"/>
                </a:solidFill>
                <a:latin typeface="HGPｺﾞｼｯｸE" panose="020B0900000000000000" pitchFamily="50" charset="-128"/>
                <a:ea typeface="HGPｺﾞｼｯｸE" panose="020B0900000000000000" pitchFamily="50" charset="-128"/>
              </a:rPr>
              <a:t>1.0µg/mL</a:t>
            </a:r>
            <a:r>
              <a:rPr kumimoji="1" lang="ja-JP" altLang="en-US" dirty="0">
                <a:solidFill>
                  <a:srgbClr val="C00000"/>
                </a:solidFill>
                <a:latin typeface="HGPｺﾞｼｯｸE" panose="020B0900000000000000" pitchFamily="50" charset="-128"/>
                <a:ea typeface="HGPｺﾞｼｯｸE" panose="020B0900000000000000" pitchFamily="50" charset="-128"/>
              </a:rPr>
              <a:t>を呈した</a:t>
            </a:r>
          </a:p>
        </p:txBody>
      </p:sp>
      <p:sp>
        <p:nvSpPr>
          <p:cNvPr id="17" name="正方形/長方形 16">
            <a:extLst>
              <a:ext uri="{FF2B5EF4-FFF2-40B4-BE49-F238E27FC236}">
                <a16:creationId xmlns:a16="http://schemas.microsoft.com/office/drawing/2014/main" id="{24F4A591-ADCF-46B7-A87F-8363CF82D68A}"/>
              </a:ext>
            </a:extLst>
          </p:cNvPr>
          <p:cNvSpPr/>
          <p:nvPr/>
        </p:nvSpPr>
        <p:spPr>
          <a:xfrm>
            <a:off x="0" y="0"/>
            <a:ext cx="7108056" cy="9906000"/>
          </a:xfrm>
          <a:prstGeom prst="rect">
            <a:avLst/>
          </a:prstGeom>
          <a:noFill/>
          <a:ln w="57150">
            <a:solidFill>
              <a:schemeClr val="bg1">
                <a:lumMod val="65000"/>
              </a:schemeClr>
            </a:solidFill>
          </a:ln>
        </p:spPr>
        <p:txBody>
          <a:bodyPr wrap="squar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
        <p:nvSpPr>
          <p:cNvPr id="18" name="矢印: 下 17">
            <a:extLst>
              <a:ext uri="{FF2B5EF4-FFF2-40B4-BE49-F238E27FC236}">
                <a16:creationId xmlns:a16="http://schemas.microsoft.com/office/drawing/2014/main" id="{400F2C83-37C0-4A8D-833D-90B6E6938906}"/>
              </a:ext>
            </a:extLst>
          </p:cNvPr>
          <p:cNvSpPr/>
          <p:nvPr/>
        </p:nvSpPr>
        <p:spPr>
          <a:xfrm rot="5400000">
            <a:off x="6473333" y="8037369"/>
            <a:ext cx="864096" cy="1581346"/>
          </a:xfrm>
          <a:prstGeom prst="downArrow">
            <a:avLst/>
          </a:prstGeom>
          <a:solidFill>
            <a:srgbClr val="C00000"/>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3082014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a:xfrm>
            <a:off x="3270795" y="118560"/>
            <a:ext cx="6750750" cy="438237"/>
          </a:xfrm>
        </p:spPr>
        <p:txBody>
          <a:bodyPr/>
          <a:lstStyle/>
          <a:p>
            <a:r>
              <a:rPr lang="ja-JP" altLang="en-US" dirty="0">
                <a:latin typeface="HGS創英角ｺﾞｼｯｸUB" pitchFamily="50" charset="-128"/>
                <a:ea typeface="HGS創英角ｺﾞｼｯｸUB" pitchFamily="50" charset="-128"/>
              </a:rPr>
              <a:t>実習症例０</a:t>
            </a:r>
          </a:p>
        </p:txBody>
      </p:sp>
      <p:cxnSp>
        <p:nvCxnSpPr>
          <p:cNvPr id="20" name="直線コネクタ 19">
            <a:extLst>
              <a:ext uri="{FF2B5EF4-FFF2-40B4-BE49-F238E27FC236}">
                <a16:creationId xmlns:a16="http://schemas.microsoft.com/office/drawing/2014/main" id="{FBE75350-8FF8-4311-B8CB-769F8B64CD31}"/>
              </a:ext>
            </a:extLst>
          </p:cNvPr>
          <p:cNvCxnSpPr/>
          <p:nvPr/>
        </p:nvCxnSpPr>
        <p:spPr>
          <a:xfrm>
            <a:off x="3446456" y="11167864"/>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ACB2F09F-46F5-4CD2-99D6-024F3341599B}"/>
              </a:ext>
            </a:extLst>
          </p:cNvPr>
          <p:cNvCxnSpPr/>
          <p:nvPr/>
        </p:nvCxnSpPr>
        <p:spPr>
          <a:xfrm>
            <a:off x="310866" y="3123413"/>
            <a:ext cx="6858000" cy="119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EB960DF9-0670-4031-9438-5D51A9D96ECC}"/>
              </a:ext>
            </a:extLst>
          </p:cNvPr>
          <p:cNvSpPr txBox="1"/>
          <p:nvPr/>
        </p:nvSpPr>
        <p:spPr>
          <a:xfrm>
            <a:off x="375308" y="1136576"/>
            <a:ext cx="6750750" cy="923330"/>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４：簡易検査の結果から処置するとともに血液を薬毒物検査室に送り、分析を</a:t>
            </a:r>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依頼したいと思います。</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どのような内容を伝えるとよいと思いますか？</a:t>
            </a:r>
          </a:p>
        </p:txBody>
      </p:sp>
      <p:cxnSp>
        <p:nvCxnSpPr>
          <p:cNvPr id="25" name="直線コネクタ 24">
            <a:extLst>
              <a:ext uri="{FF2B5EF4-FFF2-40B4-BE49-F238E27FC236}">
                <a16:creationId xmlns:a16="http://schemas.microsoft.com/office/drawing/2014/main" id="{5CD9F87B-6B5E-4C45-8DF8-78E9463B323D}"/>
              </a:ext>
            </a:extLst>
          </p:cNvPr>
          <p:cNvCxnSpPr/>
          <p:nvPr/>
        </p:nvCxnSpPr>
        <p:spPr>
          <a:xfrm>
            <a:off x="604803" y="3665738"/>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C1CC6B01-FF11-45C6-AB3E-2C66BFB917C5}"/>
              </a:ext>
            </a:extLst>
          </p:cNvPr>
          <p:cNvSpPr txBox="1"/>
          <p:nvPr/>
        </p:nvSpPr>
        <p:spPr>
          <a:xfrm>
            <a:off x="400210" y="2145786"/>
            <a:ext cx="6585073" cy="1477328"/>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４：</a:t>
            </a:r>
            <a:r>
              <a:rPr kumimoji="1" lang="ja-JP" altLang="en-US" dirty="0">
                <a:solidFill>
                  <a:srgbClr val="C00000"/>
                </a:solidFill>
                <a:latin typeface="HGPｺﾞｼｯｸE" panose="020B0900000000000000" pitchFamily="50" charset="-128"/>
                <a:ea typeface="HGPｺﾞｼｯｸE" panose="020B0900000000000000" pitchFamily="50" charset="-128"/>
              </a:rPr>
              <a:t>死亡者が風呂場で倒れていたこと</a:t>
            </a:r>
            <a:endParaRPr kumimoji="1" lang="en-US" altLang="ja-JP" dirty="0">
              <a:solidFill>
                <a:srgbClr val="C00000"/>
              </a:solidFill>
              <a:latin typeface="HGPｺﾞｼｯｸE" panose="020B0900000000000000" pitchFamily="50" charset="-128"/>
              <a:ea typeface="HGPｺﾞｼｯｸE" panose="020B0900000000000000" pitchFamily="50" charset="-128"/>
            </a:endParaRPr>
          </a:p>
          <a:p>
            <a:r>
              <a:rPr lang="ja-JP" altLang="en-US" dirty="0">
                <a:solidFill>
                  <a:srgbClr val="C00000"/>
                </a:solidFill>
                <a:latin typeface="HGPｺﾞｼｯｸE" panose="020B0900000000000000" pitchFamily="50" charset="-128"/>
                <a:ea typeface="HGPｺﾞｼｯｸE" panose="020B0900000000000000" pitchFamily="50" charset="-128"/>
              </a:rPr>
              <a:t>　　　</a:t>
            </a:r>
            <a:r>
              <a:rPr kumimoji="1" lang="ja-JP" altLang="en-US" dirty="0">
                <a:solidFill>
                  <a:srgbClr val="C00000"/>
                </a:solidFill>
                <a:latin typeface="HGPｺﾞｼｯｸE" panose="020B0900000000000000" pitchFamily="50" charset="-128"/>
                <a:ea typeface="HGPｺﾞｼｯｸE" panose="020B0900000000000000" pitchFamily="50" charset="-128"/>
              </a:rPr>
              <a:t>救急隊員ならびに治療時の医師から「目がチカチカする」との証言があったこと</a:t>
            </a:r>
            <a:endParaRPr kumimoji="1" lang="en-US" altLang="ja-JP" dirty="0">
              <a:solidFill>
                <a:srgbClr val="C00000"/>
              </a:solidFill>
              <a:latin typeface="HGPｺﾞｼｯｸE" panose="020B0900000000000000" pitchFamily="50" charset="-128"/>
              <a:ea typeface="HGPｺﾞｼｯｸE" panose="020B0900000000000000" pitchFamily="50" charset="-128"/>
            </a:endParaRPr>
          </a:p>
          <a:p>
            <a:r>
              <a:rPr lang="ja-JP" altLang="en-US" dirty="0">
                <a:solidFill>
                  <a:srgbClr val="C00000"/>
                </a:solidFill>
                <a:latin typeface="HGPｺﾞｼｯｸE" panose="020B0900000000000000" pitchFamily="50" charset="-128"/>
                <a:ea typeface="HGPｺﾞｼｯｸE" panose="020B0900000000000000" pitchFamily="50" charset="-128"/>
              </a:rPr>
              <a:t>　　　</a:t>
            </a:r>
            <a:r>
              <a:rPr kumimoji="1" lang="ja-JP" altLang="en-US" dirty="0">
                <a:solidFill>
                  <a:srgbClr val="C00000"/>
                </a:solidFill>
                <a:latin typeface="HGPｺﾞｼｯｸE" panose="020B0900000000000000" pitchFamily="50" charset="-128"/>
                <a:ea typeface="HGPｺﾞｼｯｸE" panose="020B0900000000000000" pitchFamily="50" charset="-128"/>
              </a:rPr>
              <a:t>トイレの洗浄剤などが混ぜられた形跡があること</a:t>
            </a:r>
            <a:endParaRPr kumimoji="1" lang="en-US" altLang="ja-JP" dirty="0">
              <a:solidFill>
                <a:srgbClr val="C00000"/>
              </a:solidFill>
              <a:latin typeface="HGPｺﾞｼｯｸE" panose="020B0900000000000000" pitchFamily="50" charset="-128"/>
              <a:ea typeface="HGPｺﾞｼｯｸE" panose="020B0900000000000000" pitchFamily="50" charset="-128"/>
            </a:endParaRPr>
          </a:p>
          <a:p>
            <a:r>
              <a:rPr lang="ja-JP" altLang="en-US" dirty="0">
                <a:solidFill>
                  <a:srgbClr val="C00000"/>
                </a:solidFill>
                <a:latin typeface="HGPｺﾞｼｯｸE" panose="020B0900000000000000" pitchFamily="50" charset="-128"/>
                <a:ea typeface="HGPｺﾞｼｯｸE" panose="020B0900000000000000" pitchFamily="50" charset="-128"/>
              </a:rPr>
              <a:t>　　　</a:t>
            </a:r>
            <a:r>
              <a:rPr kumimoji="1" lang="ja-JP" altLang="en-US" dirty="0">
                <a:solidFill>
                  <a:srgbClr val="C00000"/>
                </a:solidFill>
                <a:latin typeface="HGPｺﾞｼｯｸE" panose="020B0900000000000000" pitchFamily="50" charset="-128"/>
                <a:ea typeface="HGPｺﾞｼｯｸE" panose="020B0900000000000000" pitchFamily="50" charset="-128"/>
              </a:rPr>
              <a:t>血中硫化水素の簡易検査の結果</a:t>
            </a:r>
            <a:r>
              <a:rPr kumimoji="1" lang="en-US" altLang="ja-JP" dirty="0">
                <a:solidFill>
                  <a:srgbClr val="C00000"/>
                </a:solidFill>
                <a:latin typeface="HGPｺﾞｼｯｸE" panose="020B0900000000000000" pitchFamily="50" charset="-128"/>
                <a:ea typeface="HGPｺﾞｼｯｸE" panose="020B0900000000000000" pitchFamily="50" charset="-128"/>
              </a:rPr>
              <a:t>1.0µg/mL</a:t>
            </a:r>
            <a:r>
              <a:rPr kumimoji="1" lang="ja-JP" altLang="en-US" dirty="0">
                <a:solidFill>
                  <a:srgbClr val="C00000"/>
                </a:solidFill>
                <a:latin typeface="HGPｺﾞｼｯｸE" panose="020B0900000000000000" pitchFamily="50" charset="-128"/>
                <a:ea typeface="HGPｺﾞｼｯｸE" panose="020B0900000000000000" pitchFamily="50" charset="-128"/>
              </a:rPr>
              <a:t>を呈したことなど。</a:t>
            </a:r>
          </a:p>
        </p:txBody>
      </p:sp>
      <p:sp>
        <p:nvSpPr>
          <p:cNvPr id="27" name="テキスト ボックス 26">
            <a:extLst>
              <a:ext uri="{FF2B5EF4-FFF2-40B4-BE49-F238E27FC236}">
                <a16:creationId xmlns:a16="http://schemas.microsoft.com/office/drawing/2014/main" id="{14B7A0A9-EC90-46BE-9915-762B87EC5295}"/>
              </a:ext>
            </a:extLst>
          </p:cNvPr>
          <p:cNvSpPr txBox="1"/>
          <p:nvPr/>
        </p:nvSpPr>
        <p:spPr>
          <a:xfrm>
            <a:off x="384301" y="3760583"/>
            <a:ext cx="6490627" cy="646331"/>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５：</a:t>
            </a:r>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皆さん</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が依頼した薬毒物検査により、検査室では「実習動画０」のような分析を行いました。動画を視聴してください。</a:t>
            </a:r>
            <a:endPar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
        <p:nvSpPr>
          <p:cNvPr id="2" name="テキスト ボックス 1">
            <a:extLst>
              <a:ext uri="{FF2B5EF4-FFF2-40B4-BE49-F238E27FC236}">
                <a16:creationId xmlns:a16="http://schemas.microsoft.com/office/drawing/2014/main" id="{974DF632-401D-4C2A-B42E-F1D1706791F3}"/>
              </a:ext>
            </a:extLst>
          </p:cNvPr>
          <p:cNvSpPr txBox="1"/>
          <p:nvPr/>
        </p:nvSpPr>
        <p:spPr>
          <a:xfrm>
            <a:off x="577643" y="4686621"/>
            <a:ext cx="5940660" cy="369332"/>
          </a:xfrm>
          <a:prstGeom prst="rect">
            <a:avLst/>
          </a:prstGeom>
          <a:noFill/>
          <a:ln>
            <a:solidFill>
              <a:schemeClr val="tx1"/>
            </a:solidFill>
          </a:ln>
        </p:spPr>
        <p:txBody>
          <a:bodyPr wrap="square" rtlCol="0">
            <a:spAutoFit/>
          </a:bodyPr>
          <a:lstStyle/>
          <a:p>
            <a:pPr algn="ct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別途配布　実習動画０へのリンクからアクセスしてください</a:t>
            </a:r>
          </a:p>
        </p:txBody>
      </p:sp>
      <p:sp>
        <p:nvSpPr>
          <p:cNvPr id="11" name="テキスト ボックス 10">
            <a:extLst>
              <a:ext uri="{FF2B5EF4-FFF2-40B4-BE49-F238E27FC236}">
                <a16:creationId xmlns:a16="http://schemas.microsoft.com/office/drawing/2014/main" id="{D7EDEB6D-07A8-4215-B562-BBF3DA9E16A8}"/>
              </a:ext>
            </a:extLst>
          </p:cNvPr>
          <p:cNvSpPr txBox="1"/>
          <p:nvPr/>
        </p:nvSpPr>
        <p:spPr>
          <a:xfrm>
            <a:off x="406661" y="5341929"/>
            <a:ext cx="6490627" cy="646331"/>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６：検査室では、対象となる薬物について、なんという分析法で検査がされましたか？</a:t>
            </a:r>
            <a:endPar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
        <p:nvSpPr>
          <p:cNvPr id="12" name="テキスト ボックス 11">
            <a:extLst>
              <a:ext uri="{FF2B5EF4-FFF2-40B4-BE49-F238E27FC236}">
                <a16:creationId xmlns:a16="http://schemas.microsoft.com/office/drawing/2014/main" id="{D1265739-D6D0-4809-8976-A3D7E5D7A619}"/>
              </a:ext>
            </a:extLst>
          </p:cNvPr>
          <p:cNvSpPr txBox="1"/>
          <p:nvPr/>
        </p:nvSpPr>
        <p:spPr>
          <a:xfrm>
            <a:off x="368043" y="6166006"/>
            <a:ext cx="6490627" cy="646331"/>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６：　</a:t>
            </a:r>
            <a:endParaRPr kumimoji="1" lang="en-US" altLang="ja-JP" dirty="0">
              <a:solidFill>
                <a:srgbClr val="C00000"/>
              </a:solidFill>
              <a:latin typeface="HGPｺﾞｼｯｸE" panose="020B0900000000000000" pitchFamily="50" charset="-128"/>
              <a:ea typeface="HGPｺﾞｼｯｸE" panose="020B0900000000000000" pitchFamily="50" charset="-128"/>
            </a:endParaRPr>
          </a:p>
          <a:p>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a:t>
            </a:r>
            <a:endPar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
        <p:nvSpPr>
          <p:cNvPr id="13" name="テキスト ボックス 12">
            <a:extLst>
              <a:ext uri="{FF2B5EF4-FFF2-40B4-BE49-F238E27FC236}">
                <a16:creationId xmlns:a16="http://schemas.microsoft.com/office/drawing/2014/main" id="{A7B771A1-A04E-41F1-AECC-3B08539D87FC}"/>
              </a:ext>
            </a:extLst>
          </p:cNvPr>
          <p:cNvSpPr txBox="1"/>
          <p:nvPr/>
        </p:nvSpPr>
        <p:spPr>
          <a:xfrm>
            <a:off x="406661" y="7861481"/>
            <a:ext cx="6490627" cy="646331"/>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７：</a:t>
            </a:r>
            <a:endPar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＿＿薬毒物名：＿　　　　　＿＿血中濃度：　　　　　　　　＿</a:t>
            </a:r>
            <a:endPar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
        <p:nvSpPr>
          <p:cNvPr id="14" name="テキスト ボックス 13">
            <a:extLst>
              <a:ext uri="{FF2B5EF4-FFF2-40B4-BE49-F238E27FC236}">
                <a16:creationId xmlns:a16="http://schemas.microsoft.com/office/drawing/2014/main" id="{D4C80B79-061F-47EE-A8EC-FDE554EA7A83}"/>
              </a:ext>
            </a:extLst>
          </p:cNvPr>
          <p:cNvSpPr txBox="1"/>
          <p:nvPr/>
        </p:nvSpPr>
        <p:spPr>
          <a:xfrm>
            <a:off x="406661" y="7037404"/>
            <a:ext cx="6490627" cy="646331"/>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７：中毒の原因と考えられる薬毒物名と、その血中濃度が映像内で報告されましたが、</a:t>
            </a:r>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その内容を記載してください</a:t>
            </a:r>
            <a:endPar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
        <p:nvSpPr>
          <p:cNvPr id="15" name="正方形/長方形 14">
            <a:extLst>
              <a:ext uri="{FF2B5EF4-FFF2-40B4-BE49-F238E27FC236}">
                <a16:creationId xmlns:a16="http://schemas.microsoft.com/office/drawing/2014/main" id="{E8AFAA74-8A7A-4F4C-A220-C1D007CD79F8}"/>
              </a:ext>
            </a:extLst>
          </p:cNvPr>
          <p:cNvSpPr/>
          <p:nvPr/>
        </p:nvSpPr>
        <p:spPr>
          <a:xfrm>
            <a:off x="0" y="0"/>
            <a:ext cx="7108056" cy="9906000"/>
          </a:xfrm>
          <a:prstGeom prst="rect">
            <a:avLst/>
          </a:prstGeom>
          <a:noFill/>
          <a:ln w="57150">
            <a:solidFill>
              <a:schemeClr val="bg1">
                <a:lumMod val="65000"/>
              </a:schemeClr>
            </a:solidFill>
          </a:ln>
        </p:spPr>
        <p:txBody>
          <a:bodyPr wrap="squar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pic>
        <p:nvPicPr>
          <p:cNvPr id="6" name="グラフィックス 5" descr="テレビ 単色塗りつぶし">
            <a:extLst>
              <a:ext uri="{FF2B5EF4-FFF2-40B4-BE49-F238E27FC236}">
                <a16:creationId xmlns:a16="http://schemas.microsoft.com/office/drawing/2014/main" id="{8B761A62-295F-446D-A8A1-375CE385E2C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51423" y="2361547"/>
            <a:ext cx="4361326" cy="4361326"/>
          </a:xfrm>
          <a:prstGeom prst="rect">
            <a:avLst/>
          </a:prstGeom>
        </p:spPr>
      </p:pic>
      <p:pic>
        <p:nvPicPr>
          <p:cNvPr id="8" name="図 7">
            <a:extLst>
              <a:ext uri="{FF2B5EF4-FFF2-40B4-BE49-F238E27FC236}">
                <a16:creationId xmlns:a16="http://schemas.microsoft.com/office/drawing/2014/main" id="{22B2F14C-1EB2-4DB8-AC36-0B9D751A7E3F}"/>
              </a:ext>
            </a:extLst>
          </p:cNvPr>
          <p:cNvPicPr>
            <a:picLocks noChangeAspect="1"/>
          </p:cNvPicPr>
          <p:nvPr/>
        </p:nvPicPr>
        <p:blipFill>
          <a:blip r:embed="rId4"/>
          <a:stretch>
            <a:fillRect/>
          </a:stretch>
        </p:blipFill>
        <p:spPr>
          <a:xfrm>
            <a:off x="8788494" y="3281132"/>
            <a:ext cx="2687184" cy="2024088"/>
          </a:xfrm>
          <a:prstGeom prst="rect">
            <a:avLst/>
          </a:prstGeom>
        </p:spPr>
      </p:pic>
      <p:sp>
        <p:nvSpPr>
          <p:cNvPr id="9" name="矢印: 右 8">
            <a:extLst>
              <a:ext uri="{FF2B5EF4-FFF2-40B4-BE49-F238E27FC236}">
                <a16:creationId xmlns:a16="http://schemas.microsoft.com/office/drawing/2014/main" id="{8A3C3F25-C790-48FD-B272-11AE04C78DF7}"/>
              </a:ext>
            </a:extLst>
          </p:cNvPr>
          <p:cNvSpPr/>
          <p:nvPr/>
        </p:nvSpPr>
        <p:spPr>
          <a:xfrm rot="20990625">
            <a:off x="6758418" y="4453306"/>
            <a:ext cx="1031943" cy="414688"/>
          </a:xfrm>
          <a:prstGeom prst="rightArrow">
            <a:avLst/>
          </a:prstGeom>
          <a:solidFill>
            <a:srgbClr val="C00000"/>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
        <p:nvSpPr>
          <p:cNvPr id="22" name="矢印: 下 21">
            <a:extLst>
              <a:ext uri="{FF2B5EF4-FFF2-40B4-BE49-F238E27FC236}">
                <a16:creationId xmlns:a16="http://schemas.microsoft.com/office/drawing/2014/main" id="{67E6D30D-1340-4D66-AD5F-ACA4624DDD7F}"/>
              </a:ext>
            </a:extLst>
          </p:cNvPr>
          <p:cNvSpPr/>
          <p:nvPr/>
        </p:nvSpPr>
        <p:spPr>
          <a:xfrm rot="5400000">
            <a:off x="7217295" y="1712256"/>
            <a:ext cx="864096" cy="1581346"/>
          </a:xfrm>
          <a:prstGeom prst="downArrow">
            <a:avLst/>
          </a:prstGeom>
          <a:solidFill>
            <a:srgbClr val="C00000"/>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37298414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 2"/>
          <p:cNvSpPr>
            <a:spLocks noGrp="1"/>
          </p:cNvSpPr>
          <p:nvPr>
            <p:ph idx="1"/>
          </p:nvPr>
        </p:nvSpPr>
        <p:spPr>
          <a:xfrm>
            <a:off x="195288" y="1217024"/>
            <a:ext cx="6858000" cy="735231"/>
          </a:xfrm>
        </p:spPr>
        <p:txBody>
          <a:bodyPr rtlCol="0">
            <a:normAutofit fontScale="92500"/>
          </a:bodyPr>
          <a:lstStyle/>
          <a:p>
            <a:pPr eaLnBrk="1" fontAlgn="auto" hangingPunct="1">
              <a:lnSpc>
                <a:spcPts val="4500"/>
              </a:lnSpc>
              <a:spcAft>
                <a:spcPts val="0"/>
              </a:spcAft>
              <a:defRPr/>
            </a:pPr>
            <a:r>
              <a:rPr lang="ja-JP" altLang="en-US" sz="3200" dirty="0"/>
              <a:t>獨協医科大学　医学部　４学年　法医学</a:t>
            </a:r>
            <a:endParaRPr lang="en-US" altLang="ja-JP" sz="3200" dirty="0"/>
          </a:p>
        </p:txBody>
      </p:sp>
      <p:sp>
        <p:nvSpPr>
          <p:cNvPr id="2053" name="テキスト ボックス 5"/>
          <p:cNvSpPr txBox="1">
            <a:spLocks noChangeArrowheads="1"/>
          </p:cNvSpPr>
          <p:nvPr/>
        </p:nvSpPr>
        <p:spPr bwMode="auto">
          <a:xfrm>
            <a:off x="0" y="76934"/>
            <a:ext cx="6536531" cy="553998"/>
          </a:xfrm>
          <a:prstGeom prst="rect">
            <a:avLst/>
          </a:prstGeom>
          <a:noFill/>
          <a:ln w="9525">
            <a:noFill/>
            <a:miter lim="800000"/>
            <a:headEnd/>
            <a:tailEnd/>
          </a:ln>
        </p:spPr>
        <p:txBody>
          <a:bodyPr>
            <a:spAutoFit/>
          </a:bodyPr>
          <a:lstStyle/>
          <a:p>
            <a:r>
              <a:rPr lang="en-US" altLang="ja-JP" sz="1500" dirty="0">
                <a:solidFill>
                  <a:schemeClr val="bg1"/>
                </a:solidFill>
                <a:latin typeface="HGS創英角ｺﾞｼｯｸUB" pitchFamily="50" charset="-128"/>
                <a:ea typeface="HGS創英角ｺﾞｼｯｸUB" pitchFamily="50" charset="-128"/>
                <a:cs typeface="Arial" charset="0"/>
              </a:rPr>
              <a:t>Juntendo University</a:t>
            </a:r>
            <a:r>
              <a:rPr lang="ja-JP" altLang="en-US" sz="1500" dirty="0">
                <a:solidFill>
                  <a:schemeClr val="bg1"/>
                </a:solidFill>
                <a:latin typeface="HGS創英角ｺﾞｼｯｸUB" pitchFamily="50" charset="-128"/>
                <a:ea typeface="HGS創英角ｺﾞｼｯｸUB" pitchFamily="50" charset="-128"/>
                <a:cs typeface="Arial" charset="0"/>
              </a:rPr>
              <a:t> </a:t>
            </a:r>
            <a:r>
              <a:rPr lang="en-US" altLang="ja-JP" sz="1500" dirty="0">
                <a:solidFill>
                  <a:schemeClr val="bg1"/>
                </a:solidFill>
                <a:latin typeface="HGS創英角ｺﾞｼｯｸUB" pitchFamily="50" charset="-128"/>
                <a:ea typeface="HGS創英角ｺﾞｼｯｸUB" pitchFamily="50" charset="-128"/>
                <a:cs typeface="Arial" charset="0"/>
              </a:rPr>
              <a:t>Faculty of Medicine</a:t>
            </a:r>
          </a:p>
          <a:p>
            <a:r>
              <a:rPr lang="en-US" altLang="ja-JP" sz="1500" dirty="0">
                <a:solidFill>
                  <a:schemeClr val="bg1"/>
                </a:solidFill>
                <a:latin typeface="HGS創英角ｺﾞｼｯｸUB" pitchFamily="50" charset="-128"/>
                <a:ea typeface="HGS創英角ｺﾞｼｯｸUB" pitchFamily="50" charset="-128"/>
                <a:cs typeface="Arial" charset="0"/>
              </a:rPr>
              <a:t>Department of Forensic Medicine</a:t>
            </a:r>
            <a:endParaRPr lang="ja-JP" altLang="en-US" sz="1500" dirty="0">
              <a:solidFill>
                <a:schemeClr val="bg1"/>
              </a:solidFill>
              <a:latin typeface="HGS創英角ｺﾞｼｯｸUB" pitchFamily="50" charset="-128"/>
              <a:ea typeface="HGS創英角ｺﾞｼｯｸUB" pitchFamily="50" charset="-128"/>
              <a:cs typeface="Arial" charset="0"/>
            </a:endParaRPr>
          </a:p>
        </p:txBody>
      </p:sp>
      <p:sp>
        <p:nvSpPr>
          <p:cNvPr id="9" name="正方形/長方形 8"/>
          <p:cNvSpPr/>
          <p:nvPr/>
        </p:nvSpPr>
        <p:spPr>
          <a:xfrm>
            <a:off x="4203343" y="2445869"/>
            <a:ext cx="4801314" cy="669414"/>
          </a:xfrm>
          <a:prstGeom prst="rect">
            <a:avLst/>
          </a:prstGeom>
        </p:spPr>
        <p:txBody>
          <a:bodyPr wrap="none">
            <a:spAutoFit/>
          </a:bodyPr>
          <a:lstStyle/>
          <a:p>
            <a:pPr fontAlgn="auto">
              <a:lnSpc>
                <a:spcPts val="4500"/>
              </a:lnSpc>
              <a:spcAft>
                <a:spcPts val="0"/>
              </a:spcAft>
              <a:defRPr/>
            </a:pPr>
            <a:r>
              <a:rPr lang="ja-JP" altLang="en-US" sz="4500" dirty="0">
                <a:solidFill>
                  <a:schemeClr val="accent1">
                    <a:lumMod val="50000"/>
                  </a:schemeClr>
                </a:solidFill>
                <a:latin typeface="HGPｺﾞｼｯｸE" pitchFamily="50" charset="-128"/>
                <a:ea typeface="HGPｺﾞｼｯｸE" pitchFamily="50" charset="-128"/>
              </a:rPr>
              <a:t>実習（薬毒物分析）</a:t>
            </a:r>
            <a:endParaRPr lang="ja-JP" altLang="en-US" sz="3600" dirty="0">
              <a:solidFill>
                <a:schemeClr val="tx1">
                  <a:lumMod val="75000"/>
                  <a:lumOff val="25000"/>
                </a:schemeClr>
              </a:solidFill>
              <a:latin typeface="HGPｺﾞｼｯｸE" pitchFamily="50" charset="-128"/>
              <a:ea typeface="HGPｺﾞｼｯｸE" pitchFamily="50" charset="-128"/>
            </a:endParaRPr>
          </a:p>
        </p:txBody>
      </p:sp>
      <p:sp>
        <p:nvSpPr>
          <p:cNvPr id="2" name="正方形/長方形 1"/>
          <p:cNvSpPr/>
          <p:nvPr/>
        </p:nvSpPr>
        <p:spPr>
          <a:xfrm>
            <a:off x="1001358" y="2432720"/>
            <a:ext cx="2262158" cy="669414"/>
          </a:xfrm>
          <a:prstGeom prst="rect">
            <a:avLst/>
          </a:prstGeom>
        </p:spPr>
        <p:txBody>
          <a:bodyPr wrap="none">
            <a:spAutoFit/>
          </a:bodyPr>
          <a:lstStyle/>
          <a:p>
            <a:pPr fontAlgn="auto">
              <a:lnSpc>
                <a:spcPts val="4500"/>
              </a:lnSpc>
              <a:spcAft>
                <a:spcPts val="0"/>
              </a:spcAft>
              <a:defRPr/>
            </a:pPr>
            <a:r>
              <a:rPr lang="ja-JP" altLang="en-US" sz="5400" dirty="0">
                <a:solidFill>
                  <a:schemeClr val="tx1">
                    <a:lumMod val="75000"/>
                    <a:lumOff val="25000"/>
                  </a:schemeClr>
                </a:solidFill>
                <a:latin typeface="+mn-ea"/>
                <a:ea typeface="+mn-ea"/>
              </a:rPr>
              <a:t>法医学</a:t>
            </a:r>
            <a:endParaRPr lang="en-US" altLang="ja-JP" sz="5400" dirty="0">
              <a:solidFill>
                <a:schemeClr val="tx1">
                  <a:lumMod val="75000"/>
                  <a:lumOff val="25000"/>
                </a:schemeClr>
              </a:solidFill>
              <a:latin typeface="+mn-ea"/>
              <a:ea typeface="+mn-ea"/>
            </a:endParaRPr>
          </a:p>
        </p:txBody>
      </p:sp>
      <p:sp>
        <p:nvSpPr>
          <p:cNvPr id="4" name="テキスト ボックス 3">
            <a:extLst>
              <a:ext uri="{FF2B5EF4-FFF2-40B4-BE49-F238E27FC236}">
                <a16:creationId xmlns:a16="http://schemas.microsoft.com/office/drawing/2014/main" id="{795D2824-0ECD-4A1F-8E1C-A0D621057D51}"/>
              </a:ext>
            </a:extLst>
          </p:cNvPr>
          <p:cNvSpPr txBox="1"/>
          <p:nvPr/>
        </p:nvSpPr>
        <p:spPr>
          <a:xfrm>
            <a:off x="2132437" y="3739589"/>
            <a:ext cx="9253028" cy="1569660"/>
          </a:xfrm>
          <a:prstGeom prst="rect">
            <a:avLst/>
          </a:prstGeom>
          <a:noFill/>
        </p:spPr>
        <p:txBody>
          <a:bodyPr wrap="square" rtlCol="0">
            <a:spAutoFit/>
          </a:bodyPr>
          <a:lstStyle/>
          <a:p>
            <a:r>
              <a:rPr kumimoji="1" lang="ja-JP" altLang="en-US" sz="9600" dirty="0">
                <a:solidFill>
                  <a:schemeClr val="tx1">
                    <a:lumMod val="75000"/>
                    <a:lumOff val="25000"/>
                  </a:schemeClr>
                </a:solidFill>
                <a:latin typeface="HGPｺﾞｼｯｸE" panose="020B0900000000000000" pitchFamily="50" charset="-128"/>
                <a:ea typeface="HGPｺﾞｼｯｸE" panose="020B0900000000000000" pitchFamily="50" charset="-128"/>
              </a:rPr>
              <a:t>実習症例０</a:t>
            </a:r>
          </a:p>
        </p:txBody>
      </p:sp>
      <p:sp>
        <p:nvSpPr>
          <p:cNvPr id="5" name="テキスト ボックス 4">
            <a:extLst>
              <a:ext uri="{FF2B5EF4-FFF2-40B4-BE49-F238E27FC236}">
                <a16:creationId xmlns:a16="http://schemas.microsoft.com/office/drawing/2014/main" id="{A053A8B4-CFF9-4680-855C-E6CBD5DDD924}"/>
              </a:ext>
            </a:extLst>
          </p:cNvPr>
          <p:cNvSpPr txBox="1"/>
          <p:nvPr/>
        </p:nvSpPr>
        <p:spPr>
          <a:xfrm>
            <a:off x="3831692" y="6004806"/>
            <a:ext cx="3888432" cy="1446550"/>
          </a:xfrm>
          <a:prstGeom prst="rect">
            <a:avLst/>
          </a:prstGeom>
          <a:noFill/>
        </p:spPr>
        <p:txBody>
          <a:bodyPr wrap="square" rtlCol="0">
            <a:spAutoFit/>
          </a:bodyPr>
          <a:lstStyle/>
          <a:p>
            <a:pPr algn="ctr"/>
            <a:r>
              <a:rPr kumimoji="1" lang="ja-JP" altLang="en-US" sz="4400" dirty="0">
                <a:solidFill>
                  <a:schemeClr val="tx1">
                    <a:lumMod val="75000"/>
                    <a:lumOff val="25000"/>
                  </a:schemeClr>
                </a:solidFill>
                <a:latin typeface="HGPｺﾞｼｯｸE" panose="020B0900000000000000" pitchFamily="50" charset="-128"/>
                <a:ea typeface="HGPｺﾞｼｯｸE" panose="020B0900000000000000" pitchFamily="50" charset="-128"/>
              </a:rPr>
              <a:t>機器分析</a:t>
            </a:r>
            <a:endParaRPr kumimoji="1" lang="en-US" altLang="ja-JP" sz="44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pPr algn="ctr"/>
            <a:r>
              <a:rPr kumimoji="1" lang="ja-JP" altLang="en-US" sz="4400" dirty="0">
                <a:solidFill>
                  <a:schemeClr val="tx1">
                    <a:lumMod val="75000"/>
                    <a:lumOff val="25000"/>
                  </a:schemeClr>
                </a:solidFill>
                <a:latin typeface="HGPｺﾞｼｯｸE" panose="020B0900000000000000" pitchFamily="50" charset="-128"/>
                <a:ea typeface="HGPｺﾞｼｯｸE" panose="020B0900000000000000" pitchFamily="50" charset="-128"/>
              </a:rPr>
              <a:t>解説プレゼン</a:t>
            </a:r>
          </a:p>
        </p:txBody>
      </p:sp>
      <p:sp>
        <p:nvSpPr>
          <p:cNvPr id="6" name="テキスト ボックス 5">
            <a:extLst>
              <a:ext uri="{FF2B5EF4-FFF2-40B4-BE49-F238E27FC236}">
                <a16:creationId xmlns:a16="http://schemas.microsoft.com/office/drawing/2014/main" id="{BD149AA8-7F28-4EDF-A048-E088778B9F87}"/>
              </a:ext>
            </a:extLst>
          </p:cNvPr>
          <p:cNvSpPr txBox="1"/>
          <p:nvPr/>
        </p:nvSpPr>
        <p:spPr>
          <a:xfrm>
            <a:off x="5595888" y="8088811"/>
            <a:ext cx="7308812" cy="1200329"/>
          </a:xfrm>
          <a:prstGeom prst="rect">
            <a:avLst/>
          </a:prstGeom>
          <a:noFill/>
        </p:spPr>
        <p:txBody>
          <a:bodyPr wrap="square" rtlCol="0">
            <a:spAutoFit/>
          </a:bodyPr>
          <a:lstStyle/>
          <a:p>
            <a:pPr algn="r"/>
            <a:r>
              <a:rPr kumimoji="1" lang="ja-JP" altLang="en-US" sz="3600" dirty="0">
                <a:solidFill>
                  <a:schemeClr val="tx1">
                    <a:lumMod val="75000"/>
                    <a:lumOff val="25000"/>
                  </a:schemeClr>
                </a:solidFill>
                <a:latin typeface="HGPｺﾞｼｯｸE" panose="020B0900000000000000" pitchFamily="50" charset="-128"/>
                <a:ea typeface="HGPｺﾞｼｯｸE" panose="020B0900000000000000" pitchFamily="50" charset="-128"/>
              </a:rPr>
              <a:t>順天堂大学　法医学講座　松川岳久</a:t>
            </a:r>
            <a:endParaRPr kumimoji="1" lang="en-US" altLang="ja-JP" sz="36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pPr algn="r"/>
            <a:r>
              <a:rPr lang="ja-JP" altLang="en-US" sz="3600" dirty="0">
                <a:solidFill>
                  <a:schemeClr val="tx1">
                    <a:lumMod val="75000"/>
                    <a:lumOff val="25000"/>
                  </a:schemeClr>
                </a:solidFill>
                <a:latin typeface="HGPｺﾞｼｯｸE" panose="020B0900000000000000" pitchFamily="50" charset="-128"/>
                <a:ea typeface="HGPｺﾞｼｯｸE" panose="020B0900000000000000" pitchFamily="50" charset="-128"/>
              </a:rPr>
              <a:t>（禁複製）</a:t>
            </a:r>
            <a:endParaRPr kumimoji="1" lang="ja-JP" altLang="en-US" sz="36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pic>
        <p:nvPicPr>
          <p:cNvPr id="10" name="図 9">
            <a:extLst>
              <a:ext uri="{FF2B5EF4-FFF2-40B4-BE49-F238E27FC236}">
                <a16:creationId xmlns:a16="http://schemas.microsoft.com/office/drawing/2014/main" id="{FDB078CF-3AB0-4E44-AF9F-1177EF2DFE1C}"/>
              </a:ext>
            </a:extLst>
          </p:cNvPr>
          <p:cNvPicPr>
            <a:picLocks noChangeAspect="1"/>
          </p:cNvPicPr>
          <p:nvPr/>
        </p:nvPicPr>
        <p:blipFill>
          <a:blip r:embed="rId3"/>
          <a:stretch>
            <a:fillRect/>
          </a:stretch>
        </p:blipFill>
        <p:spPr>
          <a:xfrm>
            <a:off x="9238837" y="3296816"/>
            <a:ext cx="3739326" cy="396172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テキスト ボックス 9">
            <a:extLst>
              <a:ext uri="{FF2B5EF4-FFF2-40B4-BE49-F238E27FC236}">
                <a16:creationId xmlns:a16="http://schemas.microsoft.com/office/drawing/2014/main" id="{50D7A14E-CD2F-419E-82B7-2E9DC222C57E}"/>
              </a:ext>
            </a:extLst>
          </p:cNvPr>
          <p:cNvSpPr txBox="1"/>
          <p:nvPr/>
        </p:nvSpPr>
        <p:spPr>
          <a:xfrm>
            <a:off x="0" y="846313"/>
            <a:ext cx="13208000" cy="7980070"/>
          </a:xfrm>
          <a:prstGeom prst="rect">
            <a:avLst/>
          </a:prstGeom>
          <a:noFill/>
        </p:spPr>
        <p:txBody>
          <a:bodyPr wrap="square">
            <a:spAutoFit/>
          </a:bodyPr>
          <a:lstStyle/>
          <a:p>
            <a:pPr algn="just"/>
            <a:r>
              <a:rPr lang="ja-JP" altLang="en-US" sz="2800" dirty="0"/>
              <a:t>実習症例</a:t>
            </a:r>
            <a:r>
              <a:rPr lang="en-US" altLang="ja-JP" sz="2800" dirty="0"/>
              <a:t>0</a:t>
            </a:r>
          </a:p>
          <a:p>
            <a:pPr algn="just"/>
            <a:r>
              <a:rPr lang="ja-JP" altLang="en-US" sz="2800" dirty="0"/>
              <a:t>　死亡者：１９歳の男性</a:t>
            </a:r>
          </a:p>
          <a:p>
            <a:pPr algn="just">
              <a:lnSpc>
                <a:spcPct val="150000"/>
              </a:lnSpc>
            </a:pPr>
            <a:r>
              <a:rPr lang="ja-JP" altLang="en-US" sz="2800" dirty="0"/>
              <a:t>　自宅風呂場で倒れているのを家人が発見し救急車を要請した。救急隊到着時心肺停止状態とのことで救急搬送依頼があった。病着時救急隊から、「救急隊現着時、風呂場は中から施錠されており、すぐに入れなかった。救急隊員が小窓から観察した際には患者の呼吸が確認されたが、鍵を壊して風呂場に入り倒れている患者を収容した際には心肺停止であった。また、</a:t>
            </a:r>
            <a:r>
              <a:rPr lang="ja-JP" altLang="en-US" sz="2800" dirty="0">
                <a:solidFill>
                  <a:srgbClr val="C00000"/>
                </a:solidFill>
              </a:rPr>
              <a:t>風呂場では異臭がした</a:t>
            </a:r>
            <a:r>
              <a:rPr lang="ja-JP" altLang="en-US" sz="2800" dirty="0"/>
              <a:t>。」と報告された。病院収容後心肺蘇生術を開始し、</a:t>
            </a:r>
            <a:r>
              <a:rPr lang="en-US" altLang="ja-JP" sz="2800" dirty="0"/>
              <a:t>5 </a:t>
            </a:r>
            <a:r>
              <a:rPr lang="ja-JP" altLang="en-US" sz="2800" dirty="0"/>
              <a:t>分後に自己心拍が再開した。搬送時に患者からは明らかな異臭はなかったが、治療開始後医師 </a:t>
            </a:r>
            <a:r>
              <a:rPr lang="en-US" altLang="ja-JP" sz="2800" dirty="0"/>
              <a:t>1</a:t>
            </a:r>
            <a:r>
              <a:rPr lang="ja-JP" altLang="en-US" sz="2800" dirty="0"/>
              <a:t>名が患者を覗き込んだ際に</a:t>
            </a:r>
            <a:r>
              <a:rPr lang="ja-JP" altLang="en-US" sz="2800" dirty="0">
                <a:solidFill>
                  <a:srgbClr val="C00000"/>
                </a:solidFill>
              </a:rPr>
              <a:t>「目がチカチカする」</a:t>
            </a:r>
            <a:r>
              <a:rPr lang="ja-JP" altLang="en-US" sz="2800" dirty="0"/>
              <a:t>という症状を訴えた（後日，搬送に携わった救急隊員にも目がチカチカするなどの症状が出ていたことを確認した）。治療中に消防局より追加の情報提供があり，「</a:t>
            </a:r>
            <a:r>
              <a:rPr lang="ja-JP" altLang="en-US" sz="2800" dirty="0">
                <a:solidFill>
                  <a:srgbClr val="C00000"/>
                </a:solidFill>
              </a:rPr>
              <a:t>風呂場で </a:t>
            </a:r>
            <a:r>
              <a:rPr lang="en-US" altLang="ja-JP" sz="2800" dirty="0">
                <a:solidFill>
                  <a:srgbClr val="C00000"/>
                </a:solidFill>
              </a:rPr>
              <a:t>5 </a:t>
            </a:r>
            <a:r>
              <a:rPr lang="ja-JP" altLang="en-US" sz="2800" dirty="0">
                <a:solidFill>
                  <a:srgbClr val="C00000"/>
                </a:solidFill>
              </a:rPr>
              <a:t>種類ほどのトイレ洗浄剤などが容器の中で混ぜられた痕跡がある</a:t>
            </a:r>
            <a:r>
              <a:rPr lang="ja-JP" altLang="en-US" sz="2800" dirty="0"/>
              <a:t>。よって，それらが異臭の原因と考えられる。」とのことであった。</a:t>
            </a:r>
          </a:p>
        </p:txBody>
      </p:sp>
      <p:sp>
        <p:nvSpPr>
          <p:cNvPr id="4" name="タイトル 3"/>
          <p:cNvSpPr>
            <a:spLocks noGrp="1"/>
          </p:cNvSpPr>
          <p:nvPr>
            <p:ph type="title"/>
          </p:nvPr>
        </p:nvSpPr>
        <p:spPr>
          <a:xfrm>
            <a:off x="159284" y="118560"/>
            <a:ext cx="6750750" cy="438237"/>
          </a:xfrm>
        </p:spPr>
        <p:txBody>
          <a:bodyPr/>
          <a:lstStyle/>
          <a:p>
            <a:r>
              <a:rPr lang="ja-JP" altLang="en-US" dirty="0">
                <a:latin typeface="HGS創英角ｺﾞｼｯｸUB" pitchFamily="50" charset="-128"/>
                <a:ea typeface="HGS創英角ｺﾞｼｯｸUB" pitchFamily="50" charset="-128"/>
              </a:rPr>
              <a:t>実習症例</a:t>
            </a:r>
            <a:r>
              <a:rPr lang="en-US" altLang="ja-JP" dirty="0">
                <a:latin typeface="HGS創英角ｺﾞｼｯｸUB" pitchFamily="50" charset="-128"/>
                <a:ea typeface="HGS創英角ｺﾞｼｯｸUB" pitchFamily="50" charset="-128"/>
              </a:rPr>
              <a:t>0</a:t>
            </a:r>
            <a:endParaRPr lang="ja-JP" altLang="en-US" dirty="0">
              <a:latin typeface="HGS創英角ｺﾞｼｯｸUB" pitchFamily="50" charset="-128"/>
              <a:ea typeface="HGS創英角ｺﾞｼｯｸUB" pitchFamily="50" charset="-128"/>
            </a:endParaRPr>
          </a:p>
        </p:txBody>
      </p:sp>
      <p:sp>
        <p:nvSpPr>
          <p:cNvPr id="9" name="テキスト ボックス 8">
            <a:extLst>
              <a:ext uri="{FF2B5EF4-FFF2-40B4-BE49-F238E27FC236}">
                <a16:creationId xmlns:a16="http://schemas.microsoft.com/office/drawing/2014/main" id="{2665F782-5CEA-41F2-A76B-D13469CF0EB6}"/>
              </a:ext>
            </a:extLst>
          </p:cNvPr>
          <p:cNvSpPr txBox="1"/>
          <p:nvPr/>
        </p:nvSpPr>
        <p:spPr>
          <a:xfrm>
            <a:off x="7180064" y="9512331"/>
            <a:ext cx="5967403" cy="400110"/>
          </a:xfrm>
          <a:prstGeom prst="rect">
            <a:avLst/>
          </a:prstGeom>
          <a:noFill/>
        </p:spPr>
        <p:txBody>
          <a:bodyPr wrap="square">
            <a:spAutoFit/>
          </a:bodyPr>
          <a:lstStyle/>
          <a:p>
            <a:r>
              <a:rPr lang="ja-JP" altLang="en-US" sz="2000" dirty="0">
                <a:solidFill>
                  <a:schemeClr val="bg1"/>
                </a:solidFill>
                <a:latin typeface="Arial" panose="020B0604020202020204" pitchFamily="34" charset="0"/>
              </a:rPr>
              <a:t>古谷良輔ほか</a:t>
            </a:r>
            <a:r>
              <a:rPr lang="en-US" altLang="ja-JP" sz="2000" dirty="0">
                <a:solidFill>
                  <a:schemeClr val="bg1"/>
                </a:solidFill>
                <a:latin typeface="Arial" panose="020B0604020202020204" pitchFamily="34" charset="0"/>
              </a:rPr>
              <a:t>. </a:t>
            </a:r>
            <a:r>
              <a:rPr lang="ja-JP" altLang="en-US" sz="2000" i="1" dirty="0">
                <a:solidFill>
                  <a:schemeClr val="bg1"/>
                </a:solidFill>
                <a:latin typeface="Arial" panose="020B0604020202020204" pitchFamily="34" charset="0"/>
              </a:rPr>
              <a:t>日本救急医学会雑誌</a:t>
            </a:r>
            <a:r>
              <a:rPr lang="en-US" altLang="ja-JP" sz="2000" dirty="0">
                <a:solidFill>
                  <a:schemeClr val="bg1"/>
                </a:solidFill>
                <a:latin typeface="Arial" panose="020B0604020202020204" pitchFamily="34" charset="0"/>
              </a:rPr>
              <a:t>, </a:t>
            </a:r>
            <a:r>
              <a:rPr lang="en-US" altLang="ja-JP" sz="2000" i="1" dirty="0">
                <a:solidFill>
                  <a:schemeClr val="bg1"/>
                </a:solidFill>
                <a:latin typeface="Arial" panose="020B0604020202020204" pitchFamily="34" charset="0"/>
              </a:rPr>
              <a:t>19</a:t>
            </a:r>
            <a:r>
              <a:rPr lang="en-US" altLang="ja-JP" sz="2000" dirty="0">
                <a:solidFill>
                  <a:schemeClr val="bg1"/>
                </a:solidFill>
                <a:latin typeface="Arial" panose="020B0604020202020204" pitchFamily="34" charset="0"/>
              </a:rPr>
              <a:t>(2), 106-112.</a:t>
            </a:r>
            <a:endParaRPr lang="ja-JP" altLang="en-US" sz="2000" dirty="0">
              <a:solidFill>
                <a:schemeClr val="bg1"/>
              </a:solidFill>
            </a:endParaRPr>
          </a:p>
        </p:txBody>
      </p:sp>
    </p:spTree>
    <p:extLst>
      <p:ext uri="{BB962C8B-B14F-4D97-AF65-F5344CB8AC3E}">
        <p14:creationId xmlns:p14="http://schemas.microsoft.com/office/powerpoint/2010/main" val="8272603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7728E1-5F0A-46B0-AE86-BF15C3540E58}"/>
              </a:ext>
            </a:extLst>
          </p:cNvPr>
          <p:cNvSpPr>
            <a:spLocks noGrp="1"/>
          </p:cNvSpPr>
          <p:nvPr>
            <p:ph type="title"/>
          </p:nvPr>
        </p:nvSpPr>
        <p:spPr/>
        <p:txBody>
          <a:bodyPr/>
          <a:lstStyle/>
          <a:p>
            <a:r>
              <a:rPr kumimoji="1" lang="ja-JP" altLang="en-US" dirty="0"/>
              <a:t>実習症例</a:t>
            </a:r>
            <a:r>
              <a:rPr kumimoji="1" lang="en-US" altLang="ja-JP" dirty="0"/>
              <a:t>0</a:t>
            </a:r>
            <a:endParaRPr kumimoji="1" lang="ja-JP" altLang="en-US" dirty="0"/>
          </a:p>
        </p:txBody>
      </p:sp>
      <p:sp>
        <p:nvSpPr>
          <p:cNvPr id="3" name="コンテンツ プレースホルダー 2">
            <a:extLst>
              <a:ext uri="{FF2B5EF4-FFF2-40B4-BE49-F238E27FC236}">
                <a16:creationId xmlns:a16="http://schemas.microsoft.com/office/drawing/2014/main" id="{B1E48D11-17A2-4991-BC11-DC678876107F}"/>
              </a:ext>
            </a:extLst>
          </p:cNvPr>
          <p:cNvSpPr>
            <a:spLocks noGrp="1"/>
          </p:cNvSpPr>
          <p:nvPr>
            <p:ph idx="1"/>
          </p:nvPr>
        </p:nvSpPr>
        <p:spPr>
          <a:xfrm>
            <a:off x="363306" y="1208584"/>
            <a:ext cx="12481387" cy="1100898"/>
          </a:xfrm>
        </p:spPr>
        <p:txBody>
          <a:bodyPr/>
          <a:lstStyle/>
          <a:p>
            <a:pPr>
              <a:lnSpc>
                <a:spcPct val="150000"/>
              </a:lnSpc>
            </a:pPr>
            <a:r>
              <a:rPr lang="ja-JP" altLang="en-US" sz="4400" dirty="0">
                <a:solidFill>
                  <a:srgbClr val="C00000"/>
                </a:solidFill>
              </a:rPr>
              <a:t>風呂場で </a:t>
            </a:r>
            <a:r>
              <a:rPr lang="en-US" altLang="ja-JP" sz="4400" dirty="0">
                <a:solidFill>
                  <a:srgbClr val="C00000"/>
                </a:solidFill>
              </a:rPr>
              <a:t>5 </a:t>
            </a:r>
            <a:r>
              <a:rPr lang="ja-JP" altLang="en-US" sz="4400" dirty="0">
                <a:solidFill>
                  <a:srgbClr val="C00000"/>
                </a:solidFill>
              </a:rPr>
              <a:t>種類ほどのトイレ洗浄剤などが容器の中で混ぜられた痕跡がある</a:t>
            </a:r>
            <a:endParaRPr kumimoji="1" lang="ja-JP" altLang="en-US" sz="4400" dirty="0"/>
          </a:p>
        </p:txBody>
      </p:sp>
      <p:sp>
        <p:nvSpPr>
          <p:cNvPr id="4" name="矢印: 下 3">
            <a:extLst>
              <a:ext uri="{FF2B5EF4-FFF2-40B4-BE49-F238E27FC236}">
                <a16:creationId xmlns:a16="http://schemas.microsoft.com/office/drawing/2014/main" id="{0E73B1AA-6CB4-4813-BD70-8D963D841E10}"/>
              </a:ext>
            </a:extLst>
          </p:cNvPr>
          <p:cNvSpPr/>
          <p:nvPr/>
        </p:nvSpPr>
        <p:spPr>
          <a:xfrm>
            <a:off x="5991932" y="4448944"/>
            <a:ext cx="1080120" cy="1008112"/>
          </a:xfrm>
          <a:prstGeom prst="downArrow">
            <a:avLst/>
          </a:prstGeom>
          <a:no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
        <p:nvSpPr>
          <p:cNvPr id="6" name="テキスト ボックス 5">
            <a:extLst>
              <a:ext uri="{FF2B5EF4-FFF2-40B4-BE49-F238E27FC236}">
                <a16:creationId xmlns:a16="http://schemas.microsoft.com/office/drawing/2014/main" id="{207C5DC8-E827-4561-90EC-5234BD0FDEC3}"/>
              </a:ext>
            </a:extLst>
          </p:cNvPr>
          <p:cNvSpPr txBox="1"/>
          <p:nvPr/>
        </p:nvSpPr>
        <p:spPr>
          <a:xfrm>
            <a:off x="3147616" y="6195464"/>
            <a:ext cx="9865096" cy="1015663"/>
          </a:xfrm>
          <a:prstGeom prst="rect">
            <a:avLst/>
          </a:prstGeom>
          <a:noFill/>
        </p:spPr>
        <p:txBody>
          <a:bodyPr wrap="square" rtlCol="0">
            <a:spAutoFit/>
          </a:bodyPr>
          <a:lstStyle/>
          <a:p>
            <a:r>
              <a:rPr kumimoji="1" lang="ja-JP" altLang="en-US" sz="6000" dirty="0">
                <a:solidFill>
                  <a:schemeClr val="tx1">
                    <a:lumMod val="75000"/>
                    <a:lumOff val="25000"/>
                  </a:schemeClr>
                </a:solidFill>
                <a:latin typeface="HGPｺﾞｼｯｸE" panose="020B0900000000000000" pitchFamily="50" charset="-128"/>
                <a:ea typeface="HGPｺﾞｼｯｸE" panose="020B0900000000000000" pitchFamily="50" charset="-128"/>
              </a:rPr>
              <a:t>硫化水素による中毒？</a:t>
            </a:r>
          </a:p>
        </p:txBody>
      </p:sp>
      <p:sp>
        <p:nvSpPr>
          <p:cNvPr id="7" name="テキスト ボックス 6">
            <a:extLst>
              <a:ext uri="{FF2B5EF4-FFF2-40B4-BE49-F238E27FC236}">
                <a16:creationId xmlns:a16="http://schemas.microsoft.com/office/drawing/2014/main" id="{683C5C60-2ED8-4FEE-9316-42B688C6B502}"/>
              </a:ext>
            </a:extLst>
          </p:cNvPr>
          <p:cNvSpPr txBox="1"/>
          <p:nvPr/>
        </p:nvSpPr>
        <p:spPr>
          <a:xfrm>
            <a:off x="4587776" y="8371221"/>
            <a:ext cx="5256584" cy="707886"/>
          </a:xfrm>
          <a:prstGeom prst="rect">
            <a:avLst/>
          </a:prstGeom>
          <a:noFill/>
        </p:spPr>
        <p:txBody>
          <a:bodyPr wrap="square" rtlCol="0">
            <a:spAutoFit/>
          </a:bodyPr>
          <a:lstStyle/>
          <a:p>
            <a:r>
              <a:rPr kumimoji="1" lang="ja-JP" altLang="en-US" sz="4000" dirty="0">
                <a:solidFill>
                  <a:schemeClr val="tx1">
                    <a:lumMod val="75000"/>
                    <a:lumOff val="25000"/>
                  </a:schemeClr>
                </a:solidFill>
                <a:latin typeface="HGPｺﾞｼｯｸE" panose="020B0900000000000000" pitchFamily="50" charset="-128"/>
                <a:ea typeface="HGPｺﾞｼｯｸE" panose="020B0900000000000000" pitchFamily="50" charset="-128"/>
              </a:rPr>
              <a:t>簡易検査の値は？</a:t>
            </a:r>
          </a:p>
        </p:txBody>
      </p:sp>
    </p:spTree>
    <p:extLst>
      <p:ext uri="{BB962C8B-B14F-4D97-AF65-F5344CB8AC3E}">
        <p14:creationId xmlns:p14="http://schemas.microsoft.com/office/powerpoint/2010/main" val="41457373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図 21">
            <a:extLst>
              <a:ext uri="{FF2B5EF4-FFF2-40B4-BE49-F238E27FC236}">
                <a16:creationId xmlns:a16="http://schemas.microsoft.com/office/drawing/2014/main" id="{0B031D8E-8ECD-4444-98E9-D5EA3BCECAE3}"/>
              </a:ext>
            </a:extLst>
          </p:cNvPr>
          <p:cNvPicPr>
            <a:picLocks noChangeAspect="1"/>
          </p:cNvPicPr>
          <p:nvPr/>
        </p:nvPicPr>
        <p:blipFill>
          <a:blip r:embed="rId2"/>
          <a:stretch>
            <a:fillRect/>
          </a:stretch>
        </p:blipFill>
        <p:spPr>
          <a:xfrm>
            <a:off x="249083" y="5764594"/>
            <a:ext cx="3042549" cy="2947716"/>
          </a:xfrm>
          <a:prstGeom prst="rect">
            <a:avLst/>
          </a:prstGeom>
        </p:spPr>
      </p:pic>
      <p:sp>
        <p:nvSpPr>
          <p:cNvPr id="2" name="タイトル 1">
            <a:extLst>
              <a:ext uri="{FF2B5EF4-FFF2-40B4-BE49-F238E27FC236}">
                <a16:creationId xmlns:a16="http://schemas.microsoft.com/office/drawing/2014/main" id="{9B7728E1-5F0A-46B0-AE86-BF15C3540E58}"/>
              </a:ext>
            </a:extLst>
          </p:cNvPr>
          <p:cNvSpPr>
            <a:spLocks noGrp="1"/>
          </p:cNvSpPr>
          <p:nvPr>
            <p:ph type="title"/>
          </p:nvPr>
        </p:nvSpPr>
        <p:spPr/>
        <p:txBody>
          <a:bodyPr/>
          <a:lstStyle/>
          <a:p>
            <a:endParaRPr kumimoji="1" lang="ja-JP" altLang="en-US"/>
          </a:p>
        </p:txBody>
      </p:sp>
      <p:sp>
        <p:nvSpPr>
          <p:cNvPr id="6" name="テキスト ボックス 5">
            <a:extLst>
              <a:ext uri="{FF2B5EF4-FFF2-40B4-BE49-F238E27FC236}">
                <a16:creationId xmlns:a16="http://schemas.microsoft.com/office/drawing/2014/main" id="{0B8B529B-E869-490C-B693-DF0DB7594BAE}"/>
              </a:ext>
            </a:extLst>
          </p:cNvPr>
          <p:cNvSpPr txBox="1"/>
          <p:nvPr/>
        </p:nvSpPr>
        <p:spPr>
          <a:xfrm>
            <a:off x="339304" y="1316596"/>
            <a:ext cx="11449272" cy="3046988"/>
          </a:xfrm>
          <a:prstGeom prst="rect">
            <a:avLst/>
          </a:prstGeom>
          <a:noFill/>
        </p:spPr>
        <p:txBody>
          <a:bodyPr wrap="square" rtlCol="0">
            <a:spAutoFit/>
          </a:bodyPr>
          <a:lstStyle/>
          <a:p>
            <a:r>
              <a:rPr kumimoji="1" lang="ja-JP" altLang="en-US" sz="4800" dirty="0">
                <a:solidFill>
                  <a:schemeClr val="tx1">
                    <a:lumMod val="75000"/>
                    <a:lumOff val="25000"/>
                  </a:schemeClr>
                </a:solidFill>
                <a:latin typeface="HGPｺﾞｼｯｸE" panose="020B0900000000000000" pitchFamily="50" charset="-128"/>
                <a:ea typeface="HGPｺﾞｼｯｸE" panose="020B0900000000000000" pitchFamily="50" charset="-128"/>
              </a:rPr>
              <a:t>血中硫化水素の測定</a:t>
            </a:r>
            <a:endParaRPr kumimoji="1" lang="en-US" altLang="ja-JP" sz="48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endParaRPr lang="en-US" altLang="ja-JP" sz="48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r>
              <a:rPr kumimoji="1" lang="ja-JP" altLang="en-US" sz="4800" dirty="0">
                <a:solidFill>
                  <a:schemeClr val="tx1">
                    <a:lumMod val="75000"/>
                    <a:lumOff val="25000"/>
                  </a:schemeClr>
                </a:solidFill>
                <a:latin typeface="HGPｺﾞｼｯｸE" panose="020B0900000000000000" pitchFamily="50" charset="-128"/>
                <a:ea typeface="HGPｺﾞｼｯｸE" panose="020B0900000000000000" pitchFamily="50" charset="-128"/>
              </a:rPr>
              <a:t>　ガスクロマトグラフィー法</a:t>
            </a:r>
            <a:endParaRPr kumimoji="1" lang="en-US" altLang="ja-JP" sz="48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r>
              <a:rPr kumimoji="1" lang="ja-JP" altLang="en-US" sz="4800" dirty="0">
                <a:solidFill>
                  <a:schemeClr val="tx1">
                    <a:lumMod val="75000"/>
                    <a:lumOff val="25000"/>
                  </a:schemeClr>
                </a:solidFill>
                <a:latin typeface="HGPｺﾞｼｯｸE" panose="020B0900000000000000" pitchFamily="50" charset="-128"/>
                <a:ea typeface="HGPｺﾞｼｯｸE" panose="020B0900000000000000" pitchFamily="50" charset="-128"/>
              </a:rPr>
              <a:t>　</a:t>
            </a:r>
            <a:r>
              <a:rPr kumimoji="1" lang="ja-JP" altLang="en-US" sz="4800" dirty="0">
                <a:solidFill>
                  <a:srgbClr val="C00000"/>
                </a:solidFill>
                <a:latin typeface="HGPｺﾞｼｯｸE" panose="020B0900000000000000" pitchFamily="50" charset="-128"/>
                <a:ea typeface="HGPｺﾞｼｯｸE" panose="020B0900000000000000" pitchFamily="50" charset="-128"/>
              </a:rPr>
              <a:t>ガスクロマトグラフィー質量分析法</a:t>
            </a:r>
          </a:p>
        </p:txBody>
      </p:sp>
      <p:sp>
        <p:nvSpPr>
          <p:cNvPr id="7" name="テキスト ボックス 6">
            <a:extLst>
              <a:ext uri="{FF2B5EF4-FFF2-40B4-BE49-F238E27FC236}">
                <a16:creationId xmlns:a16="http://schemas.microsoft.com/office/drawing/2014/main" id="{98FAC987-DCF9-4165-A6FE-3A0E6883AB80}"/>
              </a:ext>
            </a:extLst>
          </p:cNvPr>
          <p:cNvSpPr txBox="1"/>
          <p:nvPr/>
        </p:nvSpPr>
        <p:spPr>
          <a:xfrm>
            <a:off x="1527436" y="4684680"/>
            <a:ext cx="9937104" cy="707886"/>
          </a:xfrm>
          <a:prstGeom prst="rect">
            <a:avLst/>
          </a:prstGeom>
          <a:noFill/>
        </p:spPr>
        <p:txBody>
          <a:bodyPr wrap="square" rtlCol="0">
            <a:spAutoFit/>
          </a:bodyPr>
          <a:lstStyle/>
          <a:p>
            <a:r>
              <a:rPr kumimoji="1" lang="en-US" altLang="ja-JP" sz="4000" dirty="0">
                <a:solidFill>
                  <a:schemeClr val="accent2">
                    <a:lumMod val="60000"/>
                    <a:lumOff val="40000"/>
                  </a:schemeClr>
                </a:solidFill>
                <a:latin typeface="HGPｺﾞｼｯｸE" panose="020B0900000000000000" pitchFamily="50" charset="-128"/>
                <a:ea typeface="HGPｺﾞｼｯｸE" panose="020B0900000000000000" pitchFamily="50" charset="-128"/>
              </a:rPr>
              <a:t>H</a:t>
            </a:r>
            <a:r>
              <a:rPr kumimoji="1" lang="en-US" altLang="ja-JP" sz="4000" baseline="-25000" dirty="0">
                <a:solidFill>
                  <a:schemeClr val="accent2">
                    <a:lumMod val="60000"/>
                    <a:lumOff val="40000"/>
                  </a:schemeClr>
                </a:solidFill>
                <a:latin typeface="HGPｺﾞｼｯｸE" panose="020B0900000000000000" pitchFamily="50" charset="-128"/>
                <a:ea typeface="HGPｺﾞｼｯｸE" panose="020B0900000000000000" pitchFamily="50" charset="-128"/>
              </a:rPr>
              <a:t>2</a:t>
            </a:r>
            <a:r>
              <a:rPr kumimoji="1" lang="en-US" altLang="ja-JP" sz="4000" dirty="0">
                <a:solidFill>
                  <a:schemeClr val="accent2">
                    <a:lumMod val="60000"/>
                    <a:lumOff val="40000"/>
                  </a:schemeClr>
                </a:solidFill>
                <a:latin typeface="HGPｺﾞｼｯｸE" panose="020B0900000000000000" pitchFamily="50" charset="-128"/>
                <a:ea typeface="HGPｺﾞｼｯｸE" panose="020B0900000000000000" pitchFamily="50" charset="-128"/>
              </a:rPr>
              <a:t>S</a:t>
            </a:r>
            <a:r>
              <a:rPr kumimoji="1" lang="ja-JP" altLang="en-US" sz="4000" dirty="0">
                <a:solidFill>
                  <a:schemeClr val="accent2">
                    <a:lumMod val="60000"/>
                    <a:lumOff val="40000"/>
                  </a:schemeClr>
                </a:solidFill>
                <a:latin typeface="HGPｺﾞｼｯｸE" panose="020B0900000000000000" pitchFamily="50" charset="-128"/>
                <a:ea typeface="HGPｺﾞｼｯｸE" panose="020B0900000000000000" pitchFamily="50" charset="-128"/>
              </a:rPr>
              <a:t>そのものを測定することは難しい</a:t>
            </a:r>
            <a:r>
              <a:rPr kumimoji="1" lang="ja-JP" altLang="en-US" sz="4000" dirty="0">
                <a:solidFill>
                  <a:schemeClr val="tx1">
                    <a:lumMod val="75000"/>
                    <a:lumOff val="25000"/>
                  </a:schemeClr>
                </a:solidFill>
                <a:latin typeface="HGPｺﾞｼｯｸE" panose="020B0900000000000000" pitchFamily="50" charset="-128"/>
                <a:ea typeface="HGPｺﾞｼｯｸE" panose="020B0900000000000000" pitchFamily="50" charset="-128"/>
              </a:rPr>
              <a:t>です</a:t>
            </a:r>
          </a:p>
        </p:txBody>
      </p:sp>
      <p:sp>
        <p:nvSpPr>
          <p:cNvPr id="8" name="テキスト ボックス 7">
            <a:extLst>
              <a:ext uri="{FF2B5EF4-FFF2-40B4-BE49-F238E27FC236}">
                <a16:creationId xmlns:a16="http://schemas.microsoft.com/office/drawing/2014/main" id="{2A7FE18C-2000-4F0E-94D0-38770430AF62}"/>
              </a:ext>
            </a:extLst>
          </p:cNvPr>
          <p:cNvSpPr txBox="1"/>
          <p:nvPr/>
        </p:nvSpPr>
        <p:spPr>
          <a:xfrm>
            <a:off x="9586859" y="6422748"/>
            <a:ext cx="3755361" cy="2062103"/>
          </a:xfrm>
          <a:prstGeom prst="rect">
            <a:avLst/>
          </a:prstGeom>
          <a:noFill/>
        </p:spPr>
        <p:txBody>
          <a:bodyPr wrap="square" rtlCol="0">
            <a:spAutoFit/>
          </a:bodyPr>
          <a:lstStyle/>
          <a:p>
            <a:r>
              <a:rPr kumimoji="1"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測定しやすい形に</a:t>
            </a:r>
            <a:endParaRPr kumimoji="1" lang="en-US" altLang="ja-JP" sz="32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r>
              <a:rPr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誘導する</a:t>
            </a:r>
            <a:endParaRPr lang="en-US" altLang="ja-JP" sz="32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endParaRPr kumimoji="1" lang="en-US" altLang="ja-JP" sz="32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endParaRPr kumimoji="1"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
        <p:nvSpPr>
          <p:cNvPr id="9" name="テキスト ボックス 8">
            <a:extLst>
              <a:ext uri="{FF2B5EF4-FFF2-40B4-BE49-F238E27FC236}">
                <a16:creationId xmlns:a16="http://schemas.microsoft.com/office/drawing/2014/main" id="{84D9565C-0C52-4B06-8466-E3BD8C844793}"/>
              </a:ext>
            </a:extLst>
          </p:cNvPr>
          <p:cNvSpPr txBox="1"/>
          <p:nvPr/>
        </p:nvSpPr>
        <p:spPr>
          <a:xfrm>
            <a:off x="9203720" y="7757530"/>
            <a:ext cx="4320480" cy="1107996"/>
          </a:xfrm>
          <a:prstGeom prst="rect">
            <a:avLst/>
          </a:prstGeom>
          <a:noFill/>
        </p:spPr>
        <p:txBody>
          <a:bodyPr wrap="square" rtlCol="0">
            <a:spAutoFit/>
          </a:bodyPr>
          <a:lstStyle/>
          <a:p>
            <a:r>
              <a:rPr kumimoji="1" lang="ja-JP" altLang="en-US" sz="6600" dirty="0">
                <a:solidFill>
                  <a:srgbClr val="C00000"/>
                </a:solidFill>
                <a:latin typeface="HGPｺﾞｼｯｸE" panose="020B0900000000000000" pitchFamily="50" charset="-128"/>
                <a:ea typeface="HGPｺﾞｼｯｸE" panose="020B0900000000000000" pitchFamily="50" charset="-128"/>
              </a:rPr>
              <a:t>誘導体化</a:t>
            </a:r>
          </a:p>
        </p:txBody>
      </p:sp>
      <p:sp>
        <p:nvSpPr>
          <p:cNvPr id="10" name="テキスト ボックス 9">
            <a:extLst>
              <a:ext uri="{FF2B5EF4-FFF2-40B4-BE49-F238E27FC236}">
                <a16:creationId xmlns:a16="http://schemas.microsoft.com/office/drawing/2014/main" id="{F24EE1D8-8EB0-4A15-ABDA-83704F71A37D}"/>
              </a:ext>
            </a:extLst>
          </p:cNvPr>
          <p:cNvSpPr txBox="1"/>
          <p:nvPr/>
        </p:nvSpPr>
        <p:spPr>
          <a:xfrm>
            <a:off x="-14514" y="9071389"/>
            <a:ext cx="5616624" cy="369332"/>
          </a:xfrm>
          <a:prstGeom prst="rect">
            <a:avLst/>
          </a:prstGeom>
          <a:noFill/>
        </p:spPr>
        <p:txBody>
          <a:bodyPr wrap="square" rtlCol="0">
            <a:spAutoFit/>
          </a:bodyPr>
          <a:lstStyle/>
          <a:p>
            <a:r>
              <a:rPr kumimoji="1" lang="ja-JP" altLang="en-US" dirty="0">
                <a:latin typeface="HGPｺﾞｼｯｸE" panose="020B0900000000000000" pitchFamily="50" charset="-128"/>
                <a:ea typeface="HGPｺﾞｼｯｸE" panose="020B0900000000000000" pitchFamily="50" charset="-128"/>
              </a:rPr>
              <a:t>ペンタフルオロベンジルブロマイド</a:t>
            </a:r>
          </a:p>
        </p:txBody>
      </p:sp>
      <p:sp>
        <p:nvSpPr>
          <p:cNvPr id="11" name="テキスト ボックス 10">
            <a:extLst>
              <a:ext uri="{FF2B5EF4-FFF2-40B4-BE49-F238E27FC236}">
                <a16:creationId xmlns:a16="http://schemas.microsoft.com/office/drawing/2014/main" id="{944CFDB5-0BF8-466F-976F-B266EF9D0E36}"/>
              </a:ext>
            </a:extLst>
          </p:cNvPr>
          <p:cNvSpPr txBox="1"/>
          <p:nvPr/>
        </p:nvSpPr>
        <p:spPr>
          <a:xfrm>
            <a:off x="2990592" y="7172755"/>
            <a:ext cx="2094454" cy="584775"/>
          </a:xfrm>
          <a:prstGeom prst="rect">
            <a:avLst/>
          </a:prstGeom>
          <a:noFill/>
        </p:spPr>
        <p:txBody>
          <a:bodyPr wrap="square" rtlCol="0">
            <a:spAutoFit/>
          </a:bodyPr>
          <a:lstStyle/>
          <a:p>
            <a:r>
              <a:rPr kumimoji="1" lang="en-US" altLang="ja-JP" sz="3200" dirty="0">
                <a:solidFill>
                  <a:schemeClr val="tx1">
                    <a:lumMod val="75000"/>
                    <a:lumOff val="25000"/>
                  </a:schemeClr>
                </a:solidFill>
                <a:latin typeface="HGPｺﾞｼｯｸE" panose="020B0900000000000000" pitchFamily="50" charset="-128"/>
                <a:ea typeface="HGPｺﾞｼｯｸE" panose="020B0900000000000000" pitchFamily="50" charset="-128"/>
              </a:rPr>
              <a:t>H</a:t>
            </a:r>
            <a:r>
              <a:rPr kumimoji="1" lang="en-US" altLang="ja-JP" sz="3200" baseline="-25000" dirty="0">
                <a:solidFill>
                  <a:schemeClr val="tx1">
                    <a:lumMod val="75000"/>
                    <a:lumOff val="25000"/>
                  </a:schemeClr>
                </a:solidFill>
                <a:latin typeface="HGPｺﾞｼｯｸE" panose="020B0900000000000000" pitchFamily="50" charset="-128"/>
                <a:ea typeface="HGPｺﾞｼｯｸE" panose="020B0900000000000000" pitchFamily="50" charset="-128"/>
              </a:rPr>
              <a:t>2</a:t>
            </a:r>
            <a:r>
              <a:rPr kumimoji="1" lang="en-US" altLang="ja-JP" sz="3200" dirty="0">
                <a:solidFill>
                  <a:schemeClr val="bg2">
                    <a:lumMod val="50000"/>
                  </a:schemeClr>
                </a:solidFill>
                <a:latin typeface="HGPｺﾞｼｯｸE" panose="020B0900000000000000" pitchFamily="50" charset="-128"/>
                <a:ea typeface="HGPｺﾞｼｯｸE" panose="020B0900000000000000" pitchFamily="50" charset="-128"/>
              </a:rPr>
              <a:t>S</a:t>
            </a:r>
            <a:endParaRPr kumimoji="1" lang="ja-JP" altLang="en-US" sz="3200" dirty="0">
              <a:solidFill>
                <a:schemeClr val="bg2">
                  <a:lumMod val="50000"/>
                </a:schemeClr>
              </a:solidFill>
              <a:latin typeface="HGPｺﾞｼｯｸE" panose="020B0900000000000000" pitchFamily="50" charset="-128"/>
              <a:ea typeface="HGPｺﾞｼｯｸE" panose="020B0900000000000000" pitchFamily="50" charset="-128"/>
            </a:endParaRPr>
          </a:p>
        </p:txBody>
      </p:sp>
      <p:cxnSp>
        <p:nvCxnSpPr>
          <p:cNvPr id="14" name="直線矢印コネクタ 13">
            <a:extLst>
              <a:ext uri="{FF2B5EF4-FFF2-40B4-BE49-F238E27FC236}">
                <a16:creationId xmlns:a16="http://schemas.microsoft.com/office/drawing/2014/main" id="{1D2E7C3C-5A77-485D-A5D6-1EE2D4731733}"/>
              </a:ext>
            </a:extLst>
          </p:cNvPr>
          <p:cNvCxnSpPr>
            <a:cxnSpLocks/>
          </p:cNvCxnSpPr>
          <p:nvPr/>
        </p:nvCxnSpPr>
        <p:spPr>
          <a:xfrm>
            <a:off x="4199916" y="7479481"/>
            <a:ext cx="695173"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0" name="図 19">
            <a:extLst>
              <a:ext uri="{FF2B5EF4-FFF2-40B4-BE49-F238E27FC236}">
                <a16:creationId xmlns:a16="http://schemas.microsoft.com/office/drawing/2014/main" id="{EA587F8A-21A1-4232-9B30-D6DEB5A698BB}"/>
              </a:ext>
            </a:extLst>
          </p:cNvPr>
          <p:cNvPicPr>
            <a:picLocks noChangeAspect="1"/>
          </p:cNvPicPr>
          <p:nvPr/>
        </p:nvPicPr>
        <p:blipFill>
          <a:blip r:embed="rId3"/>
          <a:stretch>
            <a:fillRect/>
          </a:stretch>
        </p:blipFill>
        <p:spPr>
          <a:xfrm>
            <a:off x="5468185" y="6422748"/>
            <a:ext cx="3619165" cy="1970065"/>
          </a:xfrm>
          <a:prstGeom prst="rect">
            <a:avLst/>
          </a:prstGeom>
        </p:spPr>
      </p:pic>
    </p:spTree>
    <p:extLst>
      <p:ext uri="{BB962C8B-B14F-4D97-AF65-F5344CB8AC3E}">
        <p14:creationId xmlns:p14="http://schemas.microsoft.com/office/powerpoint/2010/main" val="35128717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GC-MS</a:t>
            </a:r>
            <a:r>
              <a:rPr lang="ja-JP" altLang="en-US" dirty="0"/>
              <a:t>によるスクリーニング</a:t>
            </a:r>
            <a:endParaRPr kumimoji="1" lang="ja-JP" altLang="en-US" dirty="0"/>
          </a:p>
        </p:txBody>
      </p:sp>
      <p:pic>
        <p:nvPicPr>
          <p:cNvPr id="4" name="コンテンツ プレースホルダー 3"/>
          <p:cNvPicPr>
            <a:picLocks noGrp="1" noChangeAspect="1"/>
          </p:cNvPicPr>
          <p:nvPr>
            <p:ph idx="1"/>
          </p:nvPr>
        </p:nvPicPr>
        <p:blipFill>
          <a:blip r:embed="rId2"/>
          <a:stretch>
            <a:fillRect/>
          </a:stretch>
        </p:blipFill>
        <p:spPr>
          <a:xfrm>
            <a:off x="332103" y="1884659"/>
            <a:ext cx="12647805" cy="5928659"/>
          </a:xfrm>
          <a:prstGeom prst="rect">
            <a:avLst/>
          </a:prstGeom>
        </p:spPr>
      </p:pic>
    </p:spTree>
    <p:extLst>
      <p:ext uri="{BB962C8B-B14F-4D97-AF65-F5344CB8AC3E}">
        <p14:creationId xmlns:p14="http://schemas.microsoft.com/office/powerpoint/2010/main" val="24134048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4FE0068-66CC-469E-88E9-3BDB62C0B229}"/>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85BCA162-7BE6-45CE-A4D1-0EE58D6887DD}"/>
              </a:ext>
            </a:extLst>
          </p:cNvPr>
          <p:cNvSpPr>
            <a:spLocks noGrp="1"/>
          </p:cNvSpPr>
          <p:nvPr>
            <p:ph idx="1"/>
          </p:nvPr>
        </p:nvSpPr>
        <p:spPr/>
        <p:txBody>
          <a:bodyPr/>
          <a:lstStyle/>
          <a:p>
            <a:endParaRPr kumimoji="1" lang="ja-JP" altLang="en-US"/>
          </a:p>
        </p:txBody>
      </p:sp>
      <p:pic>
        <p:nvPicPr>
          <p:cNvPr id="5" name="図 4">
            <a:extLst>
              <a:ext uri="{FF2B5EF4-FFF2-40B4-BE49-F238E27FC236}">
                <a16:creationId xmlns:a16="http://schemas.microsoft.com/office/drawing/2014/main" id="{7306911F-0804-4695-9049-570C0D433EEF}"/>
              </a:ext>
            </a:extLst>
          </p:cNvPr>
          <p:cNvPicPr>
            <a:picLocks noChangeAspect="1"/>
          </p:cNvPicPr>
          <p:nvPr/>
        </p:nvPicPr>
        <p:blipFill>
          <a:blip r:embed="rId2"/>
          <a:stretch>
            <a:fillRect/>
          </a:stretch>
        </p:blipFill>
        <p:spPr>
          <a:xfrm>
            <a:off x="1167396" y="1064762"/>
            <a:ext cx="10054210" cy="7992852"/>
          </a:xfrm>
          <a:prstGeom prst="rect">
            <a:avLst/>
          </a:prstGeom>
        </p:spPr>
      </p:pic>
      <p:sp>
        <p:nvSpPr>
          <p:cNvPr id="6" name="テキスト ボックス 5">
            <a:extLst>
              <a:ext uri="{FF2B5EF4-FFF2-40B4-BE49-F238E27FC236}">
                <a16:creationId xmlns:a16="http://schemas.microsoft.com/office/drawing/2014/main" id="{01B0FFEA-5B1C-4A9C-AF83-4E7413FC280D}"/>
              </a:ext>
            </a:extLst>
          </p:cNvPr>
          <p:cNvSpPr txBox="1"/>
          <p:nvPr/>
        </p:nvSpPr>
        <p:spPr>
          <a:xfrm>
            <a:off x="10636448" y="9138048"/>
            <a:ext cx="3240360" cy="369332"/>
          </a:xfrm>
          <a:prstGeom prst="rect">
            <a:avLst/>
          </a:prstGeom>
          <a:noFill/>
        </p:spPr>
        <p:txBody>
          <a:bodyPr wrap="square" rtlCol="0">
            <a:spAutoFit/>
          </a:bodyPr>
          <a:lstStyle/>
          <a:p>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薬毒物試験法註解</a:t>
            </a:r>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2017</a:t>
            </a:r>
            <a:endPar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
        <p:nvSpPr>
          <p:cNvPr id="4" name="矢印: 下 3">
            <a:extLst>
              <a:ext uri="{FF2B5EF4-FFF2-40B4-BE49-F238E27FC236}">
                <a16:creationId xmlns:a16="http://schemas.microsoft.com/office/drawing/2014/main" id="{6F42B674-198F-4271-B455-09A0D52444CC}"/>
              </a:ext>
            </a:extLst>
          </p:cNvPr>
          <p:cNvSpPr/>
          <p:nvPr/>
        </p:nvSpPr>
        <p:spPr>
          <a:xfrm>
            <a:off x="6279964" y="3080792"/>
            <a:ext cx="468052" cy="720080"/>
          </a:xfrm>
          <a:prstGeom prst="downArrow">
            <a:avLst/>
          </a:prstGeom>
          <a:solidFill>
            <a:srgbClr val="C00000"/>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19720069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C173E3-F412-4445-A0A1-559061828555}"/>
              </a:ext>
            </a:extLst>
          </p:cNvPr>
          <p:cNvSpPr>
            <a:spLocks noGrp="1"/>
          </p:cNvSpPr>
          <p:nvPr>
            <p:ph type="title"/>
          </p:nvPr>
        </p:nvSpPr>
        <p:spPr/>
        <p:txBody>
          <a:bodyPr/>
          <a:lstStyle/>
          <a:p>
            <a:endParaRPr kumimoji="1" lang="ja-JP" altLang="en-US"/>
          </a:p>
        </p:txBody>
      </p:sp>
      <p:pic>
        <p:nvPicPr>
          <p:cNvPr id="5" name="コンテンツ プレースホルダー 4" descr="ダイアグラム, 概略図&#10;&#10;自動的に生成された説明">
            <a:extLst>
              <a:ext uri="{FF2B5EF4-FFF2-40B4-BE49-F238E27FC236}">
                <a16:creationId xmlns:a16="http://schemas.microsoft.com/office/drawing/2014/main" id="{08ECA68D-A286-4FA0-8B40-925CF3FEDA5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71352" y="920552"/>
            <a:ext cx="11545854" cy="8172908"/>
          </a:xfrm>
        </p:spPr>
      </p:pic>
      <p:sp>
        <p:nvSpPr>
          <p:cNvPr id="6" name="テキスト ボックス 5">
            <a:extLst>
              <a:ext uri="{FF2B5EF4-FFF2-40B4-BE49-F238E27FC236}">
                <a16:creationId xmlns:a16="http://schemas.microsoft.com/office/drawing/2014/main" id="{920E9ECD-9F5D-4103-95F6-CEA8A1CE9D95}"/>
              </a:ext>
            </a:extLst>
          </p:cNvPr>
          <p:cNvSpPr txBox="1"/>
          <p:nvPr/>
        </p:nvSpPr>
        <p:spPr>
          <a:xfrm>
            <a:off x="10636448" y="9138048"/>
            <a:ext cx="3240360" cy="369332"/>
          </a:xfrm>
          <a:prstGeom prst="rect">
            <a:avLst/>
          </a:prstGeom>
          <a:noFill/>
        </p:spPr>
        <p:txBody>
          <a:bodyPr wrap="square" rtlCol="0">
            <a:spAutoFit/>
          </a:bodyPr>
          <a:lstStyle/>
          <a:p>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薬毒物試験法註解</a:t>
            </a:r>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2017</a:t>
            </a:r>
            <a:endPar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Tree>
    <p:extLst>
      <p:ext uri="{BB962C8B-B14F-4D97-AF65-F5344CB8AC3E}">
        <p14:creationId xmlns:p14="http://schemas.microsoft.com/office/powerpoint/2010/main" val="39227877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7728E1-5F0A-46B0-AE86-BF15C3540E58}"/>
              </a:ext>
            </a:extLst>
          </p:cNvPr>
          <p:cNvSpPr>
            <a:spLocks noGrp="1"/>
          </p:cNvSpPr>
          <p:nvPr>
            <p:ph type="title"/>
          </p:nvPr>
        </p:nvSpPr>
        <p:spPr/>
        <p:txBody>
          <a:bodyPr/>
          <a:lstStyle/>
          <a:p>
            <a:r>
              <a:rPr kumimoji="1" lang="ja-JP" altLang="en-US" dirty="0"/>
              <a:t>実習症例</a:t>
            </a:r>
            <a:r>
              <a:rPr kumimoji="1" lang="en-US" altLang="ja-JP" dirty="0"/>
              <a:t>0</a:t>
            </a:r>
            <a:endParaRPr kumimoji="1" lang="ja-JP" altLang="en-US" dirty="0"/>
          </a:p>
        </p:txBody>
      </p:sp>
      <p:sp>
        <p:nvSpPr>
          <p:cNvPr id="3" name="コンテンツ プレースホルダー 2">
            <a:extLst>
              <a:ext uri="{FF2B5EF4-FFF2-40B4-BE49-F238E27FC236}">
                <a16:creationId xmlns:a16="http://schemas.microsoft.com/office/drawing/2014/main" id="{B1E48D11-17A2-4991-BC11-DC678876107F}"/>
              </a:ext>
            </a:extLst>
          </p:cNvPr>
          <p:cNvSpPr>
            <a:spLocks noGrp="1"/>
          </p:cNvSpPr>
          <p:nvPr>
            <p:ph idx="1"/>
          </p:nvPr>
        </p:nvSpPr>
        <p:spPr>
          <a:xfrm>
            <a:off x="363306" y="1208584"/>
            <a:ext cx="12481387" cy="1100898"/>
          </a:xfrm>
        </p:spPr>
        <p:txBody>
          <a:bodyPr/>
          <a:lstStyle/>
          <a:p>
            <a:pPr>
              <a:lnSpc>
                <a:spcPct val="150000"/>
              </a:lnSpc>
            </a:pPr>
            <a:r>
              <a:rPr lang="ja-JP" altLang="en-US" sz="4400" dirty="0">
                <a:solidFill>
                  <a:srgbClr val="C00000"/>
                </a:solidFill>
              </a:rPr>
              <a:t>風呂場で </a:t>
            </a:r>
            <a:r>
              <a:rPr lang="en-US" altLang="ja-JP" sz="4400" dirty="0">
                <a:solidFill>
                  <a:srgbClr val="C00000"/>
                </a:solidFill>
              </a:rPr>
              <a:t>5 </a:t>
            </a:r>
            <a:r>
              <a:rPr lang="ja-JP" altLang="en-US" sz="4400" dirty="0">
                <a:solidFill>
                  <a:srgbClr val="C00000"/>
                </a:solidFill>
              </a:rPr>
              <a:t>種類ほどのトイレ洗浄剤などが容器の中で混ぜられた痕跡がある</a:t>
            </a:r>
            <a:endParaRPr kumimoji="1" lang="ja-JP" altLang="en-US" sz="4400" dirty="0"/>
          </a:p>
        </p:txBody>
      </p:sp>
      <p:sp>
        <p:nvSpPr>
          <p:cNvPr id="4" name="矢印: 下 3">
            <a:extLst>
              <a:ext uri="{FF2B5EF4-FFF2-40B4-BE49-F238E27FC236}">
                <a16:creationId xmlns:a16="http://schemas.microsoft.com/office/drawing/2014/main" id="{0E73B1AA-6CB4-4813-BD70-8D963D841E10}"/>
              </a:ext>
            </a:extLst>
          </p:cNvPr>
          <p:cNvSpPr/>
          <p:nvPr/>
        </p:nvSpPr>
        <p:spPr>
          <a:xfrm>
            <a:off x="6063939" y="3433219"/>
            <a:ext cx="1080120" cy="1008112"/>
          </a:xfrm>
          <a:prstGeom prst="downArrow">
            <a:avLst/>
          </a:prstGeom>
          <a:no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
        <p:nvSpPr>
          <p:cNvPr id="6" name="テキスト ボックス 5">
            <a:extLst>
              <a:ext uri="{FF2B5EF4-FFF2-40B4-BE49-F238E27FC236}">
                <a16:creationId xmlns:a16="http://schemas.microsoft.com/office/drawing/2014/main" id="{207C5DC8-E827-4561-90EC-5234BD0FDEC3}"/>
              </a:ext>
            </a:extLst>
          </p:cNvPr>
          <p:cNvSpPr txBox="1"/>
          <p:nvPr/>
        </p:nvSpPr>
        <p:spPr>
          <a:xfrm>
            <a:off x="2979597" y="4441331"/>
            <a:ext cx="9865096" cy="1015663"/>
          </a:xfrm>
          <a:prstGeom prst="rect">
            <a:avLst/>
          </a:prstGeom>
          <a:noFill/>
        </p:spPr>
        <p:txBody>
          <a:bodyPr wrap="square" rtlCol="0">
            <a:spAutoFit/>
          </a:bodyPr>
          <a:lstStyle/>
          <a:p>
            <a:r>
              <a:rPr kumimoji="1" lang="ja-JP" altLang="en-US" sz="6000" dirty="0">
                <a:solidFill>
                  <a:schemeClr val="tx1">
                    <a:lumMod val="75000"/>
                    <a:lumOff val="25000"/>
                  </a:schemeClr>
                </a:solidFill>
                <a:latin typeface="HGPｺﾞｼｯｸE" panose="020B0900000000000000" pitchFamily="50" charset="-128"/>
                <a:ea typeface="HGPｺﾞｼｯｸE" panose="020B0900000000000000" pitchFamily="50" charset="-128"/>
              </a:rPr>
              <a:t>硫化水素による中毒？</a:t>
            </a:r>
          </a:p>
        </p:txBody>
      </p:sp>
      <p:sp>
        <p:nvSpPr>
          <p:cNvPr id="8" name="テキスト ボックス 7">
            <a:extLst>
              <a:ext uri="{FF2B5EF4-FFF2-40B4-BE49-F238E27FC236}">
                <a16:creationId xmlns:a16="http://schemas.microsoft.com/office/drawing/2014/main" id="{779129B7-3592-4952-9711-E233E032A476}"/>
              </a:ext>
            </a:extLst>
          </p:cNvPr>
          <p:cNvSpPr txBox="1"/>
          <p:nvPr/>
        </p:nvSpPr>
        <p:spPr>
          <a:xfrm>
            <a:off x="1923480" y="6321152"/>
            <a:ext cx="11757306" cy="830997"/>
          </a:xfrm>
          <a:prstGeom prst="rect">
            <a:avLst/>
          </a:prstGeom>
          <a:noFill/>
        </p:spPr>
        <p:txBody>
          <a:bodyPr wrap="square" rtlCol="0">
            <a:spAutoFit/>
          </a:bodyPr>
          <a:lstStyle/>
          <a:p>
            <a:pPr>
              <a:tabLst>
                <a:tab pos="2600325" algn="l"/>
              </a:tabLst>
            </a:pPr>
            <a:r>
              <a:rPr kumimoji="1" lang="ja-JP" altLang="en-US" sz="4800" dirty="0">
                <a:solidFill>
                  <a:srgbClr val="C00000"/>
                </a:solidFill>
                <a:latin typeface="HGPｺﾞｼｯｸE" panose="020B0900000000000000" pitchFamily="50" charset="-128"/>
                <a:ea typeface="HGPｺﾞｼｯｸE" panose="020B0900000000000000" pitchFamily="50" charset="-128"/>
              </a:rPr>
              <a:t>血液</a:t>
            </a:r>
            <a:r>
              <a:rPr lang="ja-JP" altLang="en-US" sz="4800" dirty="0">
                <a:solidFill>
                  <a:srgbClr val="C00000"/>
                </a:solidFill>
                <a:latin typeface="HGPｺﾞｼｯｸE" panose="020B0900000000000000" pitchFamily="50" charset="-128"/>
                <a:ea typeface="HGPｺﾞｼｯｸE" panose="020B0900000000000000" pitchFamily="50" charset="-128"/>
              </a:rPr>
              <a:t>から</a:t>
            </a:r>
            <a:r>
              <a:rPr lang="en-US" altLang="ja-JP" sz="4800" dirty="0">
                <a:solidFill>
                  <a:srgbClr val="C00000"/>
                </a:solidFill>
                <a:latin typeface="HGPｺﾞｼｯｸE" panose="020B0900000000000000" pitchFamily="50" charset="-128"/>
                <a:ea typeface="HGPｺﾞｼｯｸE" panose="020B0900000000000000" pitchFamily="50" charset="-128"/>
              </a:rPr>
              <a:t>	</a:t>
            </a:r>
            <a:r>
              <a:rPr lang="ja-JP" altLang="en-US" sz="4800" dirty="0">
                <a:solidFill>
                  <a:srgbClr val="C00000"/>
                </a:solidFill>
                <a:latin typeface="HGPｺﾞｼｯｸE" panose="020B0900000000000000" pitchFamily="50" charset="-128"/>
                <a:ea typeface="HGPｺﾞｼｯｸE" panose="020B0900000000000000" pitchFamily="50" charset="-128"/>
              </a:rPr>
              <a:t>硫化水素　</a:t>
            </a:r>
            <a:r>
              <a:rPr kumimoji="1" lang="ja-JP" altLang="en-US" sz="4800" dirty="0">
                <a:solidFill>
                  <a:srgbClr val="C00000"/>
                </a:solidFill>
                <a:latin typeface="HGPｺﾞｼｯｸE" panose="020B0900000000000000" pitchFamily="50" charset="-128"/>
                <a:ea typeface="HGPｺﾞｼｯｸE" panose="020B0900000000000000" pitchFamily="50" charset="-128"/>
              </a:rPr>
              <a:t>が検出された</a:t>
            </a:r>
            <a:endParaRPr kumimoji="1" lang="en-US" altLang="ja-JP" sz="4800" dirty="0">
              <a:solidFill>
                <a:srgbClr val="C00000"/>
              </a:solidFill>
              <a:latin typeface="HGPｺﾞｼｯｸE" panose="020B0900000000000000" pitchFamily="50" charset="-128"/>
              <a:ea typeface="HGPｺﾞｼｯｸE" panose="020B0900000000000000" pitchFamily="50" charset="-128"/>
            </a:endParaRPr>
          </a:p>
        </p:txBody>
      </p:sp>
    </p:spTree>
    <p:extLst>
      <p:ext uri="{BB962C8B-B14F-4D97-AF65-F5344CB8AC3E}">
        <p14:creationId xmlns:p14="http://schemas.microsoft.com/office/powerpoint/2010/main" val="29838452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37BED7-9A8A-45DA-965D-F0912D30A98E}"/>
              </a:ext>
            </a:extLst>
          </p:cNvPr>
          <p:cNvSpPr>
            <a:spLocks noGrp="1"/>
          </p:cNvSpPr>
          <p:nvPr>
            <p:ph type="title"/>
          </p:nvPr>
        </p:nvSpPr>
        <p:spPr/>
        <p:txBody>
          <a:bodyPr/>
          <a:lstStyle/>
          <a:p>
            <a:endParaRPr kumimoji="1" lang="ja-JP" altLang="en-US"/>
          </a:p>
        </p:txBody>
      </p:sp>
      <p:sp>
        <p:nvSpPr>
          <p:cNvPr id="4" name="テキスト ボックス 3">
            <a:extLst>
              <a:ext uri="{FF2B5EF4-FFF2-40B4-BE49-F238E27FC236}">
                <a16:creationId xmlns:a16="http://schemas.microsoft.com/office/drawing/2014/main" id="{F5759374-F297-415C-9351-4DF4C3759584}"/>
              </a:ext>
            </a:extLst>
          </p:cNvPr>
          <p:cNvSpPr txBox="1"/>
          <p:nvPr/>
        </p:nvSpPr>
        <p:spPr>
          <a:xfrm>
            <a:off x="166590" y="776536"/>
            <a:ext cx="9253028" cy="1107996"/>
          </a:xfrm>
          <a:prstGeom prst="rect">
            <a:avLst/>
          </a:prstGeom>
          <a:noFill/>
        </p:spPr>
        <p:txBody>
          <a:bodyPr wrap="square" rtlCol="0">
            <a:spAutoFit/>
          </a:bodyPr>
          <a:lstStyle/>
          <a:p>
            <a:r>
              <a:rPr kumimoji="1" lang="ja-JP" altLang="en-US" sz="6600" dirty="0">
                <a:solidFill>
                  <a:schemeClr val="tx1">
                    <a:lumMod val="75000"/>
                    <a:lumOff val="25000"/>
                  </a:schemeClr>
                </a:solidFill>
                <a:latin typeface="HGPｺﾞｼｯｸE" panose="020B0900000000000000" pitchFamily="50" charset="-128"/>
                <a:ea typeface="HGPｺﾞｼｯｸE" panose="020B0900000000000000" pitchFamily="50" charset="-128"/>
              </a:rPr>
              <a:t>実習症例０　まとめ</a:t>
            </a:r>
          </a:p>
        </p:txBody>
      </p:sp>
      <p:sp>
        <p:nvSpPr>
          <p:cNvPr id="5" name="テキスト ボックス 4">
            <a:extLst>
              <a:ext uri="{FF2B5EF4-FFF2-40B4-BE49-F238E27FC236}">
                <a16:creationId xmlns:a16="http://schemas.microsoft.com/office/drawing/2014/main" id="{A9FBCCA9-38AE-463B-9621-42B47B4CC7D7}"/>
              </a:ext>
            </a:extLst>
          </p:cNvPr>
          <p:cNvSpPr txBox="1"/>
          <p:nvPr/>
        </p:nvSpPr>
        <p:spPr>
          <a:xfrm>
            <a:off x="1311412" y="3556100"/>
            <a:ext cx="12169352" cy="2123658"/>
          </a:xfrm>
          <a:prstGeom prst="rect">
            <a:avLst/>
          </a:prstGeom>
          <a:noFill/>
        </p:spPr>
        <p:txBody>
          <a:bodyPr wrap="square" rtlCol="0">
            <a:spAutoFit/>
          </a:bodyPr>
          <a:lstStyle/>
          <a:p>
            <a:pPr>
              <a:tabLst>
                <a:tab pos="2600325" algn="l"/>
                <a:tab pos="8161338" algn="l"/>
              </a:tabLst>
            </a:pPr>
            <a:r>
              <a:rPr kumimoji="1" lang="ja-JP" altLang="en-US" sz="4400" dirty="0">
                <a:solidFill>
                  <a:schemeClr val="tx1">
                    <a:lumMod val="85000"/>
                    <a:lumOff val="15000"/>
                  </a:schemeClr>
                </a:solidFill>
                <a:latin typeface="HGPｺﾞｼｯｸE" panose="020B0900000000000000" pitchFamily="50" charset="-128"/>
                <a:ea typeface="HGPｺﾞｼｯｸE" panose="020B0900000000000000" pitchFamily="50" charset="-128"/>
              </a:rPr>
              <a:t>血液</a:t>
            </a:r>
            <a:r>
              <a:rPr lang="ja-JP" altLang="en-US" sz="4400" dirty="0">
                <a:solidFill>
                  <a:schemeClr val="tx1">
                    <a:lumMod val="85000"/>
                    <a:lumOff val="15000"/>
                  </a:schemeClr>
                </a:solidFill>
                <a:latin typeface="HGPｺﾞｼｯｸE" panose="020B0900000000000000" pitchFamily="50" charset="-128"/>
                <a:ea typeface="HGPｺﾞｼｯｸE" panose="020B0900000000000000" pitchFamily="50" charset="-128"/>
              </a:rPr>
              <a:t>から</a:t>
            </a:r>
            <a:r>
              <a:rPr lang="en-US" altLang="ja-JP" sz="4400" dirty="0">
                <a:solidFill>
                  <a:schemeClr val="tx1">
                    <a:lumMod val="85000"/>
                    <a:lumOff val="15000"/>
                  </a:schemeClr>
                </a:solidFill>
                <a:latin typeface="HGPｺﾞｼｯｸE" panose="020B0900000000000000" pitchFamily="50" charset="-128"/>
                <a:ea typeface="HGPｺﾞｼｯｸE" panose="020B0900000000000000" pitchFamily="50" charset="-128"/>
              </a:rPr>
              <a:t>	</a:t>
            </a:r>
            <a:r>
              <a:rPr lang="ja-JP" altLang="en-US" sz="4400" dirty="0">
                <a:solidFill>
                  <a:schemeClr val="tx1">
                    <a:lumMod val="85000"/>
                    <a:lumOff val="15000"/>
                  </a:schemeClr>
                </a:solidFill>
                <a:latin typeface="HGPｺﾞｼｯｸE" panose="020B0900000000000000" pitchFamily="50" charset="-128"/>
                <a:ea typeface="HGPｺﾞｼｯｸE" panose="020B0900000000000000" pitchFamily="50" charset="-128"/>
              </a:rPr>
              <a:t>硫化水素　　　　</a:t>
            </a:r>
            <a:r>
              <a:rPr kumimoji="1" lang="en-US" altLang="ja-JP" sz="4400" dirty="0">
                <a:solidFill>
                  <a:schemeClr val="tx1">
                    <a:lumMod val="85000"/>
                    <a:lumOff val="15000"/>
                  </a:schemeClr>
                </a:solidFill>
                <a:latin typeface="HGPｺﾞｼｯｸE" panose="020B0900000000000000" pitchFamily="50" charset="-128"/>
                <a:ea typeface="HGPｺﾞｼｯｸE" panose="020B0900000000000000" pitchFamily="50" charset="-128"/>
              </a:rPr>
              <a:t>14.1µg/mL</a:t>
            </a:r>
          </a:p>
          <a:p>
            <a:pPr>
              <a:tabLst>
                <a:tab pos="2600325" algn="l"/>
                <a:tab pos="8161338" algn="l"/>
              </a:tabLst>
            </a:pPr>
            <a:endParaRPr lang="en-US" altLang="ja-JP" sz="4400" dirty="0">
              <a:solidFill>
                <a:schemeClr val="tx1">
                  <a:lumMod val="85000"/>
                  <a:lumOff val="15000"/>
                </a:schemeClr>
              </a:solidFill>
              <a:latin typeface="HGPｺﾞｼｯｸE" panose="020B0900000000000000" pitchFamily="50" charset="-128"/>
              <a:ea typeface="HGPｺﾞｼｯｸE" panose="020B0900000000000000" pitchFamily="50" charset="-128"/>
            </a:endParaRPr>
          </a:p>
          <a:p>
            <a:pPr>
              <a:tabLst>
                <a:tab pos="2600325" algn="l"/>
                <a:tab pos="8161338" algn="l"/>
              </a:tabLst>
            </a:pPr>
            <a:r>
              <a:rPr lang="ja-JP" altLang="en-US" sz="4400" dirty="0">
                <a:solidFill>
                  <a:schemeClr val="tx1">
                    <a:lumMod val="85000"/>
                    <a:lumOff val="15000"/>
                  </a:schemeClr>
                </a:solidFill>
                <a:latin typeface="HGPｺﾞｼｯｸE" panose="020B0900000000000000" pitchFamily="50" charset="-128"/>
                <a:ea typeface="HGPｺﾞｼｯｸE" panose="020B0900000000000000" pitchFamily="50" charset="-128"/>
              </a:rPr>
              <a:t>　　　　　　　　　　　　　　</a:t>
            </a:r>
            <a:r>
              <a:rPr kumimoji="1" lang="ja-JP" altLang="en-US" sz="4400" dirty="0">
                <a:solidFill>
                  <a:schemeClr val="tx1">
                    <a:lumMod val="85000"/>
                    <a:lumOff val="15000"/>
                  </a:schemeClr>
                </a:solidFill>
                <a:latin typeface="HGPｺﾞｼｯｸE" panose="020B0900000000000000" pitchFamily="50" charset="-128"/>
                <a:ea typeface="HGPｺﾞｼｯｸE" panose="020B0900000000000000" pitchFamily="50" charset="-128"/>
              </a:rPr>
              <a:t>が検出されました</a:t>
            </a:r>
          </a:p>
        </p:txBody>
      </p:sp>
      <p:sp>
        <p:nvSpPr>
          <p:cNvPr id="6" name="四角形: メモ 5">
            <a:extLst>
              <a:ext uri="{FF2B5EF4-FFF2-40B4-BE49-F238E27FC236}">
                <a16:creationId xmlns:a16="http://schemas.microsoft.com/office/drawing/2014/main" id="{63F12E59-0AF4-4D53-B15B-018D2A4DBB89}"/>
              </a:ext>
            </a:extLst>
          </p:cNvPr>
          <p:cNvSpPr/>
          <p:nvPr/>
        </p:nvSpPr>
        <p:spPr>
          <a:xfrm>
            <a:off x="447316" y="2252700"/>
            <a:ext cx="11773308" cy="6084676"/>
          </a:xfrm>
          <a:prstGeom prst="foldedCorner">
            <a:avLst/>
          </a:prstGeom>
          <a:noFill/>
          <a:ln w="28575">
            <a:solidFill>
              <a:schemeClr val="tx1">
                <a:lumMod val="85000"/>
                <a:lumOff val="15000"/>
              </a:schemeClr>
            </a:solidFill>
          </a:ln>
        </p:spPr>
        <p:txBody>
          <a:bodyPr wrap="squar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
        <p:nvSpPr>
          <p:cNvPr id="8" name="テキスト ボックス 7">
            <a:extLst>
              <a:ext uri="{FF2B5EF4-FFF2-40B4-BE49-F238E27FC236}">
                <a16:creationId xmlns:a16="http://schemas.microsoft.com/office/drawing/2014/main" id="{5882854C-A97A-42A6-A679-75B1AF0536E9}"/>
              </a:ext>
            </a:extLst>
          </p:cNvPr>
          <p:cNvSpPr txBox="1"/>
          <p:nvPr/>
        </p:nvSpPr>
        <p:spPr>
          <a:xfrm>
            <a:off x="8152172" y="3126343"/>
            <a:ext cx="1764196" cy="369332"/>
          </a:xfrm>
          <a:prstGeom prst="rect">
            <a:avLst/>
          </a:prstGeom>
          <a:noFill/>
        </p:spPr>
        <p:txBody>
          <a:bodyPr wrap="square" rtlCol="0">
            <a:spAutoFit/>
          </a:bodyPr>
          <a:lstStyle/>
          <a:p>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たとえば</a:t>
            </a:r>
          </a:p>
        </p:txBody>
      </p:sp>
    </p:spTree>
    <p:extLst>
      <p:ext uri="{BB962C8B-B14F-4D97-AF65-F5344CB8AC3E}">
        <p14:creationId xmlns:p14="http://schemas.microsoft.com/office/powerpoint/2010/main" val="13529980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a:xfrm>
            <a:off x="0" y="130051"/>
            <a:ext cx="6750750" cy="438237"/>
          </a:xfrm>
        </p:spPr>
        <p:txBody>
          <a:bodyPr/>
          <a:lstStyle/>
          <a:p>
            <a:r>
              <a:rPr lang="ja-JP" altLang="en-US" dirty="0">
                <a:latin typeface="HGS創英角ｺﾞｼｯｸUB" pitchFamily="50" charset="-128"/>
                <a:ea typeface="HGS創英角ｺﾞｼｯｸUB" pitchFamily="50" charset="-128"/>
              </a:rPr>
              <a:t>実習症例０</a:t>
            </a:r>
          </a:p>
        </p:txBody>
      </p:sp>
      <p:sp>
        <p:nvSpPr>
          <p:cNvPr id="3" name="スライド番号プレースホルダー 2">
            <a:extLst>
              <a:ext uri="{FF2B5EF4-FFF2-40B4-BE49-F238E27FC236}">
                <a16:creationId xmlns:a16="http://schemas.microsoft.com/office/drawing/2014/main" id="{52710185-1691-4906-A1D5-5A2F7A3BCC3C}"/>
              </a:ext>
            </a:extLst>
          </p:cNvPr>
          <p:cNvSpPr>
            <a:spLocks noGrp="1"/>
          </p:cNvSpPr>
          <p:nvPr>
            <p:ph type="sldNum" sz="quarter" idx="12"/>
          </p:nvPr>
        </p:nvSpPr>
        <p:spPr/>
        <p:txBody>
          <a:bodyPr/>
          <a:lstStyle/>
          <a:p>
            <a:pPr>
              <a:defRPr/>
            </a:pPr>
            <a:fld id="{6B43C332-1484-4553-8349-0303A35840A7}" type="slidenum">
              <a:rPr lang="ja-JP" altLang="en-US" smtClean="0"/>
              <a:pPr>
                <a:defRPr/>
              </a:pPr>
              <a:t>47</a:t>
            </a:fld>
            <a:endParaRPr lang="ja-JP" altLang="en-US"/>
          </a:p>
        </p:txBody>
      </p:sp>
      <p:cxnSp>
        <p:nvCxnSpPr>
          <p:cNvPr id="20" name="直線コネクタ 19">
            <a:extLst>
              <a:ext uri="{FF2B5EF4-FFF2-40B4-BE49-F238E27FC236}">
                <a16:creationId xmlns:a16="http://schemas.microsoft.com/office/drawing/2014/main" id="{FBE75350-8FF8-4311-B8CB-769F8B64CD31}"/>
              </a:ext>
            </a:extLst>
          </p:cNvPr>
          <p:cNvCxnSpPr/>
          <p:nvPr/>
        </p:nvCxnSpPr>
        <p:spPr>
          <a:xfrm>
            <a:off x="3446456" y="11167864"/>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ACB2F09F-46F5-4CD2-99D6-024F3341599B}"/>
              </a:ext>
            </a:extLst>
          </p:cNvPr>
          <p:cNvCxnSpPr/>
          <p:nvPr/>
        </p:nvCxnSpPr>
        <p:spPr>
          <a:xfrm>
            <a:off x="310866" y="3123413"/>
            <a:ext cx="6858000" cy="119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EB960DF9-0670-4031-9438-5D51A9D96ECC}"/>
              </a:ext>
            </a:extLst>
          </p:cNvPr>
          <p:cNvSpPr txBox="1"/>
          <p:nvPr/>
        </p:nvSpPr>
        <p:spPr>
          <a:xfrm>
            <a:off x="375308" y="1136576"/>
            <a:ext cx="6750750" cy="923330"/>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４：簡易検査の結果から処置するとともに血液を薬毒物検査室に送り、分析を</a:t>
            </a:r>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依頼したいと思います。</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どのような内容を伝えるとよいと思いますか？</a:t>
            </a:r>
          </a:p>
        </p:txBody>
      </p:sp>
      <p:cxnSp>
        <p:nvCxnSpPr>
          <p:cNvPr id="25" name="直線コネクタ 24">
            <a:extLst>
              <a:ext uri="{FF2B5EF4-FFF2-40B4-BE49-F238E27FC236}">
                <a16:creationId xmlns:a16="http://schemas.microsoft.com/office/drawing/2014/main" id="{5CD9F87B-6B5E-4C45-8DF8-78E9463B323D}"/>
              </a:ext>
            </a:extLst>
          </p:cNvPr>
          <p:cNvCxnSpPr/>
          <p:nvPr/>
        </p:nvCxnSpPr>
        <p:spPr>
          <a:xfrm>
            <a:off x="604803" y="3665738"/>
            <a:ext cx="62701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C1CC6B01-FF11-45C6-AB3E-2C66BFB917C5}"/>
              </a:ext>
            </a:extLst>
          </p:cNvPr>
          <p:cNvSpPr txBox="1"/>
          <p:nvPr/>
        </p:nvSpPr>
        <p:spPr>
          <a:xfrm>
            <a:off x="400210" y="2145786"/>
            <a:ext cx="6585073" cy="1477328"/>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４：</a:t>
            </a:r>
            <a:r>
              <a:rPr kumimoji="1" lang="ja-JP" altLang="en-US" dirty="0">
                <a:solidFill>
                  <a:srgbClr val="C00000"/>
                </a:solidFill>
                <a:latin typeface="HGPｺﾞｼｯｸE" panose="020B0900000000000000" pitchFamily="50" charset="-128"/>
                <a:ea typeface="HGPｺﾞｼｯｸE" panose="020B0900000000000000" pitchFamily="50" charset="-128"/>
              </a:rPr>
              <a:t>死亡者が風呂場で倒れていたこと</a:t>
            </a:r>
            <a:endParaRPr kumimoji="1" lang="en-US" altLang="ja-JP" dirty="0">
              <a:solidFill>
                <a:srgbClr val="C00000"/>
              </a:solidFill>
              <a:latin typeface="HGPｺﾞｼｯｸE" panose="020B0900000000000000" pitchFamily="50" charset="-128"/>
              <a:ea typeface="HGPｺﾞｼｯｸE" panose="020B0900000000000000" pitchFamily="50" charset="-128"/>
            </a:endParaRPr>
          </a:p>
          <a:p>
            <a:r>
              <a:rPr lang="ja-JP" altLang="en-US" dirty="0">
                <a:solidFill>
                  <a:srgbClr val="C00000"/>
                </a:solidFill>
                <a:latin typeface="HGPｺﾞｼｯｸE" panose="020B0900000000000000" pitchFamily="50" charset="-128"/>
                <a:ea typeface="HGPｺﾞｼｯｸE" panose="020B0900000000000000" pitchFamily="50" charset="-128"/>
              </a:rPr>
              <a:t>　　　</a:t>
            </a:r>
            <a:r>
              <a:rPr kumimoji="1" lang="ja-JP" altLang="en-US" dirty="0">
                <a:solidFill>
                  <a:srgbClr val="C00000"/>
                </a:solidFill>
                <a:latin typeface="HGPｺﾞｼｯｸE" panose="020B0900000000000000" pitchFamily="50" charset="-128"/>
                <a:ea typeface="HGPｺﾞｼｯｸE" panose="020B0900000000000000" pitchFamily="50" charset="-128"/>
              </a:rPr>
              <a:t>救急隊員ならびに治療時の医師から「目がチカチカする」との証言があったこと</a:t>
            </a:r>
            <a:endParaRPr kumimoji="1" lang="en-US" altLang="ja-JP" dirty="0">
              <a:solidFill>
                <a:srgbClr val="C00000"/>
              </a:solidFill>
              <a:latin typeface="HGPｺﾞｼｯｸE" panose="020B0900000000000000" pitchFamily="50" charset="-128"/>
              <a:ea typeface="HGPｺﾞｼｯｸE" panose="020B0900000000000000" pitchFamily="50" charset="-128"/>
            </a:endParaRPr>
          </a:p>
          <a:p>
            <a:r>
              <a:rPr lang="ja-JP" altLang="en-US" dirty="0">
                <a:solidFill>
                  <a:srgbClr val="C00000"/>
                </a:solidFill>
                <a:latin typeface="HGPｺﾞｼｯｸE" panose="020B0900000000000000" pitchFamily="50" charset="-128"/>
                <a:ea typeface="HGPｺﾞｼｯｸE" panose="020B0900000000000000" pitchFamily="50" charset="-128"/>
              </a:rPr>
              <a:t>　　　</a:t>
            </a:r>
            <a:r>
              <a:rPr kumimoji="1" lang="ja-JP" altLang="en-US" dirty="0">
                <a:solidFill>
                  <a:srgbClr val="C00000"/>
                </a:solidFill>
                <a:latin typeface="HGPｺﾞｼｯｸE" panose="020B0900000000000000" pitchFamily="50" charset="-128"/>
                <a:ea typeface="HGPｺﾞｼｯｸE" panose="020B0900000000000000" pitchFamily="50" charset="-128"/>
              </a:rPr>
              <a:t>トイレの洗浄剤などが混ぜられた形跡があること</a:t>
            </a:r>
            <a:endParaRPr kumimoji="1" lang="en-US" altLang="ja-JP" dirty="0">
              <a:solidFill>
                <a:srgbClr val="C00000"/>
              </a:solidFill>
              <a:latin typeface="HGPｺﾞｼｯｸE" panose="020B0900000000000000" pitchFamily="50" charset="-128"/>
              <a:ea typeface="HGPｺﾞｼｯｸE" panose="020B0900000000000000" pitchFamily="50" charset="-128"/>
            </a:endParaRPr>
          </a:p>
          <a:p>
            <a:r>
              <a:rPr lang="ja-JP" altLang="en-US" dirty="0">
                <a:solidFill>
                  <a:srgbClr val="C00000"/>
                </a:solidFill>
                <a:latin typeface="HGPｺﾞｼｯｸE" panose="020B0900000000000000" pitchFamily="50" charset="-128"/>
                <a:ea typeface="HGPｺﾞｼｯｸE" panose="020B0900000000000000" pitchFamily="50" charset="-128"/>
              </a:rPr>
              <a:t>　　　</a:t>
            </a:r>
            <a:r>
              <a:rPr kumimoji="1" lang="ja-JP" altLang="en-US" dirty="0">
                <a:solidFill>
                  <a:srgbClr val="C00000"/>
                </a:solidFill>
                <a:latin typeface="HGPｺﾞｼｯｸE" panose="020B0900000000000000" pitchFamily="50" charset="-128"/>
                <a:ea typeface="HGPｺﾞｼｯｸE" panose="020B0900000000000000" pitchFamily="50" charset="-128"/>
              </a:rPr>
              <a:t>血中硫化水素の簡易検査の結果</a:t>
            </a:r>
            <a:r>
              <a:rPr kumimoji="1" lang="en-US" altLang="ja-JP" dirty="0">
                <a:solidFill>
                  <a:srgbClr val="C00000"/>
                </a:solidFill>
                <a:latin typeface="HGPｺﾞｼｯｸE" panose="020B0900000000000000" pitchFamily="50" charset="-128"/>
                <a:ea typeface="HGPｺﾞｼｯｸE" panose="020B0900000000000000" pitchFamily="50" charset="-128"/>
              </a:rPr>
              <a:t>1.0µg/mL</a:t>
            </a:r>
            <a:r>
              <a:rPr kumimoji="1" lang="ja-JP" altLang="en-US" dirty="0">
                <a:solidFill>
                  <a:srgbClr val="C00000"/>
                </a:solidFill>
                <a:latin typeface="HGPｺﾞｼｯｸE" panose="020B0900000000000000" pitchFamily="50" charset="-128"/>
                <a:ea typeface="HGPｺﾞｼｯｸE" panose="020B0900000000000000" pitchFamily="50" charset="-128"/>
              </a:rPr>
              <a:t>を呈したことなど。</a:t>
            </a:r>
          </a:p>
        </p:txBody>
      </p:sp>
      <p:sp>
        <p:nvSpPr>
          <p:cNvPr id="27" name="テキスト ボックス 26">
            <a:extLst>
              <a:ext uri="{FF2B5EF4-FFF2-40B4-BE49-F238E27FC236}">
                <a16:creationId xmlns:a16="http://schemas.microsoft.com/office/drawing/2014/main" id="{14B7A0A9-EC90-46BE-9915-762B87EC5295}"/>
              </a:ext>
            </a:extLst>
          </p:cNvPr>
          <p:cNvSpPr txBox="1"/>
          <p:nvPr/>
        </p:nvSpPr>
        <p:spPr>
          <a:xfrm>
            <a:off x="384301" y="3760583"/>
            <a:ext cx="6490627" cy="646331"/>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５：</a:t>
            </a:r>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皆さん</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が依頼した薬毒物検査により、検査室では「実習動画０」のような分析を行いました。動画を視聴してください。</a:t>
            </a:r>
            <a:endPar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
        <p:nvSpPr>
          <p:cNvPr id="2" name="テキスト ボックス 1">
            <a:extLst>
              <a:ext uri="{FF2B5EF4-FFF2-40B4-BE49-F238E27FC236}">
                <a16:creationId xmlns:a16="http://schemas.microsoft.com/office/drawing/2014/main" id="{974DF632-401D-4C2A-B42E-F1D1706791F3}"/>
              </a:ext>
            </a:extLst>
          </p:cNvPr>
          <p:cNvSpPr txBox="1"/>
          <p:nvPr/>
        </p:nvSpPr>
        <p:spPr>
          <a:xfrm>
            <a:off x="577643" y="4686621"/>
            <a:ext cx="5940660" cy="369332"/>
          </a:xfrm>
          <a:prstGeom prst="rect">
            <a:avLst/>
          </a:prstGeom>
          <a:noFill/>
          <a:ln>
            <a:solidFill>
              <a:schemeClr val="tx1"/>
            </a:solidFill>
          </a:ln>
        </p:spPr>
        <p:txBody>
          <a:bodyPr wrap="square" rtlCol="0">
            <a:spAutoFit/>
          </a:bodyPr>
          <a:lstStyle/>
          <a:p>
            <a:pPr algn="ct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別途配布　実習動画０へのリンクからアクセスしてください</a:t>
            </a:r>
          </a:p>
        </p:txBody>
      </p:sp>
      <p:sp>
        <p:nvSpPr>
          <p:cNvPr id="11" name="テキスト ボックス 10">
            <a:extLst>
              <a:ext uri="{FF2B5EF4-FFF2-40B4-BE49-F238E27FC236}">
                <a16:creationId xmlns:a16="http://schemas.microsoft.com/office/drawing/2014/main" id="{D7EDEB6D-07A8-4215-B562-BBF3DA9E16A8}"/>
              </a:ext>
            </a:extLst>
          </p:cNvPr>
          <p:cNvSpPr txBox="1"/>
          <p:nvPr/>
        </p:nvSpPr>
        <p:spPr>
          <a:xfrm>
            <a:off x="406661" y="5341929"/>
            <a:ext cx="6490627" cy="646331"/>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６：検査室では、対象となる薬物について、なんという分析法で検査がされましたか？</a:t>
            </a:r>
            <a:endPar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
        <p:nvSpPr>
          <p:cNvPr id="12" name="テキスト ボックス 11">
            <a:extLst>
              <a:ext uri="{FF2B5EF4-FFF2-40B4-BE49-F238E27FC236}">
                <a16:creationId xmlns:a16="http://schemas.microsoft.com/office/drawing/2014/main" id="{D1265739-D6D0-4809-8976-A3D7E5D7A619}"/>
              </a:ext>
            </a:extLst>
          </p:cNvPr>
          <p:cNvSpPr txBox="1"/>
          <p:nvPr/>
        </p:nvSpPr>
        <p:spPr>
          <a:xfrm>
            <a:off x="368043" y="6166006"/>
            <a:ext cx="6490627" cy="646331"/>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６：　</a:t>
            </a:r>
            <a:r>
              <a:rPr kumimoji="1" lang="ja-JP" altLang="en-US">
                <a:solidFill>
                  <a:srgbClr val="C00000"/>
                </a:solidFill>
                <a:latin typeface="HGPｺﾞｼｯｸE" panose="020B0900000000000000" pitchFamily="50" charset="-128"/>
                <a:ea typeface="HGPｺﾞｼｯｸE" panose="020B0900000000000000" pitchFamily="50" charset="-128"/>
              </a:rPr>
              <a:t>ガスクロマトグラフィー質量分析法</a:t>
            </a:r>
            <a:endParaRPr kumimoji="1" lang="en-US" altLang="ja-JP" dirty="0">
              <a:solidFill>
                <a:srgbClr val="C00000"/>
              </a:solidFill>
              <a:latin typeface="HGPｺﾞｼｯｸE" panose="020B0900000000000000" pitchFamily="50" charset="-128"/>
              <a:ea typeface="HGPｺﾞｼｯｸE" panose="020B0900000000000000" pitchFamily="50" charset="-128"/>
            </a:endParaRPr>
          </a:p>
          <a:p>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a:t>
            </a:r>
            <a:endPar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
        <p:nvSpPr>
          <p:cNvPr id="13" name="テキスト ボックス 12">
            <a:extLst>
              <a:ext uri="{FF2B5EF4-FFF2-40B4-BE49-F238E27FC236}">
                <a16:creationId xmlns:a16="http://schemas.microsoft.com/office/drawing/2014/main" id="{A7B771A1-A04E-41F1-AECC-3B08539D87FC}"/>
              </a:ext>
            </a:extLst>
          </p:cNvPr>
          <p:cNvSpPr txBox="1"/>
          <p:nvPr/>
        </p:nvSpPr>
        <p:spPr>
          <a:xfrm>
            <a:off x="406661" y="7861481"/>
            <a:ext cx="6490627" cy="646331"/>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７：</a:t>
            </a:r>
            <a:endPar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＿＿薬毒物名：＿</a:t>
            </a:r>
            <a:r>
              <a:rPr lang="ja-JP" altLang="en-US" dirty="0">
                <a:solidFill>
                  <a:srgbClr val="C00000"/>
                </a:solidFill>
                <a:latin typeface="HGPｺﾞｼｯｸE" panose="020B0900000000000000" pitchFamily="50" charset="-128"/>
                <a:ea typeface="HGPｺﾞｼｯｸE" panose="020B0900000000000000" pitchFamily="50" charset="-128"/>
              </a:rPr>
              <a:t>硫化水素</a:t>
            </a:r>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＿＿血中濃度：＿＿</a:t>
            </a:r>
            <a:r>
              <a:rPr lang="ja-JP" altLang="en-US" dirty="0">
                <a:solidFill>
                  <a:srgbClr val="C00000"/>
                </a:solidFill>
                <a:latin typeface="HGPｺﾞｼｯｸE" panose="020B0900000000000000" pitchFamily="50" charset="-128"/>
                <a:ea typeface="HGPｺﾞｼｯｸE" panose="020B0900000000000000" pitchFamily="50" charset="-128"/>
              </a:rPr>
              <a:t>１４．１</a:t>
            </a:r>
            <a:r>
              <a:rPr lang="en-US" altLang="ja-JP" dirty="0">
                <a:solidFill>
                  <a:srgbClr val="C00000"/>
                </a:solidFill>
                <a:latin typeface="HGPｺﾞｼｯｸE" panose="020B0900000000000000" pitchFamily="50" charset="-128"/>
                <a:ea typeface="HGPｺﾞｼｯｸE" panose="020B0900000000000000" pitchFamily="50" charset="-128"/>
              </a:rPr>
              <a:t>µg</a:t>
            </a:r>
            <a:r>
              <a:rPr lang="ja-JP" altLang="en-US" dirty="0">
                <a:solidFill>
                  <a:srgbClr val="C00000"/>
                </a:solidFill>
                <a:latin typeface="HGPｺﾞｼｯｸE" panose="020B0900000000000000" pitchFamily="50" charset="-128"/>
                <a:ea typeface="HGPｺﾞｼｯｸE" panose="020B0900000000000000" pitchFamily="50" charset="-128"/>
              </a:rPr>
              <a:t>・ｍ</a:t>
            </a:r>
            <a:r>
              <a:rPr lang="en-US" altLang="ja-JP" dirty="0">
                <a:solidFill>
                  <a:srgbClr val="C00000"/>
                </a:solidFill>
                <a:latin typeface="HGPｺﾞｼｯｸE" panose="020B0900000000000000" pitchFamily="50" charset="-128"/>
                <a:ea typeface="HGPｺﾞｼｯｸE" panose="020B0900000000000000" pitchFamily="50" charset="-128"/>
              </a:rPr>
              <a:t>L</a:t>
            </a:r>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a:t>
            </a:r>
            <a:endPar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
        <p:nvSpPr>
          <p:cNvPr id="14" name="テキスト ボックス 13">
            <a:extLst>
              <a:ext uri="{FF2B5EF4-FFF2-40B4-BE49-F238E27FC236}">
                <a16:creationId xmlns:a16="http://schemas.microsoft.com/office/drawing/2014/main" id="{D4C80B79-061F-47EE-A8EC-FDE554EA7A83}"/>
              </a:ext>
            </a:extLst>
          </p:cNvPr>
          <p:cNvSpPr txBox="1"/>
          <p:nvPr/>
        </p:nvSpPr>
        <p:spPr>
          <a:xfrm>
            <a:off x="406661" y="7037404"/>
            <a:ext cx="6490627" cy="646331"/>
          </a:xfrm>
          <a:prstGeom prst="rect">
            <a:avLst/>
          </a:prstGeom>
          <a:noFill/>
        </p:spPr>
        <p:txBody>
          <a:bodyPr wrap="square" rtlCol="0">
            <a:spAutoFit/>
          </a:bodyPr>
          <a:lstStyle/>
          <a:p>
            <a:r>
              <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rPr>
              <a:t>Q</a:t>
            </a:r>
            <a:r>
              <a:rPr kumimoji="1"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７：中毒の原因と考えられる薬毒物名と、その血中濃度が映像内で報告されましたが、</a:t>
            </a:r>
            <a:r>
              <a:rPr lang="ja-JP" altLang="en-US" dirty="0">
                <a:solidFill>
                  <a:schemeClr val="tx1">
                    <a:lumMod val="75000"/>
                    <a:lumOff val="25000"/>
                  </a:schemeClr>
                </a:solidFill>
                <a:latin typeface="HGPｺﾞｼｯｸE" panose="020B0900000000000000" pitchFamily="50" charset="-128"/>
                <a:ea typeface="HGPｺﾞｼｯｸE" panose="020B0900000000000000" pitchFamily="50" charset="-128"/>
              </a:rPr>
              <a:t>その内容を記載してください</a:t>
            </a:r>
            <a:endParaRPr kumimoji="1" lang="en-US" altLang="ja-JP"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
        <p:nvSpPr>
          <p:cNvPr id="15" name="正方形/長方形 14">
            <a:extLst>
              <a:ext uri="{FF2B5EF4-FFF2-40B4-BE49-F238E27FC236}">
                <a16:creationId xmlns:a16="http://schemas.microsoft.com/office/drawing/2014/main" id="{E8AFAA74-8A7A-4F4C-A220-C1D007CD79F8}"/>
              </a:ext>
            </a:extLst>
          </p:cNvPr>
          <p:cNvSpPr/>
          <p:nvPr/>
        </p:nvSpPr>
        <p:spPr>
          <a:xfrm>
            <a:off x="0" y="0"/>
            <a:ext cx="7108056" cy="9906000"/>
          </a:xfrm>
          <a:prstGeom prst="rect">
            <a:avLst/>
          </a:prstGeom>
          <a:noFill/>
          <a:ln w="57150">
            <a:solidFill>
              <a:schemeClr val="bg1">
                <a:lumMod val="65000"/>
              </a:schemeClr>
            </a:solidFill>
          </a:ln>
        </p:spPr>
        <p:txBody>
          <a:bodyPr wrap="squar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
        <p:nvSpPr>
          <p:cNvPr id="5" name="矢印: 下 4">
            <a:extLst>
              <a:ext uri="{FF2B5EF4-FFF2-40B4-BE49-F238E27FC236}">
                <a16:creationId xmlns:a16="http://schemas.microsoft.com/office/drawing/2014/main" id="{DC647211-1ED3-44E2-B8DB-690158F93EDD}"/>
              </a:ext>
            </a:extLst>
          </p:cNvPr>
          <p:cNvSpPr/>
          <p:nvPr/>
        </p:nvSpPr>
        <p:spPr>
          <a:xfrm rot="5400000">
            <a:off x="6532006" y="5593923"/>
            <a:ext cx="864096" cy="1581346"/>
          </a:xfrm>
          <a:prstGeom prst="downArrow">
            <a:avLst/>
          </a:prstGeom>
          <a:solidFill>
            <a:srgbClr val="C00000"/>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
        <p:nvSpPr>
          <p:cNvPr id="17" name="矢印: 下 16">
            <a:extLst>
              <a:ext uri="{FF2B5EF4-FFF2-40B4-BE49-F238E27FC236}">
                <a16:creationId xmlns:a16="http://schemas.microsoft.com/office/drawing/2014/main" id="{75E832C3-355A-41F0-B04C-738C0382DBDE}"/>
              </a:ext>
            </a:extLst>
          </p:cNvPr>
          <p:cNvSpPr/>
          <p:nvPr/>
        </p:nvSpPr>
        <p:spPr>
          <a:xfrm rot="5400000">
            <a:off x="7217295" y="7570649"/>
            <a:ext cx="864096" cy="1581346"/>
          </a:xfrm>
          <a:prstGeom prst="downArrow">
            <a:avLst/>
          </a:prstGeom>
          <a:solidFill>
            <a:srgbClr val="C00000"/>
          </a:solidFill>
          <a:ln>
            <a:solidFill>
              <a:srgbClr val="C00000"/>
            </a:solidFill>
          </a:ln>
        </p:spPr>
        <p:txBody>
          <a:bodyPr wrap="none" rtlCol="0" anchor="ctr">
            <a:spAutoFit/>
          </a:bodyPr>
          <a:lstStyle/>
          <a:p>
            <a:pPr algn="ctr">
              <a:lnSpc>
                <a:spcPct val="150000"/>
              </a:lnSpc>
            </a:pPr>
            <a:endParaRPr kumimoji="1" lang="ja-JP" altLang="en-US" sz="2800" dirty="0">
              <a:solidFill>
                <a:schemeClr val="tx1">
                  <a:lumMod val="75000"/>
                  <a:lumOff val="25000"/>
                </a:schemeClr>
              </a:solidFill>
              <a:latin typeface="+mn-ea"/>
              <a:ea typeface="+mn-ea"/>
            </a:endParaRPr>
          </a:p>
        </p:txBody>
      </p:sp>
    </p:spTree>
    <p:extLst>
      <p:ext uri="{BB962C8B-B14F-4D97-AF65-F5344CB8AC3E}">
        <p14:creationId xmlns:p14="http://schemas.microsoft.com/office/powerpoint/2010/main" val="13626969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C558E3-059C-4177-9BF9-118F696DF6A8}"/>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DB79F9C8-514A-4DDA-897C-9C515F4AD96F}"/>
              </a:ext>
            </a:extLst>
          </p:cNvPr>
          <p:cNvSpPr>
            <a:spLocks noGrp="1"/>
          </p:cNvSpPr>
          <p:nvPr>
            <p:ph idx="1"/>
          </p:nvPr>
        </p:nvSpPr>
        <p:spPr>
          <a:xfrm>
            <a:off x="155284" y="776536"/>
            <a:ext cx="12481387" cy="6261472"/>
          </a:xfrm>
        </p:spPr>
        <p:txBody>
          <a:bodyPr/>
          <a:lstStyle/>
          <a:p>
            <a:r>
              <a:rPr kumimoji="1" lang="ja-JP" altLang="en-US" dirty="0"/>
              <a:t>本日の流れ</a:t>
            </a:r>
            <a:endParaRPr kumimoji="1" lang="en-US" altLang="ja-JP" dirty="0"/>
          </a:p>
          <a:p>
            <a:r>
              <a:rPr kumimoji="1" lang="ja-JP" altLang="en-US" dirty="0"/>
              <a:t>・</a:t>
            </a:r>
            <a:r>
              <a:rPr kumimoji="1" lang="ja-JP" altLang="en-US" sz="3600" dirty="0"/>
              <a:t>実習説明（現在）</a:t>
            </a:r>
            <a:r>
              <a:rPr lang="ja-JP" altLang="en-US" sz="3600" dirty="0"/>
              <a:t>　実習症例０によるデモ</a:t>
            </a:r>
            <a:endParaRPr kumimoji="1" lang="en-US" altLang="ja-JP" sz="3600" dirty="0"/>
          </a:p>
          <a:p>
            <a:r>
              <a:rPr lang="ja-JP" altLang="en-US" sz="3600" dirty="0"/>
              <a:t>・実習症例１の検討　→　動画視聴</a:t>
            </a:r>
            <a:endParaRPr lang="en-US" altLang="ja-JP" sz="3600" dirty="0"/>
          </a:p>
          <a:p>
            <a:r>
              <a:rPr kumimoji="1" lang="ja-JP" altLang="en-US" sz="3600" dirty="0"/>
              <a:t>・実習症例２の検討　→　動画視聴</a:t>
            </a:r>
            <a:endParaRPr kumimoji="1" lang="en-US" altLang="ja-JP" sz="3600" dirty="0"/>
          </a:p>
          <a:p>
            <a:r>
              <a:rPr kumimoji="1" lang="ja-JP" altLang="en-US" sz="3600" dirty="0"/>
              <a:t>・実習症例３の検討　→　動画視聴</a:t>
            </a:r>
            <a:endParaRPr kumimoji="1" lang="en-US" altLang="ja-JP" sz="3600" dirty="0"/>
          </a:p>
          <a:p>
            <a:r>
              <a:rPr kumimoji="1" lang="ja-JP" altLang="en-US" sz="3600" dirty="0"/>
              <a:t>・実習症例４の検討　→　動画視聴</a:t>
            </a:r>
            <a:endParaRPr kumimoji="1" lang="en-US" altLang="ja-JP" sz="3600" dirty="0"/>
          </a:p>
          <a:p>
            <a:r>
              <a:rPr lang="ja-JP" altLang="en-US" dirty="0"/>
              <a:t>実習テキストに書き込み、提出して終了</a:t>
            </a:r>
            <a:endParaRPr kumimoji="1" lang="ja-JP" altLang="en-US" dirty="0"/>
          </a:p>
        </p:txBody>
      </p:sp>
      <p:pic>
        <p:nvPicPr>
          <p:cNvPr id="6" name="グラフィックス 5" descr="試験管 枠線">
            <a:extLst>
              <a:ext uri="{FF2B5EF4-FFF2-40B4-BE49-F238E27FC236}">
                <a16:creationId xmlns:a16="http://schemas.microsoft.com/office/drawing/2014/main" id="{004D91C0-3E8E-4D4C-8ACB-D4CB5116F1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204400" y="6536916"/>
            <a:ext cx="2508279" cy="2508279"/>
          </a:xfrm>
          <a:prstGeom prst="rect">
            <a:avLst/>
          </a:prstGeom>
        </p:spPr>
      </p:pic>
      <p:sp>
        <p:nvSpPr>
          <p:cNvPr id="7" name="テキスト ボックス 6">
            <a:extLst>
              <a:ext uri="{FF2B5EF4-FFF2-40B4-BE49-F238E27FC236}">
                <a16:creationId xmlns:a16="http://schemas.microsoft.com/office/drawing/2014/main" id="{3314C453-89C5-442E-92D9-68D646CED2F4}"/>
              </a:ext>
            </a:extLst>
          </p:cNvPr>
          <p:cNvSpPr txBox="1"/>
          <p:nvPr/>
        </p:nvSpPr>
        <p:spPr>
          <a:xfrm>
            <a:off x="155284" y="7791055"/>
            <a:ext cx="9577064" cy="1569660"/>
          </a:xfrm>
          <a:prstGeom prst="rect">
            <a:avLst/>
          </a:prstGeom>
          <a:noFill/>
        </p:spPr>
        <p:txBody>
          <a:bodyPr wrap="square">
            <a:spAutoFit/>
          </a:bodyPr>
          <a:lstStyle/>
          <a:p>
            <a:r>
              <a:rPr kumimoji="1" lang="ja-JP" altLang="en-US" sz="2400" dirty="0">
                <a:solidFill>
                  <a:schemeClr val="tx1">
                    <a:lumMod val="75000"/>
                    <a:lumOff val="25000"/>
                  </a:schemeClr>
                </a:solidFill>
                <a:latin typeface="HGPｺﾞｼｯｸE" panose="020B0900000000000000" pitchFamily="50" charset="-128"/>
                <a:ea typeface="HGPｺﾞｼｯｸE" panose="020B0900000000000000" pitchFamily="50" charset="-128"/>
              </a:rPr>
              <a:t>　</a:t>
            </a:r>
            <a:r>
              <a:rPr kumimoji="1" lang="en-US" altLang="ja-JP" sz="2400" dirty="0">
                <a:solidFill>
                  <a:schemeClr val="tx1">
                    <a:lumMod val="75000"/>
                    <a:lumOff val="25000"/>
                  </a:schemeClr>
                </a:solidFill>
                <a:latin typeface="HGPｺﾞｼｯｸE" panose="020B0900000000000000" pitchFamily="50" charset="-128"/>
                <a:ea typeface="HGPｺﾞｼｯｸE" panose="020B0900000000000000" pitchFamily="50" charset="-128"/>
              </a:rPr>
              <a:t>LMS</a:t>
            </a:r>
            <a:r>
              <a:rPr kumimoji="1" lang="ja-JP" altLang="en-US" sz="2400" dirty="0">
                <a:solidFill>
                  <a:schemeClr val="tx1">
                    <a:lumMod val="75000"/>
                    <a:lumOff val="25000"/>
                  </a:schemeClr>
                </a:solidFill>
                <a:latin typeface="HGPｺﾞｼｯｸE" panose="020B0900000000000000" pitchFamily="50" charset="-128"/>
                <a:ea typeface="HGPｺﾞｼｯｸE" panose="020B0900000000000000" pitchFamily="50" charset="-128"/>
              </a:rPr>
              <a:t>にレポート課題を出しております、別途提出してください：</a:t>
            </a:r>
            <a:r>
              <a:rPr lang="ja-JP" altLang="en-US" sz="2400" dirty="0">
                <a:solidFill>
                  <a:srgbClr val="C00000"/>
                </a:solidFill>
                <a:latin typeface="HGPｺﾞｼｯｸE" panose="020B0900000000000000" pitchFamily="50" charset="-128"/>
                <a:ea typeface="HGPｺﾞｼｯｸE" panose="020B0900000000000000" pitchFamily="50" charset="-128"/>
              </a:rPr>
              <a:t>実習実施後に</a:t>
            </a:r>
            <a:r>
              <a:rPr lang="ja-JP" altLang="en-US" sz="2400" dirty="0">
                <a:solidFill>
                  <a:schemeClr val="tx1">
                    <a:lumMod val="75000"/>
                    <a:lumOff val="25000"/>
                  </a:schemeClr>
                </a:solidFill>
                <a:latin typeface="HGPｺﾞｼｯｸE" panose="020B0900000000000000" pitchFamily="50" charset="-128"/>
                <a:ea typeface="HGPｺﾞｼｯｸE" panose="020B0900000000000000" pitchFamily="50" charset="-128"/>
              </a:rPr>
              <a:t>、本実習のモデルとなった以下の４つの症例報告等を読み、救急や法医学の現場における薬毒物検査の重要性について感じたことを自由に記載してください。</a:t>
            </a:r>
            <a:r>
              <a:rPr lang="en-US" altLang="ja-JP" sz="2400" dirty="0">
                <a:solidFill>
                  <a:schemeClr val="tx1">
                    <a:lumMod val="75000"/>
                    <a:lumOff val="25000"/>
                  </a:schemeClr>
                </a:solidFill>
                <a:latin typeface="HGPｺﾞｼｯｸE" panose="020B0900000000000000" pitchFamily="50" charset="-128"/>
                <a:ea typeface="HGPｺﾞｼｯｸE" panose="020B0900000000000000" pitchFamily="50" charset="-128"/>
              </a:rPr>
              <a:t>A</a:t>
            </a:r>
            <a:r>
              <a:rPr lang="ja-JP" altLang="en-US" sz="2400" dirty="0">
                <a:solidFill>
                  <a:schemeClr val="tx1">
                    <a:lumMod val="75000"/>
                    <a:lumOff val="25000"/>
                  </a:schemeClr>
                </a:solidFill>
                <a:latin typeface="HGPｺﾞｼｯｸE" panose="020B0900000000000000" pitchFamily="50" charset="-128"/>
                <a:ea typeface="HGPｺﾞｼｯｸE" panose="020B0900000000000000" pitchFamily="50" charset="-128"/>
              </a:rPr>
              <a:t>４用紙１枚以内。</a:t>
            </a:r>
            <a:endParaRPr lang="en-US" altLang="ja-JP" sz="24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
        <p:nvSpPr>
          <p:cNvPr id="9" name="テキスト ボックス 8">
            <a:extLst>
              <a:ext uri="{FF2B5EF4-FFF2-40B4-BE49-F238E27FC236}">
                <a16:creationId xmlns:a16="http://schemas.microsoft.com/office/drawing/2014/main" id="{32907982-7DE6-4B9B-A495-763209DF74B1}"/>
              </a:ext>
            </a:extLst>
          </p:cNvPr>
          <p:cNvSpPr txBox="1"/>
          <p:nvPr/>
        </p:nvSpPr>
        <p:spPr>
          <a:xfrm>
            <a:off x="10312412" y="2366595"/>
            <a:ext cx="4068452" cy="369332"/>
          </a:xfrm>
          <a:prstGeom prst="rect">
            <a:avLst/>
          </a:prstGeom>
          <a:noFill/>
        </p:spPr>
        <p:txBody>
          <a:bodyPr wrap="square" rtlCol="0">
            <a:spAutoFit/>
          </a:bodyPr>
          <a:lstStyle/>
          <a:p>
            <a:r>
              <a:rPr kumimoji="1" lang="ja-JP" altLang="en-US" dirty="0">
                <a:solidFill>
                  <a:srgbClr val="C00000"/>
                </a:solidFill>
                <a:latin typeface="HGPｺﾞｼｯｸE" panose="020B0900000000000000" pitchFamily="50" charset="-128"/>
                <a:ea typeface="HGPｺﾞｼｯｸE" panose="020B0900000000000000" pitchFamily="50" charset="-128"/>
              </a:rPr>
              <a:t>血中</a:t>
            </a:r>
            <a:r>
              <a:rPr kumimoji="1" lang="en-US" altLang="ja-JP" dirty="0">
                <a:solidFill>
                  <a:srgbClr val="C00000"/>
                </a:solidFill>
                <a:latin typeface="HGPｺﾞｼｯｸE" panose="020B0900000000000000" pitchFamily="50" charset="-128"/>
                <a:ea typeface="HGPｺﾞｼｯｸE" panose="020B0900000000000000" pitchFamily="50" charset="-128"/>
              </a:rPr>
              <a:t>H</a:t>
            </a:r>
            <a:r>
              <a:rPr kumimoji="1" lang="en-US" altLang="ja-JP" baseline="-25000" dirty="0">
                <a:solidFill>
                  <a:srgbClr val="C00000"/>
                </a:solidFill>
                <a:latin typeface="HGPｺﾞｼｯｸE" panose="020B0900000000000000" pitchFamily="50" charset="-128"/>
                <a:ea typeface="HGPｺﾞｼｯｸE" panose="020B0900000000000000" pitchFamily="50" charset="-128"/>
              </a:rPr>
              <a:t>2</a:t>
            </a:r>
            <a:r>
              <a:rPr kumimoji="1" lang="en-US" altLang="ja-JP" dirty="0">
                <a:solidFill>
                  <a:srgbClr val="C00000"/>
                </a:solidFill>
                <a:latin typeface="HGPｺﾞｼｯｸE" panose="020B0900000000000000" pitchFamily="50" charset="-128"/>
                <a:ea typeface="HGPｺﾞｼｯｸE" panose="020B0900000000000000" pitchFamily="50" charset="-128"/>
              </a:rPr>
              <a:t>S</a:t>
            </a:r>
            <a:r>
              <a:rPr kumimoji="1" lang="ja-JP" altLang="en-US" dirty="0">
                <a:solidFill>
                  <a:srgbClr val="C00000"/>
                </a:solidFill>
                <a:latin typeface="HGPｺﾞｼｯｸE" panose="020B0900000000000000" pitchFamily="50" charset="-128"/>
                <a:ea typeface="HGPｺﾞｼｯｸE" panose="020B0900000000000000" pitchFamily="50" charset="-128"/>
              </a:rPr>
              <a:t>濃度：</a:t>
            </a:r>
            <a:r>
              <a:rPr kumimoji="1" lang="en-US" altLang="ja-JP" dirty="0">
                <a:solidFill>
                  <a:srgbClr val="C00000"/>
                </a:solidFill>
                <a:latin typeface="HGPｺﾞｼｯｸE" panose="020B0900000000000000" pitchFamily="50" charset="-128"/>
                <a:ea typeface="HGPｺﾞｼｯｸE" panose="020B0900000000000000" pitchFamily="50" charset="-128"/>
              </a:rPr>
              <a:t>14.1µg/</a:t>
            </a:r>
            <a:r>
              <a:rPr kumimoji="1" lang="ja-JP" altLang="en-US" dirty="0">
                <a:solidFill>
                  <a:srgbClr val="C00000"/>
                </a:solidFill>
                <a:latin typeface="HGPｺﾞｼｯｸE" panose="020B0900000000000000" pitchFamily="50" charset="-128"/>
                <a:ea typeface="HGPｺﾞｼｯｸE" panose="020B0900000000000000" pitchFamily="50" charset="-128"/>
              </a:rPr>
              <a:t>ｍ</a:t>
            </a:r>
            <a:r>
              <a:rPr kumimoji="1" lang="en-US" altLang="ja-JP" dirty="0">
                <a:solidFill>
                  <a:srgbClr val="C00000"/>
                </a:solidFill>
                <a:latin typeface="HGPｺﾞｼｯｸE" panose="020B0900000000000000" pitchFamily="50" charset="-128"/>
                <a:ea typeface="HGPｺﾞｼｯｸE" panose="020B0900000000000000" pitchFamily="50" charset="-128"/>
              </a:rPr>
              <a:t>L</a:t>
            </a:r>
            <a:endParaRPr kumimoji="1" lang="ja-JP" altLang="en-US" dirty="0">
              <a:solidFill>
                <a:srgbClr val="C00000"/>
              </a:solidFill>
              <a:latin typeface="HGPｺﾞｼｯｸE" panose="020B0900000000000000" pitchFamily="50" charset="-128"/>
              <a:ea typeface="HGPｺﾞｼｯｸE" panose="020B0900000000000000" pitchFamily="50" charset="-128"/>
            </a:endParaRPr>
          </a:p>
        </p:txBody>
      </p:sp>
    </p:spTree>
    <p:extLst>
      <p:ext uri="{BB962C8B-B14F-4D97-AF65-F5344CB8AC3E}">
        <p14:creationId xmlns:p14="http://schemas.microsoft.com/office/powerpoint/2010/main" val="16719415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27A719-6B88-4C1C-A073-F2332A1B208E}"/>
              </a:ext>
            </a:extLst>
          </p:cNvPr>
          <p:cNvSpPr>
            <a:spLocks noGrp="1"/>
          </p:cNvSpPr>
          <p:nvPr>
            <p:ph type="title"/>
          </p:nvPr>
        </p:nvSpPr>
        <p:spPr/>
        <p:txBody>
          <a:bodyPr/>
          <a:lstStyle/>
          <a:p>
            <a:endParaRPr kumimoji="1" lang="ja-JP" altLang="en-US"/>
          </a:p>
        </p:txBody>
      </p:sp>
      <p:sp>
        <p:nvSpPr>
          <p:cNvPr id="5" name="コンテンツ プレースホルダー 4">
            <a:extLst>
              <a:ext uri="{FF2B5EF4-FFF2-40B4-BE49-F238E27FC236}">
                <a16:creationId xmlns:a16="http://schemas.microsoft.com/office/drawing/2014/main" id="{B306CEC6-4BA0-4A17-90D8-29A52057C885}"/>
              </a:ext>
            </a:extLst>
          </p:cNvPr>
          <p:cNvSpPr txBox="1">
            <a:spLocks noGrp="1"/>
          </p:cNvSpPr>
          <p:nvPr>
            <p:ph idx="1"/>
          </p:nvPr>
        </p:nvSpPr>
        <p:spPr>
          <a:xfrm>
            <a:off x="155284" y="1039123"/>
            <a:ext cx="12857427" cy="7314310"/>
          </a:xfrm>
          <a:prstGeom prst="rect">
            <a:avLst/>
          </a:prstGeom>
          <a:noFill/>
        </p:spPr>
        <p:txBody>
          <a:bodyPr wrap="square" rtlCol="0">
            <a:spAutoFit/>
          </a:bodyPr>
          <a:lstStyle/>
          <a:p>
            <a:pPr>
              <a:lnSpc>
                <a:spcPct val="150000"/>
              </a:lnSpc>
            </a:pPr>
            <a:r>
              <a:rPr kumimoji="1"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実習時の注意！</a:t>
            </a:r>
            <a:endParaRPr kumimoji="1" lang="en-US" altLang="ja-JP" sz="32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pPr>
              <a:lnSpc>
                <a:spcPct val="150000"/>
              </a:lnSpc>
            </a:pPr>
            <a:r>
              <a:rPr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　生体試料を扱う場合は、</a:t>
            </a:r>
            <a:r>
              <a:rPr lang="ja-JP" altLang="en-US" sz="3200" dirty="0">
                <a:solidFill>
                  <a:srgbClr val="C00000"/>
                </a:solidFill>
                <a:latin typeface="HGPｺﾞｼｯｸE" panose="020B0900000000000000" pitchFamily="50" charset="-128"/>
                <a:ea typeface="HGPｺﾞｼｯｸE" panose="020B0900000000000000" pitchFamily="50" charset="-128"/>
              </a:rPr>
              <a:t>手袋を着用</a:t>
            </a:r>
            <a:r>
              <a:rPr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してください</a:t>
            </a:r>
            <a:endParaRPr lang="en-US" altLang="ja-JP" sz="32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pPr>
              <a:lnSpc>
                <a:spcPct val="150000"/>
              </a:lnSpc>
            </a:pPr>
            <a:r>
              <a:rPr kumimoji="1"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　注射器の</a:t>
            </a:r>
            <a:r>
              <a:rPr kumimoji="1" lang="ja-JP" altLang="en-US" sz="3200" dirty="0">
                <a:solidFill>
                  <a:srgbClr val="C00000"/>
                </a:solidFill>
                <a:latin typeface="HGPｺﾞｼｯｸE" panose="020B0900000000000000" pitchFamily="50" charset="-128"/>
                <a:ea typeface="HGPｺﾞｼｯｸE" panose="020B0900000000000000" pitchFamily="50" charset="-128"/>
              </a:rPr>
              <a:t>針を手などに刺さない</a:t>
            </a:r>
            <a:r>
              <a:rPr kumimoji="1"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よう気を付けましょう</a:t>
            </a:r>
            <a:endParaRPr kumimoji="1" lang="en-US" altLang="ja-JP" sz="32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pPr>
              <a:lnSpc>
                <a:spcPct val="150000"/>
              </a:lnSpc>
            </a:pPr>
            <a:r>
              <a:rPr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　</a:t>
            </a:r>
            <a:r>
              <a:rPr lang="ja-JP" altLang="en-US" sz="3200" dirty="0">
                <a:solidFill>
                  <a:srgbClr val="C00000"/>
                </a:solidFill>
                <a:latin typeface="HGPｺﾞｼｯｸE" panose="020B0900000000000000" pitchFamily="50" charset="-128"/>
                <a:ea typeface="HGPｺﾞｼｯｸE" panose="020B0900000000000000" pitchFamily="50" charset="-128"/>
              </a:rPr>
              <a:t>ガラス</a:t>
            </a:r>
            <a:r>
              <a:rPr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管を使います、</a:t>
            </a:r>
            <a:r>
              <a:rPr lang="ja-JP" altLang="en-US" sz="3200" dirty="0">
                <a:solidFill>
                  <a:srgbClr val="C00000"/>
                </a:solidFill>
                <a:latin typeface="HGPｺﾞｼｯｸE" panose="020B0900000000000000" pitchFamily="50" charset="-128"/>
                <a:ea typeface="HGPｺﾞｼｯｸE" panose="020B0900000000000000" pitchFamily="50" charset="-128"/>
              </a:rPr>
              <a:t>手を切らない</a:t>
            </a:r>
            <a:r>
              <a:rPr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ようにしましょう</a:t>
            </a:r>
            <a:endParaRPr lang="en-US" altLang="ja-JP" sz="32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pPr>
              <a:lnSpc>
                <a:spcPct val="150000"/>
              </a:lnSpc>
            </a:pPr>
            <a:r>
              <a:rPr kumimoji="1"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　ガラス片を</a:t>
            </a:r>
            <a:r>
              <a:rPr kumimoji="1" lang="ja-JP" altLang="en-US" sz="3200" dirty="0">
                <a:solidFill>
                  <a:srgbClr val="C00000"/>
                </a:solidFill>
                <a:latin typeface="HGPｺﾞｼｯｸE" panose="020B0900000000000000" pitchFamily="50" charset="-128"/>
                <a:ea typeface="HGPｺﾞｼｯｸE" panose="020B0900000000000000" pitchFamily="50" charset="-128"/>
              </a:rPr>
              <a:t>散らかさない</a:t>
            </a:r>
            <a:r>
              <a:rPr kumimoji="1"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ようにしましょう</a:t>
            </a:r>
            <a:endParaRPr kumimoji="1" lang="en-US" altLang="ja-JP" sz="32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pPr>
              <a:lnSpc>
                <a:spcPct val="150000"/>
              </a:lnSpc>
            </a:pPr>
            <a:r>
              <a:rPr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　検知管の</a:t>
            </a:r>
            <a:r>
              <a:rPr lang="ja-JP" altLang="en-US" sz="3200" dirty="0">
                <a:solidFill>
                  <a:srgbClr val="C00000"/>
                </a:solidFill>
                <a:latin typeface="HGPｺﾞｼｯｸE" panose="020B0900000000000000" pitchFamily="50" charset="-128"/>
                <a:ea typeface="HGPｺﾞｼｯｸE" panose="020B0900000000000000" pitchFamily="50" charset="-128"/>
              </a:rPr>
              <a:t>ゴム管</a:t>
            </a:r>
            <a:r>
              <a:rPr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をはずすときは、</a:t>
            </a:r>
            <a:r>
              <a:rPr lang="ja-JP" altLang="en-US" sz="3200" dirty="0">
                <a:solidFill>
                  <a:srgbClr val="C00000"/>
                </a:solidFill>
                <a:latin typeface="HGPｺﾞｼｯｸE" panose="020B0900000000000000" pitchFamily="50" charset="-128"/>
                <a:ea typeface="HGPｺﾞｼｯｸE" panose="020B0900000000000000" pitchFamily="50" charset="-128"/>
              </a:rPr>
              <a:t>血液が飛び散らないよう</a:t>
            </a:r>
            <a:r>
              <a:rPr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に注意しましょう</a:t>
            </a:r>
            <a:endParaRPr lang="en-US" altLang="ja-JP" sz="32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pPr>
              <a:lnSpc>
                <a:spcPct val="150000"/>
              </a:lnSpc>
            </a:pPr>
            <a:r>
              <a:rPr lang="ja-JP" altLang="en-US" sz="3200">
                <a:solidFill>
                  <a:schemeClr val="tx1">
                    <a:lumMod val="75000"/>
                    <a:lumOff val="25000"/>
                  </a:schemeClr>
                </a:solidFill>
                <a:latin typeface="HGPｺﾞｼｯｸE" panose="020B0900000000000000" pitchFamily="50" charset="-128"/>
                <a:ea typeface="HGPｺﾞｼｯｸE" panose="020B0900000000000000" pitchFamily="50" charset="-128"/>
              </a:rPr>
              <a:t>　すべて、</a:t>
            </a:r>
            <a:r>
              <a:rPr lang="ja-JP" altLang="en-US" sz="3200">
                <a:solidFill>
                  <a:schemeClr val="accent6">
                    <a:lumMod val="75000"/>
                  </a:schemeClr>
                </a:solidFill>
                <a:latin typeface="HGPｺﾞｼｯｸE" panose="020B0900000000000000" pitchFamily="50" charset="-128"/>
                <a:ea typeface="HGPｺﾞｼｯｸE" panose="020B0900000000000000" pitchFamily="50" charset="-128"/>
              </a:rPr>
              <a:t>ゴミ</a:t>
            </a:r>
            <a:r>
              <a:rPr lang="ja-JP" altLang="en-US" sz="3200">
                <a:solidFill>
                  <a:schemeClr val="tx1">
                    <a:lumMod val="75000"/>
                    <a:lumOff val="25000"/>
                  </a:schemeClr>
                </a:solidFill>
                <a:latin typeface="HGPｺﾞｼｯｸE" panose="020B0900000000000000" pitchFamily="50" charset="-128"/>
                <a:ea typeface="HGPｺﾞｼｯｸE" panose="020B0900000000000000" pitchFamily="50" charset="-128"/>
              </a:rPr>
              <a:t>は</a:t>
            </a:r>
            <a:r>
              <a:rPr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各班に</a:t>
            </a:r>
            <a:r>
              <a:rPr lang="ja-JP" altLang="en-US" sz="3200">
                <a:solidFill>
                  <a:schemeClr val="tx1">
                    <a:lumMod val="75000"/>
                    <a:lumOff val="25000"/>
                  </a:schemeClr>
                </a:solidFill>
                <a:latin typeface="HGPｺﾞｼｯｸE" panose="020B0900000000000000" pitchFamily="50" charset="-128"/>
                <a:ea typeface="HGPｺﾞｼｯｸE" panose="020B0900000000000000" pitchFamily="50" charset="-128"/>
              </a:rPr>
              <a:t>配布のゴミ箱（プラスチック</a:t>
            </a:r>
            <a:r>
              <a:rPr lang="ja-JP" altLang="en-US" sz="3200"/>
              <a:t>かご</a:t>
            </a:r>
            <a:r>
              <a:rPr lang="ja-JP" altLang="en-US" sz="3200">
                <a:solidFill>
                  <a:schemeClr val="tx1">
                    <a:lumMod val="75000"/>
                    <a:lumOff val="25000"/>
                  </a:schemeClr>
                </a:solidFill>
                <a:latin typeface="HGPｺﾞｼｯｸE" panose="020B0900000000000000" pitchFamily="50" charset="-128"/>
                <a:ea typeface="HGPｺﾞｼｯｸE" panose="020B0900000000000000" pitchFamily="50" charset="-128"/>
              </a:rPr>
              <a:t>）に捨てて</a:t>
            </a:r>
            <a:r>
              <a:rPr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rPr>
              <a:t>ください</a:t>
            </a:r>
            <a:endParaRPr lang="en-US" altLang="ja-JP" sz="32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a:p>
            <a:pPr>
              <a:lnSpc>
                <a:spcPct val="150000"/>
              </a:lnSpc>
            </a:pPr>
            <a:endParaRPr kumimoji="1" lang="ja-JP" altLang="en-US" sz="3200" dirty="0">
              <a:solidFill>
                <a:schemeClr val="tx1">
                  <a:lumMod val="75000"/>
                  <a:lumOff val="25000"/>
                </a:schemeClr>
              </a:solidFill>
              <a:latin typeface="HGPｺﾞｼｯｸE" panose="020B0900000000000000" pitchFamily="50" charset="-128"/>
              <a:ea typeface="HGPｺﾞｼｯｸE" panose="020B0900000000000000" pitchFamily="50" charset="-128"/>
            </a:endParaRPr>
          </a:p>
        </p:txBody>
      </p:sp>
    </p:spTree>
    <p:extLst>
      <p:ext uri="{BB962C8B-B14F-4D97-AF65-F5344CB8AC3E}">
        <p14:creationId xmlns:p14="http://schemas.microsoft.com/office/powerpoint/2010/main" val="125025369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1">
      <a:majorFont>
        <a:latin typeface="Tw Cen MT"/>
        <a:ea typeface="HGPｺﾞｼｯｸE"/>
        <a:cs typeface=""/>
      </a:majorFont>
      <a:minorFont>
        <a:latin typeface="Rockwell"/>
        <a:ea typeface="HGPｺﾞｼｯｸ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C00000"/>
          </a:solidFill>
        </a:ln>
      </a:spPr>
      <a:bodyPr wrap="none" rtlCol="0" anchor="ctr">
        <a:spAutoFit/>
      </a:bodyPr>
      <a:lstStyle>
        <a:defPPr algn="ctr">
          <a:lnSpc>
            <a:spcPct val="150000"/>
          </a:lnSpc>
          <a:defRPr kumimoji="1" sz="2800" dirty="0">
            <a:solidFill>
              <a:schemeClr val="tx1">
                <a:lumMod val="75000"/>
                <a:lumOff val="25000"/>
              </a:schemeClr>
            </a:solidFill>
            <a:latin typeface="+mn-ea"/>
            <a:ea typeface="+mn-ea"/>
          </a:defRPr>
        </a:defPPr>
      </a:lstStyle>
    </a:spDef>
    <a:txDef>
      <a:spPr>
        <a:noFill/>
      </a:spPr>
      <a:bodyPr wrap="square" rtlCol="0">
        <a:spAutoFit/>
      </a:bodyPr>
      <a:lstStyle>
        <a:defPPr>
          <a:defRPr kumimoji="1" dirty="0" smtClean="0">
            <a:solidFill>
              <a:schemeClr val="tx1">
                <a:lumMod val="75000"/>
                <a:lumOff val="25000"/>
              </a:schemeClr>
            </a:solidFill>
            <a:latin typeface="HGPｺﾞｼｯｸE" panose="020B0900000000000000" pitchFamily="50" charset="-128"/>
            <a:ea typeface="HGPｺﾞｼｯｸE" panose="020B0900000000000000" pitchFamily="50" charset="-128"/>
          </a:defRPr>
        </a:defPPr>
      </a:lstStyle>
    </a:tx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FB3FECA-FBB0-4EC9-8AB3-F340A25D1EBD}">
  <we:reference id="WA200010001" version="1.0.0.1" store="Omex" storeType="OMEX"/>
  <we:alternateReferences>
    <we:reference id="WA200010001" version="1.0.0.1" store="WA200010001" storeType="OMEX"/>
  </we:alternateReferences>
  <we:properties>
    <we:property name="claude.fileId" value="&quot;5a0fae92-45d1-4cba-be86-dffff4b6597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38770</TotalTime>
  <Words>5255</Words>
  <Application>Microsoft Office PowerPoint</Application>
  <PresentationFormat>ユーザー設定</PresentationFormat>
  <Paragraphs>280</Paragraphs>
  <Slides>49</Slides>
  <Notes>5</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49</vt:i4>
      </vt:variant>
    </vt:vector>
  </HeadingPairs>
  <TitlesOfParts>
    <vt:vector size="58" baseType="lpstr">
      <vt:lpstr>HGPｺﾞｼｯｸE</vt:lpstr>
      <vt:lpstr>HGS創英角ｺﾞｼｯｸUB</vt:lpstr>
      <vt:lpstr>RyuminPr6-Light</vt:lpstr>
      <vt:lpstr>Meiryo</vt:lpstr>
      <vt:lpstr>Arial</vt:lpstr>
      <vt:lpstr>Calibri</vt:lpstr>
      <vt:lpstr>Rockwell</vt:lpstr>
      <vt:lpstr>Tw Cen MT</vt:lpstr>
      <vt:lpstr>Office テーマ</vt:lpstr>
      <vt:lpstr>PowerPoint プレゼンテーション</vt:lpstr>
      <vt:lpstr>PowerPoint プレゼンテーション</vt:lpstr>
      <vt:lpstr>復習とフィードバック</vt:lpstr>
      <vt:lpstr>中毒死体</vt:lpstr>
      <vt:lpstr>中毒学概論</vt:lpstr>
      <vt:lpstr>薬毒物分析</vt:lpstr>
      <vt:lpstr>薬毒物分析</vt:lpstr>
      <vt:lpstr>PowerPoint プレゼンテーション</vt:lpstr>
      <vt:lpstr>質問</vt:lpstr>
      <vt:lpstr>指定濫用防止医薬品</vt:lpstr>
      <vt:lpstr>PowerPoint プレゼンテーション</vt:lpstr>
      <vt:lpstr>質問</vt:lpstr>
      <vt:lpstr>質問</vt:lpstr>
      <vt:lpstr>質問</vt:lpstr>
      <vt:lpstr>質問</vt:lpstr>
      <vt:lpstr>質問</vt:lpstr>
      <vt:lpstr>PowerPoint プレゼンテーション</vt:lpstr>
      <vt:lpstr>質問</vt:lpstr>
      <vt:lpstr>グルタミン酸受容体</vt:lpstr>
      <vt:lpstr>PowerPoint プレゼンテーション</vt:lpstr>
      <vt:lpstr>質問</vt:lpstr>
      <vt:lpstr>いわゆる「パラコート肺」</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この実習のミッション</vt:lpstr>
      <vt:lpstr>PowerPoint プレゼンテーション</vt:lpstr>
      <vt:lpstr>実習症例０（実習のすすめかた）</vt:lpstr>
      <vt:lpstr>実習症例０（実習のすすめかた）</vt:lpstr>
      <vt:lpstr>実習症例０（実習のすすめかた）</vt:lpstr>
      <vt:lpstr>実習症例０（実習のすすめかた）</vt:lpstr>
      <vt:lpstr>簡易検査法マニュアル</vt:lpstr>
      <vt:lpstr>簡易検査法マニュアル</vt:lpstr>
      <vt:lpstr>実習症例０（実習のすすめかた）</vt:lpstr>
      <vt:lpstr>実習症例０</vt:lpstr>
      <vt:lpstr>PowerPoint プレゼンテーション</vt:lpstr>
      <vt:lpstr>実習症例0</vt:lpstr>
      <vt:lpstr>実習症例0</vt:lpstr>
      <vt:lpstr>PowerPoint プレゼンテーション</vt:lpstr>
      <vt:lpstr>GC-MSによるスクリーニング</vt:lpstr>
      <vt:lpstr>PowerPoint プレゼンテーション</vt:lpstr>
      <vt:lpstr>PowerPoint プレゼンテーション</vt:lpstr>
      <vt:lpstr>実習症例0</vt:lpstr>
      <vt:lpstr>PowerPoint プレゼンテーション</vt:lpstr>
      <vt:lpstr>実習症例０</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まつかわ</dc:creator>
  <cp:lastModifiedBy>松川 岳久</cp:lastModifiedBy>
  <cp:revision>973</cp:revision>
  <cp:lastPrinted>2012-06-25T05:49:56Z</cp:lastPrinted>
  <dcterms:created xsi:type="dcterms:W3CDTF">2009-08-28T03:21:58Z</dcterms:created>
  <dcterms:modified xsi:type="dcterms:W3CDTF">2026-05-25T06:06:09Z</dcterms:modified>
</cp:coreProperties>
</file>